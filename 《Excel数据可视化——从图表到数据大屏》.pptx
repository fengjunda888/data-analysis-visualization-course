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Ex1.xml" ContentType="application/vnd.ms-office.chartex+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325" r:id="rId3"/>
    <p:sldId id="315" r:id="rId4"/>
    <p:sldId id="316" r:id="rId5"/>
    <p:sldId id="290" r:id="rId6"/>
    <p:sldId id="296" r:id="rId7"/>
    <p:sldId id="291" r:id="rId8"/>
    <p:sldId id="292" r:id="rId9"/>
    <p:sldId id="293" r:id="rId10"/>
    <p:sldId id="294" r:id="rId11"/>
    <p:sldId id="324" r:id="rId12"/>
    <p:sldId id="323" r:id="rId13"/>
    <p:sldId id="301" r:id="rId14"/>
    <p:sldId id="298" r:id="rId15"/>
    <p:sldId id="299" r:id="rId16"/>
    <p:sldId id="311" r:id="rId17"/>
    <p:sldId id="300" r:id="rId18"/>
    <p:sldId id="326" r:id="rId19"/>
    <p:sldId id="318" r:id="rId20"/>
    <p:sldId id="327" r:id="rId21"/>
    <p:sldId id="320" r:id="rId22"/>
    <p:sldId id="329" r:id="rId23"/>
    <p:sldId id="319" r:id="rId24"/>
    <p:sldId id="328" r:id="rId25"/>
    <p:sldId id="312" r:id="rId26"/>
    <p:sldId id="322" r:id="rId27"/>
    <p:sldId id="321"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A1EF5A5D-C75A-4B02-ADA4-1226E2900360}">
          <p14:sldIdLst>
            <p14:sldId id="257"/>
            <p14:sldId id="325"/>
            <p14:sldId id="315"/>
          </p14:sldIdLst>
        </p14:section>
        <p14:section name="认识图表" id="{EF279B5C-C7F9-4D3D-B597-18C853E6171F}">
          <p14:sldIdLst>
            <p14:sldId id="316"/>
            <p14:sldId id="290"/>
            <p14:sldId id="296"/>
            <p14:sldId id="291"/>
          </p14:sldIdLst>
        </p14:section>
        <p14:section name="图表分类" id="{06B2CA38-A51E-4D3E-A6F5-F656EE7A60D9}">
          <p14:sldIdLst>
            <p14:sldId id="292"/>
            <p14:sldId id="293"/>
            <p14:sldId id="294"/>
          </p14:sldIdLst>
        </p14:section>
        <p14:section name="图表修饰" id="{929CA520-0B4D-46D5-8F5E-E92D897260BB}">
          <p14:sldIdLst>
            <p14:sldId id="324"/>
            <p14:sldId id="323"/>
            <p14:sldId id="301"/>
            <p14:sldId id="298"/>
            <p14:sldId id="299"/>
            <p14:sldId id="311"/>
            <p14:sldId id="300"/>
            <p14:sldId id="326"/>
            <p14:sldId id="318"/>
            <p14:sldId id="327"/>
            <p14:sldId id="320"/>
            <p14:sldId id="329"/>
            <p14:sldId id="319"/>
            <p14:sldId id="328"/>
          </p14:sldIdLst>
        </p14:section>
        <p14:section name="设计原则" id="{57F47732-C3DA-4F14-B016-F624F192FF81}">
          <p14:sldIdLst>
            <p14:sldId id="312"/>
            <p14:sldId id="322"/>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3283FF"/>
    <a:srgbClr val="F7F7FF"/>
    <a:srgbClr val="1357AE"/>
    <a:srgbClr val="F1F1FB"/>
    <a:srgbClr val="F7F7F7"/>
    <a:srgbClr val="2254F3"/>
    <a:srgbClr val="E8EFF8"/>
    <a:srgbClr val="D4237A"/>
    <a:srgbClr val="F4F7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111" d="100"/>
          <a:sy n="111" d="100"/>
        </p:scale>
        <p:origin x="219"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D:\MyDeskTop\&#24215;&#38138;\Excel&#22270;&#34920;\1%20&#26609;&#24418;&#22270;\2%20&#28176;&#21464;&#26609;&#24418;&#22270;-&#23545;&#27604;.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D:\MyDeskTop\&#24215;&#38138;\Excel&#22270;&#34920;\1%20&#26609;&#24418;&#22270;\2%20&#28176;&#21464;&#26609;&#24418;&#22270;-&#23545;&#2760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Ex1.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719379420779911"/>
          <c:y val="0.26193263888888885"/>
          <c:w val="0.74913315493668431"/>
          <c:h val="0.5434465277777778"/>
        </c:manualLayout>
      </c:layout>
      <c:barChart>
        <c:barDir val="col"/>
        <c:grouping val="clustered"/>
        <c:varyColors val="0"/>
        <c:ser>
          <c:idx val="0"/>
          <c:order val="0"/>
          <c:tx>
            <c:strRef>
              <c:f>渐变柱形图!$C$2</c:f>
              <c:strCache>
                <c:ptCount val="1"/>
                <c:pt idx="0">
                  <c:v>销售量</c:v>
                </c:pt>
              </c:strCache>
            </c:strRef>
          </c:tx>
          <c:spPr>
            <a:gradFill>
              <a:gsLst>
                <a:gs pos="0">
                  <a:srgbClr val="0070C0"/>
                </a:gs>
                <a:gs pos="100000">
                  <a:srgbClr val="00B0F0"/>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渐变柱形图!$B$3:$B$8</c:f>
              <c:strCache>
                <c:ptCount val="6"/>
                <c:pt idx="0">
                  <c:v>华北</c:v>
                </c:pt>
                <c:pt idx="1">
                  <c:v>华南</c:v>
                </c:pt>
                <c:pt idx="2">
                  <c:v>东北</c:v>
                </c:pt>
                <c:pt idx="3">
                  <c:v>西北</c:v>
                </c:pt>
                <c:pt idx="4">
                  <c:v>西南</c:v>
                </c:pt>
                <c:pt idx="5">
                  <c:v>华东</c:v>
                </c:pt>
              </c:strCache>
            </c:strRef>
          </c:cat>
          <c:val>
            <c:numRef>
              <c:f>渐变柱形图!$C$3:$C$8</c:f>
              <c:numCache>
                <c:formatCode>General</c:formatCode>
                <c:ptCount val="6"/>
                <c:pt idx="0">
                  <c:v>2354</c:v>
                </c:pt>
                <c:pt idx="1">
                  <c:v>1902</c:v>
                </c:pt>
                <c:pt idx="2">
                  <c:v>3524</c:v>
                </c:pt>
                <c:pt idx="3">
                  <c:v>2698</c:v>
                </c:pt>
                <c:pt idx="4">
                  <c:v>2896</c:v>
                </c:pt>
                <c:pt idx="5">
                  <c:v>2563</c:v>
                </c:pt>
              </c:numCache>
            </c:numRef>
          </c:val>
          <c:extLst>
            <c:ext xmlns:c16="http://schemas.microsoft.com/office/drawing/2014/chart" uri="{C3380CC4-5D6E-409C-BE32-E72D297353CC}">
              <c16:uniqueId val="{00000000-4532-46D5-ADBA-043CE335DC8F}"/>
            </c:ext>
          </c:extLst>
        </c:ser>
        <c:dLbls>
          <c:dLblPos val="outEnd"/>
          <c:showLegendKey val="0"/>
          <c:showVal val="1"/>
          <c:showCatName val="0"/>
          <c:showSerName val="0"/>
          <c:showPercent val="0"/>
          <c:showBubbleSize val="0"/>
        </c:dLbls>
        <c:gapWidth val="219"/>
        <c:overlap val="-27"/>
        <c:axId val="833866760"/>
        <c:axId val="833864792"/>
      </c:barChart>
      <c:catAx>
        <c:axId val="83386676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crossAx val="833864792"/>
        <c:crosses val="autoZero"/>
        <c:auto val="1"/>
        <c:lblAlgn val="ctr"/>
        <c:lblOffset val="100"/>
        <c:noMultiLvlLbl val="0"/>
      </c:catAx>
      <c:valAx>
        <c:axId val="833864792"/>
        <c:scaling>
          <c:orientation val="minMax"/>
        </c:scaling>
        <c:delete val="0"/>
        <c:axPos val="l"/>
        <c:majorGridlines>
          <c:spPr>
            <a:ln w="9525" cap="flat" cmpd="sng" algn="ctr">
              <a:solidFill>
                <a:schemeClr val="tx1">
                  <a:lumMod val="15000"/>
                  <a:lumOff val="85000"/>
                  <a:alpha val="20000"/>
                </a:schemeClr>
              </a:solidFill>
              <a:prstDash val="lg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95000"/>
                  </a:schemeClr>
                </a:solidFill>
                <a:latin typeface="+mn-lt"/>
                <a:ea typeface="+mn-ea"/>
                <a:cs typeface="+mn-cs"/>
              </a:defRPr>
            </a:pPr>
            <a:endParaRPr lang="zh-CN"/>
          </a:p>
        </c:txPr>
        <c:crossAx val="833866760"/>
        <c:crosses val="autoZero"/>
        <c:crossBetween val="between"/>
        <c:majorUnit val="1000"/>
      </c:valAx>
      <c:spPr>
        <a:noFill/>
        <a:ln>
          <a:noFill/>
        </a:ln>
        <a:effectLst/>
      </c:spPr>
    </c:plotArea>
    <c:plotVisOnly val="1"/>
    <c:dispBlanksAs val="gap"/>
    <c:showDLblsOverMax val="0"/>
  </c:chart>
  <c:spPr>
    <a:solidFill>
      <a:srgbClr val="1A1E43"/>
    </a:solidFill>
    <a:ln w="9525" cap="flat" cmpd="sng" algn="ctr">
      <a:noFill/>
      <a:round/>
    </a:ln>
    <a:effectLst/>
  </c:spPr>
  <c:txPr>
    <a:bodyPr/>
    <a:lstStyle/>
    <a:p>
      <a:pPr>
        <a:defRPr/>
      </a:pPr>
      <a:endParaRPr lang="zh-CN"/>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渐变柱形图!$C$2</c:f>
              <c:strCache>
                <c:ptCount val="1"/>
                <c:pt idx="0">
                  <c:v>销售量</c:v>
                </c:pt>
              </c:strCache>
            </c:strRef>
          </c:tx>
          <c:spPr>
            <a:solidFill>
              <a:srgbClr val="4472C4"/>
            </a:solidFill>
            <a:ln>
              <a:noFill/>
            </a:ln>
            <a:effectLst/>
          </c:spPr>
          <c:invertIfNegative val="0"/>
          <c:cat>
            <c:strRef>
              <c:f>渐变柱形图!$B$3:$B$8</c:f>
              <c:strCache>
                <c:ptCount val="6"/>
                <c:pt idx="0">
                  <c:v>华北</c:v>
                </c:pt>
                <c:pt idx="1">
                  <c:v>华南</c:v>
                </c:pt>
                <c:pt idx="2">
                  <c:v>东北</c:v>
                </c:pt>
                <c:pt idx="3">
                  <c:v>西北</c:v>
                </c:pt>
                <c:pt idx="4">
                  <c:v>西南</c:v>
                </c:pt>
                <c:pt idx="5">
                  <c:v>华东</c:v>
                </c:pt>
              </c:strCache>
            </c:strRef>
          </c:cat>
          <c:val>
            <c:numRef>
              <c:f>渐变柱形图!$C$3:$C$8</c:f>
              <c:numCache>
                <c:formatCode>General</c:formatCode>
                <c:ptCount val="6"/>
                <c:pt idx="0">
                  <c:v>2354</c:v>
                </c:pt>
                <c:pt idx="1">
                  <c:v>1902</c:v>
                </c:pt>
                <c:pt idx="2">
                  <c:v>3524</c:v>
                </c:pt>
                <c:pt idx="3">
                  <c:v>2698</c:v>
                </c:pt>
                <c:pt idx="4">
                  <c:v>2896</c:v>
                </c:pt>
                <c:pt idx="5">
                  <c:v>2563</c:v>
                </c:pt>
              </c:numCache>
            </c:numRef>
          </c:val>
          <c:extLst>
            <c:ext xmlns:c16="http://schemas.microsoft.com/office/drawing/2014/chart" uri="{C3380CC4-5D6E-409C-BE32-E72D297353CC}">
              <c16:uniqueId val="{00000000-F5D0-4867-9F20-8F5FD2D31E88}"/>
            </c:ext>
          </c:extLst>
        </c:ser>
        <c:dLbls>
          <c:showLegendKey val="0"/>
          <c:showVal val="0"/>
          <c:showCatName val="0"/>
          <c:showSerName val="0"/>
          <c:showPercent val="0"/>
          <c:showBubbleSize val="0"/>
        </c:dLbls>
        <c:gapWidth val="219"/>
        <c:overlap val="-27"/>
        <c:axId val="165969696"/>
        <c:axId val="165970656"/>
      </c:barChart>
      <c:catAx>
        <c:axId val="165969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65970656"/>
        <c:crosses val="autoZero"/>
        <c:auto val="1"/>
        <c:lblAlgn val="ctr"/>
        <c:lblOffset val="100"/>
        <c:noMultiLvlLbl val="0"/>
      </c:catAx>
      <c:valAx>
        <c:axId val="16597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659696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701364453882933"/>
          <c:y val="0.13328987788825936"/>
          <c:w val="0.58996854992239089"/>
          <c:h val="0.60549860111619713"/>
        </c:manualLayout>
      </c:layout>
      <c:pieChart>
        <c:varyColors val="1"/>
        <c:ser>
          <c:idx val="0"/>
          <c:order val="0"/>
          <c:tx>
            <c:strRef>
              <c:f>Sheet1!$B$1</c:f>
              <c:strCache>
                <c:ptCount val="1"/>
                <c:pt idx="0">
                  <c:v>销售额</c:v>
                </c:pt>
              </c:strCache>
            </c:strRef>
          </c:tx>
          <c:spPr>
            <a:ln>
              <a:noFill/>
            </a:ln>
          </c:spPr>
          <c:explosion val="1"/>
          <c:dPt>
            <c:idx val="0"/>
            <c:bubble3D val="0"/>
            <c:spPr>
              <a:solidFill>
                <a:schemeClr val="accent1"/>
              </a:solidFill>
              <a:ln w="19050">
                <a:noFill/>
              </a:ln>
              <a:effectLst/>
            </c:spPr>
            <c:extLst>
              <c:ext xmlns:c16="http://schemas.microsoft.com/office/drawing/2014/chart" uri="{C3380CC4-5D6E-409C-BE32-E72D297353CC}">
                <c16:uniqueId val="{00000001-D6D3-48BE-8DD1-9E453D80AA7F}"/>
              </c:ext>
            </c:extLst>
          </c:dPt>
          <c:dPt>
            <c:idx val="1"/>
            <c:bubble3D val="0"/>
            <c:spPr>
              <a:solidFill>
                <a:schemeClr val="accent2"/>
              </a:solidFill>
              <a:ln w="19050">
                <a:noFill/>
              </a:ln>
              <a:effectLst/>
            </c:spPr>
            <c:extLst>
              <c:ext xmlns:c16="http://schemas.microsoft.com/office/drawing/2014/chart" uri="{C3380CC4-5D6E-409C-BE32-E72D297353CC}">
                <c16:uniqueId val="{00000003-D6D3-48BE-8DD1-9E453D80AA7F}"/>
              </c:ext>
            </c:extLst>
          </c:dPt>
          <c:dPt>
            <c:idx val="2"/>
            <c:bubble3D val="0"/>
            <c:spPr>
              <a:solidFill>
                <a:schemeClr val="accent3"/>
              </a:solidFill>
              <a:ln w="19050">
                <a:noFill/>
              </a:ln>
              <a:effectLst/>
            </c:spPr>
            <c:extLst>
              <c:ext xmlns:c16="http://schemas.microsoft.com/office/drawing/2014/chart" uri="{C3380CC4-5D6E-409C-BE32-E72D297353CC}">
                <c16:uniqueId val="{00000005-D6D3-48BE-8DD1-9E453D80AA7F}"/>
              </c:ext>
            </c:extLst>
          </c:dPt>
          <c:dPt>
            <c:idx val="3"/>
            <c:bubble3D val="0"/>
            <c:spPr>
              <a:solidFill>
                <a:schemeClr val="accent4"/>
              </a:solidFill>
              <a:ln w="19050">
                <a:noFill/>
              </a:ln>
              <a:effectLst/>
            </c:spPr>
            <c:extLst>
              <c:ext xmlns:c16="http://schemas.microsoft.com/office/drawing/2014/chart" uri="{C3380CC4-5D6E-409C-BE32-E72D297353CC}">
                <c16:uniqueId val="{00000007-D6D3-48BE-8DD1-9E453D80AA7F}"/>
              </c:ext>
            </c:extLst>
          </c:dPt>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D27B-4621-9340-20F5726DCBB2}"/>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
          <c:y val="0.88513600681319304"/>
          <c:w val="1"/>
          <c:h val="0.114863993186807"/>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C9C-42F8-AC74-392292E16F7B}"/>
            </c:ext>
          </c:extLst>
        </c:ser>
        <c:ser>
          <c:idx val="1"/>
          <c:order val="1"/>
          <c:tx>
            <c:strRef>
              <c:f>Sheet1!$C$1</c:f>
              <c:strCache>
                <c:ptCount val="1"/>
                <c:pt idx="0">
                  <c:v>系列 2</c:v>
                </c:pt>
              </c:strCache>
            </c:strRef>
          </c:tx>
          <c:spPr>
            <a:solidFill>
              <a:schemeClr val="accent2"/>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C9C-42F8-AC74-392292E16F7B}"/>
            </c:ext>
          </c:extLst>
        </c:ser>
        <c:ser>
          <c:idx val="2"/>
          <c:order val="2"/>
          <c:tx>
            <c:strRef>
              <c:f>Sheet1!$D$1</c:f>
              <c:strCache>
                <c:ptCount val="1"/>
                <c:pt idx="0">
                  <c:v>系列 3</c:v>
                </c:pt>
              </c:strCache>
            </c:strRef>
          </c:tx>
          <c:spPr>
            <a:solidFill>
              <a:schemeClr val="accent3"/>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9C9C-42F8-AC74-392292E16F7B}"/>
            </c:ext>
          </c:extLst>
        </c:ser>
        <c:dLbls>
          <c:showLegendKey val="0"/>
          <c:showVal val="0"/>
          <c:showCatName val="0"/>
          <c:showSerName val="0"/>
          <c:showPercent val="0"/>
          <c:showBubbleSize val="0"/>
        </c:dLbls>
        <c:gapWidth val="219"/>
        <c:overlap val="-27"/>
        <c:axId val="709216800"/>
        <c:axId val="451205520"/>
      </c:barChart>
      <c:catAx>
        <c:axId val="709216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51205520"/>
        <c:crosses val="autoZero"/>
        <c:auto val="1"/>
        <c:lblAlgn val="ctr"/>
        <c:lblOffset val="100"/>
        <c:noMultiLvlLbl val="0"/>
      </c:catAx>
      <c:valAx>
        <c:axId val="451205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7092168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none"/>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FC2F-4DF9-9D62-5824247ABF6F}"/>
            </c:ext>
          </c:extLst>
        </c:ser>
        <c:ser>
          <c:idx val="1"/>
          <c:order val="1"/>
          <c:tx>
            <c:strRef>
              <c:f>Sheet1!$C$1</c:f>
              <c:strCache>
                <c:ptCount val="1"/>
                <c:pt idx="0">
                  <c:v>系列 2</c:v>
                </c:pt>
              </c:strCache>
            </c:strRef>
          </c:tx>
          <c:spPr>
            <a:ln w="28575" cap="rnd">
              <a:solidFill>
                <a:schemeClr val="accent2"/>
              </a:solidFill>
              <a:round/>
            </a:ln>
            <a:effectLst/>
          </c:spPr>
          <c:marker>
            <c:symbol val="none"/>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FC2F-4DF9-9D62-5824247ABF6F}"/>
            </c:ext>
          </c:extLst>
        </c:ser>
        <c:ser>
          <c:idx val="2"/>
          <c:order val="2"/>
          <c:tx>
            <c:strRef>
              <c:f>Sheet1!$D$1</c:f>
              <c:strCache>
                <c:ptCount val="1"/>
                <c:pt idx="0">
                  <c:v>系列 3</c:v>
                </c:pt>
              </c:strCache>
            </c:strRef>
          </c:tx>
          <c:spPr>
            <a:ln w="28575" cap="rnd">
              <a:solidFill>
                <a:schemeClr val="accent3"/>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FC2F-4DF9-9D62-5824247ABF6F}"/>
            </c:ext>
          </c:extLst>
        </c:ser>
        <c:dLbls>
          <c:showLegendKey val="0"/>
          <c:showVal val="0"/>
          <c:showCatName val="0"/>
          <c:showSerName val="0"/>
          <c:showPercent val="0"/>
          <c:showBubbleSize val="0"/>
        </c:dLbls>
        <c:smooth val="0"/>
        <c:axId val="1817783552"/>
        <c:axId val="854913376"/>
      </c:lineChart>
      <c:catAx>
        <c:axId val="1817783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54913376"/>
        <c:crosses val="autoZero"/>
        <c:auto val="1"/>
        <c:lblAlgn val="ctr"/>
        <c:lblOffset val="100"/>
        <c:noMultiLvlLbl val="0"/>
      </c:catAx>
      <c:valAx>
        <c:axId val="854913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8177835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 值</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Sheet1!$A$2:$A$4</c:f>
              <c:numCache>
                <c:formatCode>General</c:formatCode>
                <c:ptCount val="3"/>
                <c:pt idx="0">
                  <c:v>0.7</c:v>
                </c:pt>
                <c:pt idx="1">
                  <c:v>1.8</c:v>
                </c:pt>
                <c:pt idx="2">
                  <c:v>2.6</c:v>
                </c:pt>
              </c:numCache>
            </c:numRef>
          </c:xVal>
          <c:yVal>
            <c:numRef>
              <c:f>Sheet1!$B$2:$B$4</c:f>
              <c:numCache>
                <c:formatCode>General</c:formatCode>
                <c:ptCount val="3"/>
                <c:pt idx="0">
                  <c:v>2.7</c:v>
                </c:pt>
                <c:pt idx="1">
                  <c:v>3.2</c:v>
                </c:pt>
                <c:pt idx="2">
                  <c:v>0.8</c:v>
                </c:pt>
              </c:numCache>
            </c:numRef>
          </c:yVal>
          <c:smooth val="0"/>
          <c:extLst>
            <c:ext xmlns:c16="http://schemas.microsoft.com/office/drawing/2014/chart" uri="{C3380CC4-5D6E-409C-BE32-E72D297353CC}">
              <c16:uniqueId val="{00000000-CB6A-474D-93C5-6ABE6CD432C4}"/>
            </c:ext>
          </c:extLst>
        </c:ser>
        <c:dLbls>
          <c:showLegendKey val="0"/>
          <c:showVal val="0"/>
          <c:showCatName val="0"/>
          <c:showSerName val="0"/>
          <c:showPercent val="0"/>
          <c:showBubbleSize val="0"/>
        </c:dLbls>
        <c:axId val="1813502064"/>
        <c:axId val="854937184"/>
      </c:scatterChart>
      <c:valAx>
        <c:axId val="18135020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54937184"/>
        <c:crosses val="autoZero"/>
        <c:crossBetween val="midCat"/>
      </c:valAx>
      <c:valAx>
        <c:axId val="8549371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81350206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Sheet1!$A$2:$A$51</cx:f>
        <cx:lvl ptCount="50">
          <cx:pt idx="0">类别 1</cx:pt>
          <cx:pt idx="1">类别 3</cx:pt>
          <cx:pt idx="2">类别 1</cx:pt>
          <cx:pt idx="3">类别 2</cx:pt>
          <cx:pt idx="4">类别 4</cx:pt>
          <cx:pt idx="5">类别 1</cx:pt>
          <cx:pt idx="6">类别 4</cx:pt>
          <cx:pt idx="7">类别 3</cx:pt>
          <cx:pt idx="8">类别 4</cx:pt>
          <cx:pt idx="9">类别 1</cx:pt>
          <cx:pt idx="10">类别 2</cx:pt>
          <cx:pt idx="11">类别 4</cx:pt>
          <cx:pt idx="12">类别 4</cx:pt>
          <cx:pt idx="13">类别 2</cx:pt>
          <cx:pt idx="14">类别 1</cx:pt>
          <cx:pt idx="15">类别 1</cx:pt>
          <cx:pt idx="16">类别 1</cx:pt>
          <cx:pt idx="17">类别 4</cx:pt>
          <cx:pt idx="18">类别 4</cx:pt>
          <cx:pt idx="19">类别 4</cx:pt>
          <cx:pt idx="20">类别 1</cx:pt>
          <cx:pt idx="21">类别 1</cx:pt>
          <cx:pt idx="22">类别 4</cx:pt>
          <cx:pt idx="23">类别 1</cx:pt>
          <cx:pt idx="24">类别 1</cx:pt>
          <cx:pt idx="25">类别 4</cx:pt>
          <cx:pt idx="26">类别 1</cx:pt>
          <cx:pt idx="27">类别 4</cx:pt>
          <cx:pt idx="28">类别 4</cx:pt>
          <cx:pt idx="29">类别 4</cx:pt>
          <cx:pt idx="30">类别 4</cx:pt>
          <cx:pt idx="31">类别 2</cx:pt>
          <cx:pt idx="32">类别 4</cx:pt>
          <cx:pt idx="33">类别 1</cx:pt>
          <cx:pt idx="34">类别 4</cx:pt>
          <cx:pt idx="35">类别 1</cx:pt>
          <cx:pt idx="36">类别 4</cx:pt>
          <cx:pt idx="37">类别 2</cx:pt>
          <cx:pt idx="38">类别 4</cx:pt>
          <cx:pt idx="39">类别 3</cx:pt>
          <cx:pt idx="40">类别 4</cx:pt>
          <cx:pt idx="41">类别 4</cx:pt>
          <cx:pt idx="42">类别 2</cx:pt>
          <cx:pt idx="43">类别 4</cx:pt>
          <cx:pt idx="44">类别 1</cx:pt>
          <cx:pt idx="45">类别 1</cx:pt>
          <cx:pt idx="46">类别 1</cx:pt>
          <cx:pt idx="47">类别 2</cx:pt>
          <cx:pt idx="48">类别 4</cx:pt>
          <cx:pt idx="49">类别 4</cx:pt>
        </cx:lvl>
      </cx:strDim>
      <cx:numDim type="val">
        <cx:f>Sheet1!$B$2:$B$51</cx:f>
        <cx:lvl ptCount="50" formatCode="G/通用格式">
          <cx:pt idx="0">1</cx:pt>
          <cx:pt idx="1">1</cx:pt>
          <cx:pt idx="2">1</cx:pt>
          <cx:pt idx="3">1</cx:pt>
          <cx:pt idx="4">1</cx:pt>
          <cx:pt idx="5">1</cx:pt>
          <cx:pt idx="6">1</cx:pt>
          <cx:pt idx="7">1</cx:pt>
          <cx:pt idx="8">1</cx:pt>
          <cx:pt idx="9">1</cx:pt>
          <cx:pt idx="10">1</cx:pt>
          <cx:pt idx="11">1</cx:pt>
          <cx:pt idx="12">1</cx:pt>
          <cx:pt idx="13">1</cx:pt>
          <cx:pt idx="14">1</cx:pt>
          <cx:pt idx="15">1</cx:pt>
          <cx:pt idx="16">1</cx:pt>
          <cx:pt idx="17">1</cx:pt>
          <cx:pt idx="18">1</cx:pt>
          <cx:pt idx="19">1</cx:pt>
          <cx:pt idx="20">1</cx:pt>
          <cx:pt idx="21">1</cx:pt>
          <cx:pt idx="22">1</cx:pt>
          <cx:pt idx="23">1</cx:pt>
          <cx:pt idx="24">1</cx:pt>
          <cx:pt idx="25">1</cx:pt>
          <cx:pt idx="26">1</cx:pt>
          <cx:pt idx="27">1</cx:pt>
          <cx:pt idx="28">1</cx:pt>
          <cx:pt idx="29">1</cx:pt>
          <cx:pt idx="30">1</cx:pt>
          <cx:pt idx="31">1</cx:pt>
          <cx:pt idx="32">1</cx:pt>
          <cx:pt idx="33">1</cx:pt>
          <cx:pt idx="34">1</cx:pt>
          <cx:pt idx="35">1</cx:pt>
          <cx:pt idx="36">1</cx:pt>
          <cx:pt idx="37">1</cx:pt>
          <cx:pt idx="38">1</cx:pt>
          <cx:pt idx="39">1</cx:pt>
          <cx:pt idx="40">1</cx:pt>
          <cx:pt idx="41">1</cx:pt>
          <cx:pt idx="42">1</cx:pt>
          <cx:pt idx="43">1</cx:pt>
          <cx:pt idx="44">1</cx:pt>
          <cx:pt idx="45">1</cx:pt>
          <cx:pt idx="46">1</cx:pt>
          <cx:pt idx="47">1</cx:pt>
          <cx:pt idx="48">1</cx:pt>
          <cx:pt idx="49">1</cx:pt>
        </cx:lvl>
      </cx:numDim>
    </cx:data>
  </cx:chartData>
  <cx:chart>
    <cx:plotArea>
      <cx:plotAreaRegion>
        <cx:series layoutId="clusteredColumn" uniqueId="{F2CD776E-235A-4BC3-A4A2-3AB4B6B3C285}">
          <cx:tx>
            <cx:txData>
              <cx:f>Sheet1!$B$1</cx:f>
              <cx:v>系列 1</cx:v>
            </cx:txData>
          </cx:tx>
          <cx:dataId val="0"/>
          <cx:layoutPr>
            <cx:aggregation/>
          </cx:layoutPr>
          <cx:axisId val="1"/>
        </cx:series>
        <cx:series layoutId="paretoLine" ownerIdx="0" uniqueId="{C31AEEBA-E3B3-47B7-83AE-FC0381CFC307}">
          <cx:axisId val="2"/>
        </cx:series>
      </cx:plotAreaRegion>
      <cx:axis id="0">
        <cx:catScaling gapWidth="0"/>
        <cx:tickLabels/>
      </cx:axis>
      <cx:axis id="1">
        <cx:valScaling/>
        <cx:majorGridlines/>
        <cx:tickLabels/>
      </cx:axis>
      <cx:axis id="2">
        <cx:valScaling max="1" min="0"/>
        <cx:units unit="percentage"/>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0.03751</cdr:x>
      <cdr:y>0.01208</cdr:y>
    </cdr:from>
    <cdr:to>
      <cdr:x>0.93457</cdr:x>
      <cdr:y>0.23948</cdr:y>
    </cdr:to>
    <cdr:sp macro="" textlink="">
      <cdr:nvSpPr>
        <cdr:cNvPr id="2" name="文本框 11">
          <a:extLst xmlns:a="http://schemas.openxmlformats.org/drawingml/2006/main">
            <a:ext uri="{FF2B5EF4-FFF2-40B4-BE49-F238E27FC236}">
              <a16:creationId xmlns:a16="http://schemas.microsoft.com/office/drawing/2014/main" id="{BA7EF876-CBFC-78D9-4396-C3BF9FECA0CB}"/>
            </a:ext>
          </a:extLst>
        </cdr:cNvPr>
        <cdr:cNvSpPr txBox="1"/>
      </cdr:nvSpPr>
      <cdr:spPr>
        <a:xfrm xmlns:a="http://schemas.openxmlformats.org/drawingml/2006/main">
          <a:off x="144355" y="34788"/>
          <a:ext cx="3452539" cy="654918"/>
        </a:xfrm>
        <a:prstGeom xmlns:a="http://schemas.openxmlformats.org/drawingml/2006/main" prst="rect">
          <a:avLst/>
        </a:prstGeom>
        <a:noFill xmlns:a="http://schemas.openxmlformats.org/drawingml/2006/main"/>
        <a:ln xmlns:a="http://schemas.openxmlformats.org/drawingml/2006/main" w="9525" cmpd="sng">
          <a:no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pPr algn="l">
            <a:lnSpc>
              <a:spcPct val="150000"/>
            </a:lnSpc>
          </a:pPr>
          <a:r>
            <a:rPr lang="en-US" altLang="zh-CN" sz="1200" b="1" dirty="0">
              <a:solidFill>
                <a:schemeClr val="bg1"/>
              </a:solidFill>
              <a:latin typeface="微软雅黑" panose="020B0503020204020204" pitchFamily="34" charset="-122"/>
              <a:ea typeface="微软雅黑" panose="020B0503020204020204" pitchFamily="34" charset="-122"/>
            </a:rPr>
            <a:t>3</a:t>
          </a:r>
          <a:r>
            <a:rPr lang="zh-CN" altLang="en-US" sz="1200" b="1" dirty="0">
              <a:solidFill>
                <a:schemeClr val="bg1"/>
              </a:solidFill>
              <a:latin typeface="微软雅黑" panose="020B0503020204020204" pitchFamily="34" charset="-122"/>
              <a:ea typeface="微软雅黑" panose="020B0503020204020204" pitchFamily="34" charset="-122"/>
            </a:rPr>
            <a:t>月各区域销量分布</a:t>
          </a:r>
          <a:endParaRPr lang="en-US" altLang="zh-CN" sz="1200" b="1" dirty="0">
            <a:solidFill>
              <a:schemeClr val="bg1"/>
            </a:solidFill>
            <a:latin typeface="微软雅黑" panose="020B0503020204020204" pitchFamily="34" charset="-122"/>
            <a:ea typeface="微软雅黑" panose="020B0503020204020204" pitchFamily="34" charset="-122"/>
          </a:endParaRPr>
        </a:p>
        <a:p xmlns:a="http://schemas.openxmlformats.org/drawingml/2006/main">
          <a:pPr algn="l">
            <a:lnSpc>
              <a:spcPct val="150000"/>
            </a:lnSpc>
          </a:pPr>
          <a:r>
            <a:rPr lang="zh-CN" altLang="en-US" sz="1000" dirty="0">
              <a:solidFill>
                <a:schemeClr val="bg1"/>
              </a:solidFill>
              <a:latin typeface="微软雅黑" panose="020B0503020204020204" pitchFamily="34" charset="-122"/>
              <a:ea typeface="微软雅黑" panose="020B0503020204020204" pitchFamily="34" charset="-122"/>
            </a:rPr>
            <a:t>东北销量最多占比总销量的</a:t>
          </a:r>
          <a:r>
            <a:rPr lang="en-US" altLang="zh-CN" sz="1000" dirty="0">
              <a:solidFill>
                <a:schemeClr val="bg1"/>
              </a:solidFill>
              <a:latin typeface="微软雅黑" panose="020B0503020204020204" pitchFamily="34" charset="-122"/>
              <a:ea typeface="微软雅黑" panose="020B0503020204020204" pitchFamily="34" charset="-122"/>
            </a:rPr>
            <a:t>22%</a:t>
          </a:r>
          <a:r>
            <a:rPr lang="zh-CN" altLang="en-US" sz="1000" dirty="0">
              <a:solidFill>
                <a:schemeClr val="bg1"/>
              </a:solidFill>
              <a:latin typeface="微软雅黑" panose="020B0503020204020204" pitchFamily="34" charset="-122"/>
              <a:ea typeface="微软雅黑" panose="020B0503020204020204" pitchFamily="34" charset="-122"/>
            </a:rPr>
            <a:t>，华南销量最低</a:t>
          </a:r>
          <a:endParaRPr lang="zh-CN" altLang="en-US" sz="900" dirty="0">
            <a:solidFill>
              <a:schemeClr val="bg1"/>
            </a:solidFill>
            <a:latin typeface="微软雅黑" panose="020B0503020204020204" pitchFamily="34" charset="-122"/>
            <a:ea typeface="微软雅黑" panose="020B0503020204020204" pitchFamily="34" charset="-122"/>
          </a:endParaRPr>
        </a:p>
      </cdr:txBody>
    </cdr:sp>
  </cdr:relSizeAnchor>
  <cdr:relSizeAnchor xmlns:cdr="http://schemas.openxmlformats.org/drawingml/2006/chartDrawing">
    <cdr:from>
      <cdr:x>0.02848</cdr:x>
      <cdr:y>0.91745</cdr:y>
    </cdr:from>
    <cdr:to>
      <cdr:x>0.82995</cdr:x>
      <cdr:y>0.98241</cdr:y>
    </cdr:to>
    <cdr:sp macro="" textlink="">
      <cdr:nvSpPr>
        <cdr:cNvPr id="3" name="文本框 12">
          <a:extLst xmlns:a="http://schemas.openxmlformats.org/drawingml/2006/main">
            <a:ext uri="{FF2B5EF4-FFF2-40B4-BE49-F238E27FC236}">
              <a16:creationId xmlns:a16="http://schemas.microsoft.com/office/drawing/2014/main" id="{D9D1662E-2270-4FCE-9CFD-94347B6BF938}"/>
            </a:ext>
          </a:extLst>
        </cdr:cNvPr>
        <cdr:cNvSpPr txBox="1"/>
      </cdr:nvSpPr>
      <cdr:spPr>
        <a:xfrm xmlns:a="http://schemas.openxmlformats.org/drawingml/2006/main">
          <a:off x="150720" y="3633113"/>
          <a:ext cx="4241379" cy="257242"/>
        </a:xfrm>
        <a:prstGeom xmlns:a="http://schemas.openxmlformats.org/drawingml/2006/main" prst="rect">
          <a:avLst/>
        </a:prstGeom>
        <a:noFill xmlns:a="http://schemas.openxmlformats.org/drawingml/2006/main"/>
        <a:ln xmlns:a="http://schemas.openxmlformats.org/drawingml/2006/main" w="9525" cmpd="sng">
          <a:no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altLang="zh-CN" sz="800">
              <a:solidFill>
                <a:schemeClr val="bg1">
                  <a:lumMod val="85000"/>
                </a:schemeClr>
              </a:solidFill>
              <a:latin typeface="微软雅黑" panose="020B0503020204020204" pitchFamily="34" charset="-122"/>
              <a:ea typeface="微软雅黑" panose="020B0503020204020204" pitchFamily="34" charset="-122"/>
            </a:rPr>
            <a:t>*</a:t>
          </a:r>
          <a:r>
            <a:rPr lang="zh-CN" altLang="en-US" sz="800">
              <a:solidFill>
                <a:schemeClr val="bg1">
                  <a:lumMod val="85000"/>
                </a:schemeClr>
              </a:solidFill>
              <a:latin typeface="微软雅黑" panose="020B0503020204020204" pitchFamily="34" charset="-122"/>
              <a:ea typeface="微软雅黑" panose="020B0503020204020204" pitchFamily="34" charset="-122"/>
            </a:rPr>
            <a:t>注：数据来源于公司销售系统，统计日期截至</a:t>
          </a:r>
          <a:r>
            <a:rPr lang="en-US" altLang="zh-CN" sz="800">
              <a:solidFill>
                <a:schemeClr val="bg1">
                  <a:lumMod val="85000"/>
                </a:schemeClr>
              </a:solidFill>
              <a:latin typeface="微软雅黑" panose="020B0503020204020204" pitchFamily="34" charset="-122"/>
              <a:ea typeface="微软雅黑" panose="020B0503020204020204" pitchFamily="34" charset="-122"/>
            </a:rPr>
            <a:t>2022.03.31</a:t>
          </a:r>
          <a:endParaRPr lang="zh-CN" altLang="en-US" sz="800">
            <a:solidFill>
              <a:schemeClr val="bg1">
                <a:lumMod val="85000"/>
              </a:schemeClr>
            </a:solidFill>
            <a:latin typeface="微软雅黑" panose="020B0503020204020204" pitchFamily="34" charset="-122"/>
            <a:ea typeface="微软雅黑" panose="020B0503020204020204" pitchFamily="34" charset="-122"/>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231F11-26F7-4A0D-BA7C-A2BF27514826}" type="datetimeFigureOut">
              <a:rPr lang="zh-CN" altLang="en-US" smtClean="0"/>
              <a:t>2024/4/25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030371-7DE5-4389-8DDC-81E250862849}" type="slidenum">
              <a:rPr lang="zh-CN" altLang="en-US" smtClean="0"/>
              <a:t>‹#›</a:t>
            </a:fld>
            <a:endParaRPr lang="zh-CN" altLang="en-US"/>
          </a:p>
        </p:txBody>
      </p:sp>
    </p:spTree>
    <p:extLst>
      <p:ext uri="{BB962C8B-B14F-4D97-AF65-F5344CB8AC3E}">
        <p14:creationId xmlns:p14="http://schemas.microsoft.com/office/powerpoint/2010/main" val="1496395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0 空白">
    <p:bg>
      <p:bgPr>
        <a:solidFill>
          <a:srgbClr val="151C48"/>
        </a:solidFill>
        <a:effectLst/>
      </p:bgPr>
    </p:bg>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55EA6463-8186-58B2-553C-5091A0AA4F25}"/>
              </a:ext>
            </a:extLst>
          </p:cNvPr>
          <p:cNvSpPr/>
          <p:nvPr userDrawn="1"/>
        </p:nvSpPr>
        <p:spPr>
          <a:xfrm>
            <a:off x="306562" y="238836"/>
            <a:ext cx="11578876" cy="6380328"/>
          </a:xfrm>
          <a:prstGeom prst="roundRect">
            <a:avLst>
              <a:gd name="adj" fmla="val 3351"/>
            </a:avLst>
          </a:prstGeom>
          <a:solidFill>
            <a:srgbClr val="F1F1F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14583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认识图表">
    <p:bg>
      <p:bgPr>
        <a:solidFill>
          <a:srgbClr val="151C48"/>
        </a:solidFill>
        <a:effectLst/>
      </p:bgPr>
    </p:bg>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55EA6463-8186-58B2-553C-5091A0AA4F25}"/>
              </a:ext>
            </a:extLst>
          </p:cNvPr>
          <p:cNvSpPr/>
          <p:nvPr userDrawn="1"/>
        </p:nvSpPr>
        <p:spPr>
          <a:xfrm>
            <a:off x="1371955" y="238836"/>
            <a:ext cx="10528893" cy="6380328"/>
          </a:xfrm>
          <a:prstGeom prst="roundRect">
            <a:avLst>
              <a:gd name="adj" fmla="val 2090"/>
            </a:avLst>
          </a:prstGeom>
          <a:solidFill>
            <a:srgbClr val="F1F1F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图片 11">
            <a:extLst>
              <a:ext uri="{FF2B5EF4-FFF2-40B4-BE49-F238E27FC236}">
                <a16:creationId xmlns:a16="http://schemas.microsoft.com/office/drawing/2014/main" id="{43DA9326-4D2F-9918-CB31-CA601E8008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2000" y="465160"/>
            <a:ext cx="381569" cy="292291"/>
          </a:xfrm>
          <a:prstGeom prst="rect">
            <a:avLst/>
          </a:prstGeom>
        </p:spPr>
      </p:pic>
      <p:sp>
        <p:nvSpPr>
          <p:cNvPr id="40" name="文本框 39">
            <a:extLst>
              <a:ext uri="{FF2B5EF4-FFF2-40B4-BE49-F238E27FC236}">
                <a16:creationId xmlns:a16="http://schemas.microsoft.com/office/drawing/2014/main" id="{D00823D8-3A14-E67B-FDE8-7FD1BB2E4C50}"/>
              </a:ext>
            </a:extLst>
          </p:cNvPr>
          <p:cNvSpPr txBox="1"/>
          <p:nvPr userDrawn="1"/>
        </p:nvSpPr>
        <p:spPr>
          <a:xfrm>
            <a:off x="214804" y="4369694"/>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图表修饰</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6" name="文本占位符 57">
            <a:extLst>
              <a:ext uri="{FF2B5EF4-FFF2-40B4-BE49-F238E27FC236}">
                <a16:creationId xmlns:a16="http://schemas.microsoft.com/office/drawing/2014/main" id="{327DCEE5-7F76-8195-64C8-D027EBEBBD71}"/>
              </a:ext>
            </a:extLst>
          </p:cNvPr>
          <p:cNvSpPr>
            <a:spLocks noGrp="1"/>
          </p:cNvSpPr>
          <p:nvPr>
            <p:ph type="body" sz="quarter" idx="12"/>
          </p:nvPr>
        </p:nvSpPr>
        <p:spPr>
          <a:xfrm>
            <a:off x="1893569" y="352247"/>
            <a:ext cx="8802687" cy="439715"/>
          </a:xfrm>
          <a:prstGeom prst="rect">
            <a:avLst/>
          </a:prstGeom>
        </p:spPr>
        <p:txBody>
          <a:bodyPr anchor="ctr"/>
          <a:lstStyle>
            <a:lvl1pPr marL="0" indent="0">
              <a:lnSpc>
                <a:spcPct val="150000"/>
              </a:lnSpc>
              <a:spcBef>
                <a:spcPts val="600"/>
              </a:spcBef>
              <a:buNone/>
              <a:defRPr sz="1600" b="1">
                <a:solidFill>
                  <a:srgbClr val="3283FF"/>
                </a:solidFill>
                <a:latin typeface="微软雅黑" panose="020B0503020204020204" pitchFamily="34" charset="-122"/>
                <a:ea typeface="微软雅黑" panose="020B0503020204020204" pitchFamily="34" charset="-122"/>
              </a:defRPr>
            </a:lvl1pPr>
          </a:lstStyle>
          <a:p>
            <a:pPr lvl="0"/>
            <a:endParaRPr lang="en-US" dirty="0"/>
          </a:p>
        </p:txBody>
      </p:sp>
      <p:pic>
        <p:nvPicPr>
          <p:cNvPr id="8" name="图片 7" descr="图表, 条形图&#10;&#10;描述已自动生成">
            <a:extLst>
              <a:ext uri="{FF2B5EF4-FFF2-40B4-BE49-F238E27FC236}">
                <a16:creationId xmlns:a16="http://schemas.microsoft.com/office/drawing/2014/main" id="{00E6A615-ECFC-0EDE-5B18-EE00537EA3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7770" y="304893"/>
            <a:ext cx="614846" cy="612823"/>
          </a:xfrm>
          <a:prstGeom prst="roundRect">
            <a:avLst>
              <a:gd name="adj" fmla="val 4172"/>
            </a:avLst>
          </a:prstGeom>
        </p:spPr>
      </p:pic>
      <p:sp>
        <p:nvSpPr>
          <p:cNvPr id="53" name="文本框 52">
            <a:extLst>
              <a:ext uri="{FF2B5EF4-FFF2-40B4-BE49-F238E27FC236}">
                <a16:creationId xmlns:a16="http://schemas.microsoft.com/office/drawing/2014/main" id="{EAD1A695-2D33-40EA-768C-B01B51266AF6}"/>
              </a:ext>
            </a:extLst>
          </p:cNvPr>
          <p:cNvSpPr txBox="1"/>
          <p:nvPr userDrawn="1"/>
        </p:nvSpPr>
        <p:spPr>
          <a:xfrm>
            <a:off x="214804" y="1979670"/>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认识图表</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BC334811-BEC7-6D71-8542-CD69495345C1}"/>
              </a:ext>
            </a:extLst>
          </p:cNvPr>
          <p:cNvSpPr txBox="1"/>
          <p:nvPr userDrawn="1"/>
        </p:nvSpPr>
        <p:spPr>
          <a:xfrm>
            <a:off x="221430" y="3165138"/>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图表分类</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95888ECD-070D-5FFD-D476-7FEE4FC1C3AC}"/>
              </a:ext>
            </a:extLst>
          </p:cNvPr>
          <p:cNvSpPr txBox="1"/>
          <p:nvPr userDrawn="1"/>
        </p:nvSpPr>
        <p:spPr>
          <a:xfrm>
            <a:off x="187159" y="5635805"/>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设计原则</a:t>
            </a:r>
            <a:endParaRPr lang="en-US" sz="1000" b="1" dirty="0">
              <a:solidFill>
                <a:schemeClr val="bg1"/>
              </a:solidFill>
              <a:latin typeface="微软雅黑" panose="020B0503020204020204" pitchFamily="34" charset="-122"/>
              <a:ea typeface="微软雅黑" panose="020B0503020204020204" pitchFamily="34" charset="-122"/>
            </a:endParaRPr>
          </a:p>
        </p:txBody>
      </p:sp>
      <p:grpSp>
        <p:nvGrpSpPr>
          <p:cNvPr id="57" name="组合 56">
            <a:extLst>
              <a:ext uri="{FF2B5EF4-FFF2-40B4-BE49-F238E27FC236}">
                <a16:creationId xmlns:a16="http://schemas.microsoft.com/office/drawing/2014/main" id="{AA48E6A0-CC9F-62B6-DE73-EA31A67B4E40}"/>
              </a:ext>
            </a:extLst>
          </p:cNvPr>
          <p:cNvGrpSpPr/>
          <p:nvPr userDrawn="1"/>
        </p:nvGrpSpPr>
        <p:grpSpPr>
          <a:xfrm>
            <a:off x="862616" y="1441827"/>
            <a:ext cx="457200" cy="457200"/>
            <a:chOff x="914755" y="3953208"/>
            <a:chExt cx="457200" cy="457200"/>
          </a:xfrm>
        </p:grpSpPr>
        <p:pic>
          <p:nvPicPr>
            <p:cNvPr id="58" name="图片 57" descr="图标&#10;&#10;描述已自动生成">
              <a:extLst>
                <a:ext uri="{FF2B5EF4-FFF2-40B4-BE49-F238E27FC236}">
                  <a16:creationId xmlns:a16="http://schemas.microsoft.com/office/drawing/2014/main" id="{E8623D58-8579-F149-900F-61FF17FC149E}"/>
                </a:ext>
              </a:extLst>
            </p:cNvPr>
            <p:cNvPicPr>
              <a:picLocks noChangeAspect="1"/>
            </p:cNvPicPr>
            <p:nvPr userDrawn="1"/>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914755" y="3953208"/>
              <a:ext cx="457200" cy="457200"/>
            </a:xfrm>
            <a:prstGeom prst="rect">
              <a:avLst/>
            </a:prstGeom>
          </p:spPr>
        </p:pic>
        <p:sp>
          <p:nvSpPr>
            <p:cNvPr id="59" name="椭圆 58">
              <a:extLst>
                <a:ext uri="{FF2B5EF4-FFF2-40B4-BE49-F238E27FC236}">
                  <a16:creationId xmlns:a16="http://schemas.microsoft.com/office/drawing/2014/main" id="{49B5BB8A-7BC7-130D-72F3-F95701FDD856}"/>
                </a:ext>
              </a:extLst>
            </p:cNvPr>
            <p:cNvSpPr>
              <a:spLocks noChangeAspect="1"/>
            </p:cNvSpPr>
            <p:nvPr userDrawn="1"/>
          </p:nvSpPr>
          <p:spPr>
            <a:xfrm rot="5822244">
              <a:off x="1137555" y="4136089"/>
              <a:ext cx="91440" cy="91440"/>
            </a:xfrm>
            <a:prstGeom prst="ellipse">
              <a:avLst/>
            </a:prstGeom>
            <a:solidFill>
              <a:srgbClr val="151C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图片 2" descr="图标&#10;&#10;描述已自动生成">
            <a:extLst>
              <a:ext uri="{FF2B5EF4-FFF2-40B4-BE49-F238E27FC236}">
                <a16:creationId xmlns:a16="http://schemas.microsoft.com/office/drawing/2014/main" id="{924379DE-9989-147E-AE85-C541BEDE8E4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27902" y="2636030"/>
            <a:ext cx="432000" cy="432000"/>
          </a:xfrm>
          <a:prstGeom prst="roundRect">
            <a:avLst/>
          </a:prstGeom>
          <a:solidFill>
            <a:srgbClr val="F1F1FB"/>
          </a:solidFill>
        </p:spPr>
      </p:pic>
      <p:pic>
        <p:nvPicPr>
          <p:cNvPr id="5" name="图片 4" descr="图标&#10;&#10;描述已自动生成">
            <a:extLst>
              <a:ext uri="{FF2B5EF4-FFF2-40B4-BE49-F238E27FC236}">
                <a16:creationId xmlns:a16="http://schemas.microsoft.com/office/drawing/2014/main" id="{AAD88429-558D-3DA9-F880-3C290259832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27902" y="1423239"/>
            <a:ext cx="432000" cy="432000"/>
          </a:xfrm>
          <a:prstGeom prst="roundRect">
            <a:avLst/>
          </a:prstGeom>
          <a:solidFill>
            <a:srgbClr val="F1F1FB"/>
          </a:solidFill>
        </p:spPr>
      </p:pic>
      <p:pic>
        <p:nvPicPr>
          <p:cNvPr id="13" name="图片 12" descr="图标&#10;&#10;描述已自动生成">
            <a:extLst>
              <a:ext uri="{FF2B5EF4-FFF2-40B4-BE49-F238E27FC236}">
                <a16:creationId xmlns:a16="http://schemas.microsoft.com/office/drawing/2014/main" id="{6CDFABF0-9C6B-CA5C-D7B8-99CFF565F45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27902" y="3848821"/>
            <a:ext cx="432000" cy="432000"/>
          </a:xfrm>
          <a:prstGeom prst="roundRect">
            <a:avLst/>
          </a:prstGeom>
          <a:solidFill>
            <a:srgbClr val="F1F1FB"/>
          </a:solidFill>
        </p:spPr>
      </p:pic>
      <p:pic>
        <p:nvPicPr>
          <p:cNvPr id="16" name="图片 15" descr="图标&#10;&#10;描述已自动生成">
            <a:extLst>
              <a:ext uri="{FF2B5EF4-FFF2-40B4-BE49-F238E27FC236}">
                <a16:creationId xmlns:a16="http://schemas.microsoft.com/office/drawing/2014/main" id="{3DF73C9E-36A0-0383-53CA-65652B31D9D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27902" y="5061612"/>
            <a:ext cx="432000" cy="432000"/>
          </a:xfrm>
          <a:prstGeom prst="roundRect">
            <a:avLst/>
          </a:prstGeom>
          <a:solidFill>
            <a:srgbClr val="F1F1FB"/>
          </a:solidFill>
        </p:spPr>
      </p:pic>
    </p:spTree>
    <p:extLst>
      <p:ext uri="{BB962C8B-B14F-4D97-AF65-F5344CB8AC3E}">
        <p14:creationId xmlns:p14="http://schemas.microsoft.com/office/powerpoint/2010/main" val="3398027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图表分类">
    <p:bg>
      <p:bgPr>
        <a:solidFill>
          <a:srgbClr val="151C48"/>
        </a:solidFill>
        <a:effectLst/>
      </p:bgPr>
    </p:bg>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55EA6463-8186-58B2-553C-5091A0AA4F25}"/>
              </a:ext>
            </a:extLst>
          </p:cNvPr>
          <p:cNvSpPr/>
          <p:nvPr userDrawn="1"/>
        </p:nvSpPr>
        <p:spPr>
          <a:xfrm>
            <a:off x="1371955" y="238836"/>
            <a:ext cx="10528893" cy="6380328"/>
          </a:xfrm>
          <a:prstGeom prst="roundRect">
            <a:avLst>
              <a:gd name="adj" fmla="val 2090"/>
            </a:avLst>
          </a:prstGeom>
          <a:solidFill>
            <a:srgbClr val="F1F1F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图片 11">
            <a:extLst>
              <a:ext uri="{FF2B5EF4-FFF2-40B4-BE49-F238E27FC236}">
                <a16:creationId xmlns:a16="http://schemas.microsoft.com/office/drawing/2014/main" id="{43DA9326-4D2F-9918-CB31-CA601E8008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2000" y="465160"/>
            <a:ext cx="381569" cy="292291"/>
          </a:xfrm>
          <a:prstGeom prst="rect">
            <a:avLst/>
          </a:prstGeom>
        </p:spPr>
      </p:pic>
      <p:sp>
        <p:nvSpPr>
          <p:cNvPr id="40" name="文本框 39">
            <a:extLst>
              <a:ext uri="{FF2B5EF4-FFF2-40B4-BE49-F238E27FC236}">
                <a16:creationId xmlns:a16="http://schemas.microsoft.com/office/drawing/2014/main" id="{D00823D8-3A14-E67B-FDE8-7FD1BB2E4C50}"/>
              </a:ext>
            </a:extLst>
          </p:cNvPr>
          <p:cNvSpPr txBox="1"/>
          <p:nvPr userDrawn="1"/>
        </p:nvSpPr>
        <p:spPr>
          <a:xfrm>
            <a:off x="214804" y="4369694"/>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图表修饰</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6" name="文本占位符 57">
            <a:extLst>
              <a:ext uri="{FF2B5EF4-FFF2-40B4-BE49-F238E27FC236}">
                <a16:creationId xmlns:a16="http://schemas.microsoft.com/office/drawing/2014/main" id="{327DCEE5-7F76-8195-64C8-D027EBEBBD71}"/>
              </a:ext>
            </a:extLst>
          </p:cNvPr>
          <p:cNvSpPr>
            <a:spLocks noGrp="1"/>
          </p:cNvSpPr>
          <p:nvPr>
            <p:ph type="body" sz="quarter" idx="12"/>
          </p:nvPr>
        </p:nvSpPr>
        <p:spPr>
          <a:xfrm>
            <a:off x="1893569" y="352247"/>
            <a:ext cx="8802687" cy="439715"/>
          </a:xfrm>
          <a:prstGeom prst="rect">
            <a:avLst/>
          </a:prstGeom>
        </p:spPr>
        <p:txBody>
          <a:bodyPr anchor="ctr"/>
          <a:lstStyle>
            <a:lvl1pPr marL="0" indent="0">
              <a:lnSpc>
                <a:spcPct val="150000"/>
              </a:lnSpc>
              <a:spcBef>
                <a:spcPts val="600"/>
              </a:spcBef>
              <a:buNone/>
              <a:defRPr sz="1600" b="1">
                <a:solidFill>
                  <a:srgbClr val="3283FF"/>
                </a:solidFill>
                <a:latin typeface="微软雅黑" panose="020B0503020204020204" pitchFamily="34" charset="-122"/>
                <a:ea typeface="微软雅黑" panose="020B0503020204020204" pitchFamily="34" charset="-122"/>
              </a:defRPr>
            </a:lvl1pPr>
          </a:lstStyle>
          <a:p>
            <a:pPr lvl="0"/>
            <a:endParaRPr lang="en-US" dirty="0"/>
          </a:p>
        </p:txBody>
      </p:sp>
      <p:pic>
        <p:nvPicPr>
          <p:cNvPr id="8" name="图片 7" descr="图表, 条形图&#10;&#10;描述已自动生成">
            <a:extLst>
              <a:ext uri="{FF2B5EF4-FFF2-40B4-BE49-F238E27FC236}">
                <a16:creationId xmlns:a16="http://schemas.microsoft.com/office/drawing/2014/main" id="{00E6A615-ECFC-0EDE-5B18-EE00537EA3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7770" y="304893"/>
            <a:ext cx="614846" cy="612823"/>
          </a:xfrm>
          <a:prstGeom prst="roundRect">
            <a:avLst>
              <a:gd name="adj" fmla="val 4172"/>
            </a:avLst>
          </a:prstGeom>
        </p:spPr>
      </p:pic>
      <p:sp>
        <p:nvSpPr>
          <p:cNvPr id="53" name="文本框 52">
            <a:extLst>
              <a:ext uri="{FF2B5EF4-FFF2-40B4-BE49-F238E27FC236}">
                <a16:creationId xmlns:a16="http://schemas.microsoft.com/office/drawing/2014/main" id="{EAD1A695-2D33-40EA-768C-B01B51266AF6}"/>
              </a:ext>
            </a:extLst>
          </p:cNvPr>
          <p:cNvSpPr txBox="1"/>
          <p:nvPr userDrawn="1"/>
        </p:nvSpPr>
        <p:spPr>
          <a:xfrm>
            <a:off x="214804" y="1979670"/>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认识图表</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BC334811-BEC7-6D71-8542-CD69495345C1}"/>
              </a:ext>
            </a:extLst>
          </p:cNvPr>
          <p:cNvSpPr txBox="1"/>
          <p:nvPr userDrawn="1"/>
        </p:nvSpPr>
        <p:spPr>
          <a:xfrm>
            <a:off x="221430" y="3165138"/>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图表分类</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95888ECD-070D-5FFD-D476-7FEE4FC1C3AC}"/>
              </a:ext>
            </a:extLst>
          </p:cNvPr>
          <p:cNvSpPr txBox="1"/>
          <p:nvPr userDrawn="1"/>
        </p:nvSpPr>
        <p:spPr>
          <a:xfrm>
            <a:off x="187159" y="5635805"/>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设计原则</a:t>
            </a:r>
            <a:endParaRPr lang="en-US" sz="1000" b="1" dirty="0">
              <a:solidFill>
                <a:schemeClr val="bg1"/>
              </a:solidFill>
              <a:latin typeface="微软雅黑" panose="020B0503020204020204" pitchFamily="34" charset="-122"/>
              <a:ea typeface="微软雅黑" panose="020B0503020204020204" pitchFamily="34" charset="-122"/>
            </a:endParaRPr>
          </a:p>
        </p:txBody>
      </p:sp>
      <p:grpSp>
        <p:nvGrpSpPr>
          <p:cNvPr id="57" name="组合 56">
            <a:extLst>
              <a:ext uri="{FF2B5EF4-FFF2-40B4-BE49-F238E27FC236}">
                <a16:creationId xmlns:a16="http://schemas.microsoft.com/office/drawing/2014/main" id="{AA48E6A0-CC9F-62B6-DE73-EA31A67B4E40}"/>
              </a:ext>
            </a:extLst>
          </p:cNvPr>
          <p:cNvGrpSpPr/>
          <p:nvPr userDrawn="1"/>
        </p:nvGrpSpPr>
        <p:grpSpPr>
          <a:xfrm>
            <a:off x="862616" y="2623430"/>
            <a:ext cx="457200" cy="457200"/>
            <a:chOff x="914755" y="3953208"/>
            <a:chExt cx="457200" cy="457200"/>
          </a:xfrm>
        </p:grpSpPr>
        <p:pic>
          <p:nvPicPr>
            <p:cNvPr id="58" name="图片 57" descr="图标&#10;&#10;描述已自动生成">
              <a:extLst>
                <a:ext uri="{FF2B5EF4-FFF2-40B4-BE49-F238E27FC236}">
                  <a16:creationId xmlns:a16="http://schemas.microsoft.com/office/drawing/2014/main" id="{E8623D58-8579-F149-900F-61FF17FC149E}"/>
                </a:ext>
              </a:extLst>
            </p:cNvPr>
            <p:cNvPicPr>
              <a:picLocks noChangeAspect="1"/>
            </p:cNvPicPr>
            <p:nvPr userDrawn="1"/>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914755" y="3953208"/>
              <a:ext cx="457200" cy="457200"/>
            </a:xfrm>
            <a:prstGeom prst="rect">
              <a:avLst/>
            </a:prstGeom>
          </p:spPr>
        </p:pic>
        <p:sp>
          <p:nvSpPr>
            <p:cNvPr id="59" name="椭圆 58">
              <a:extLst>
                <a:ext uri="{FF2B5EF4-FFF2-40B4-BE49-F238E27FC236}">
                  <a16:creationId xmlns:a16="http://schemas.microsoft.com/office/drawing/2014/main" id="{49B5BB8A-7BC7-130D-72F3-F95701FDD856}"/>
                </a:ext>
              </a:extLst>
            </p:cNvPr>
            <p:cNvSpPr>
              <a:spLocks noChangeAspect="1"/>
            </p:cNvSpPr>
            <p:nvPr userDrawn="1"/>
          </p:nvSpPr>
          <p:spPr>
            <a:xfrm rot="5822244">
              <a:off x="1137555" y="4136089"/>
              <a:ext cx="91440" cy="91440"/>
            </a:xfrm>
            <a:prstGeom prst="ellipse">
              <a:avLst/>
            </a:prstGeom>
            <a:solidFill>
              <a:srgbClr val="151C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图片 2" descr="图标&#10;&#10;描述已自动生成">
            <a:extLst>
              <a:ext uri="{FF2B5EF4-FFF2-40B4-BE49-F238E27FC236}">
                <a16:creationId xmlns:a16="http://schemas.microsoft.com/office/drawing/2014/main" id="{924379DE-9989-147E-AE85-C541BEDE8E4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27902" y="2636030"/>
            <a:ext cx="432000" cy="432000"/>
          </a:xfrm>
          <a:prstGeom prst="roundRect">
            <a:avLst/>
          </a:prstGeom>
          <a:solidFill>
            <a:srgbClr val="F1F1FB"/>
          </a:solidFill>
        </p:spPr>
      </p:pic>
      <p:pic>
        <p:nvPicPr>
          <p:cNvPr id="5" name="图片 4" descr="图标&#10;&#10;描述已自动生成">
            <a:extLst>
              <a:ext uri="{FF2B5EF4-FFF2-40B4-BE49-F238E27FC236}">
                <a16:creationId xmlns:a16="http://schemas.microsoft.com/office/drawing/2014/main" id="{AAD88429-558D-3DA9-F880-3C290259832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27902" y="1423239"/>
            <a:ext cx="432000" cy="432000"/>
          </a:xfrm>
          <a:prstGeom prst="roundRect">
            <a:avLst/>
          </a:prstGeom>
          <a:solidFill>
            <a:srgbClr val="F1F1FB"/>
          </a:solidFill>
        </p:spPr>
      </p:pic>
      <p:pic>
        <p:nvPicPr>
          <p:cNvPr id="13" name="图片 12" descr="图标&#10;&#10;描述已自动生成">
            <a:extLst>
              <a:ext uri="{FF2B5EF4-FFF2-40B4-BE49-F238E27FC236}">
                <a16:creationId xmlns:a16="http://schemas.microsoft.com/office/drawing/2014/main" id="{6CDFABF0-9C6B-CA5C-D7B8-99CFF565F45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27902" y="3848821"/>
            <a:ext cx="432000" cy="432000"/>
          </a:xfrm>
          <a:prstGeom prst="roundRect">
            <a:avLst/>
          </a:prstGeom>
          <a:solidFill>
            <a:srgbClr val="F1F1FB"/>
          </a:solidFill>
        </p:spPr>
      </p:pic>
      <p:pic>
        <p:nvPicPr>
          <p:cNvPr id="16" name="图片 15" descr="图标&#10;&#10;描述已自动生成">
            <a:extLst>
              <a:ext uri="{FF2B5EF4-FFF2-40B4-BE49-F238E27FC236}">
                <a16:creationId xmlns:a16="http://schemas.microsoft.com/office/drawing/2014/main" id="{3DF73C9E-36A0-0383-53CA-65652B31D9D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27902" y="5061612"/>
            <a:ext cx="432000" cy="432000"/>
          </a:xfrm>
          <a:prstGeom prst="roundRect">
            <a:avLst/>
          </a:prstGeom>
          <a:solidFill>
            <a:srgbClr val="F1F1FB"/>
          </a:solidFill>
        </p:spPr>
      </p:pic>
    </p:spTree>
    <p:extLst>
      <p:ext uri="{BB962C8B-B14F-4D97-AF65-F5344CB8AC3E}">
        <p14:creationId xmlns:p14="http://schemas.microsoft.com/office/powerpoint/2010/main" val="1307623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图表修饰">
    <p:bg>
      <p:bgPr>
        <a:solidFill>
          <a:srgbClr val="151C48"/>
        </a:solidFill>
        <a:effectLst/>
      </p:bgPr>
    </p:bg>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55EA6463-8186-58B2-553C-5091A0AA4F25}"/>
              </a:ext>
            </a:extLst>
          </p:cNvPr>
          <p:cNvSpPr/>
          <p:nvPr userDrawn="1"/>
        </p:nvSpPr>
        <p:spPr>
          <a:xfrm>
            <a:off x="1371955" y="238836"/>
            <a:ext cx="10528893" cy="6380328"/>
          </a:xfrm>
          <a:prstGeom prst="roundRect">
            <a:avLst>
              <a:gd name="adj" fmla="val 2090"/>
            </a:avLst>
          </a:prstGeom>
          <a:solidFill>
            <a:srgbClr val="F1F1F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图片 11">
            <a:extLst>
              <a:ext uri="{FF2B5EF4-FFF2-40B4-BE49-F238E27FC236}">
                <a16:creationId xmlns:a16="http://schemas.microsoft.com/office/drawing/2014/main" id="{43DA9326-4D2F-9918-CB31-CA601E8008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2000" y="465160"/>
            <a:ext cx="381569" cy="292291"/>
          </a:xfrm>
          <a:prstGeom prst="rect">
            <a:avLst/>
          </a:prstGeom>
        </p:spPr>
      </p:pic>
      <p:sp>
        <p:nvSpPr>
          <p:cNvPr id="40" name="文本框 39">
            <a:extLst>
              <a:ext uri="{FF2B5EF4-FFF2-40B4-BE49-F238E27FC236}">
                <a16:creationId xmlns:a16="http://schemas.microsoft.com/office/drawing/2014/main" id="{D00823D8-3A14-E67B-FDE8-7FD1BB2E4C50}"/>
              </a:ext>
            </a:extLst>
          </p:cNvPr>
          <p:cNvSpPr txBox="1"/>
          <p:nvPr userDrawn="1"/>
        </p:nvSpPr>
        <p:spPr>
          <a:xfrm>
            <a:off x="214804" y="4369694"/>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图表修饰</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6" name="文本占位符 57">
            <a:extLst>
              <a:ext uri="{FF2B5EF4-FFF2-40B4-BE49-F238E27FC236}">
                <a16:creationId xmlns:a16="http://schemas.microsoft.com/office/drawing/2014/main" id="{327DCEE5-7F76-8195-64C8-D027EBEBBD71}"/>
              </a:ext>
            </a:extLst>
          </p:cNvPr>
          <p:cNvSpPr>
            <a:spLocks noGrp="1"/>
          </p:cNvSpPr>
          <p:nvPr>
            <p:ph type="body" sz="quarter" idx="12"/>
          </p:nvPr>
        </p:nvSpPr>
        <p:spPr>
          <a:xfrm>
            <a:off x="1893569" y="352247"/>
            <a:ext cx="8802687" cy="439715"/>
          </a:xfrm>
          <a:prstGeom prst="rect">
            <a:avLst/>
          </a:prstGeom>
        </p:spPr>
        <p:txBody>
          <a:bodyPr anchor="ctr"/>
          <a:lstStyle>
            <a:lvl1pPr marL="0" indent="0">
              <a:lnSpc>
                <a:spcPct val="150000"/>
              </a:lnSpc>
              <a:spcBef>
                <a:spcPts val="600"/>
              </a:spcBef>
              <a:buNone/>
              <a:defRPr sz="1600" b="1">
                <a:solidFill>
                  <a:srgbClr val="3283FF"/>
                </a:solidFill>
                <a:latin typeface="微软雅黑" panose="020B0503020204020204" pitchFamily="34" charset="-122"/>
                <a:ea typeface="微软雅黑" panose="020B0503020204020204" pitchFamily="34" charset="-122"/>
              </a:defRPr>
            </a:lvl1pPr>
          </a:lstStyle>
          <a:p>
            <a:pPr lvl="0"/>
            <a:endParaRPr lang="en-US" dirty="0"/>
          </a:p>
        </p:txBody>
      </p:sp>
      <p:pic>
        <p:nvPicPr>
          <p:cNvPr id="8" name="图片 7" descr="图表, 条形图&#10;&#10;描述已自动生成">
            <a:extLst>
              <a:ext uri="{FF2B5EF4-FFF2-40B4-BE49-F238E27FC236}">
                <a16:creationId xmlns:a16="http://schemas.microsoft.com/office/drawing/2014/main" id="{00E6A615-ECFC-0EDE-5B18-EE00537EA3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7770" y="304893"/>
            <a:ext cx="614846" cy="612823"/>
          </a:xfrm>
          <a:prstGeom prst="roundRect">
            <a:avLst>
              <a:gd name="adj" fmla="val 4172"/>
            </a:avLst>
          </a:prstGeom>
        </p:spPr>
      </p:pic>
      <p:sp>
        <p:nvSpPr>
          <p:cNvPr id="53" name="文本框 52">
            <a:extLst>
              <a:ext uri="{FF2B5EF4-FFF2-40B4-BE49-F238E27FC236}">
                <a16:creationId xmlns:a16="http://schemas.microsoft.com/office/drawing/2014/main" id="{EAD1A695-2D33-40EA-768C-B01B51266AF6}"/>
              </a:ext>
            </a:extLst>
          </p:cNvPr>
          <p:cNvSpPr txBox="1"/>
          <p:nvPr userDrawn="1"/>
        </p:nvSpPr>
        <p:spPr>
          <a:xfrm>
            <a:off x="214804" y="1979670"/>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认识图表</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BC334811-BEC7-6D71-8542-CD69495345C1}"/>
              </a:ext>
            </a:extLst>
          </p:cNvPr>
          <p:cNvSpPr txBox="1"/>
          <p:nvPr userDrawn="1"/>
        </p:nvSpPr>
        <p:spPr>
          <a:xfrm>
            <a:off x="221430" y="3165138"/>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图表分类</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95888ECD-070D-5FFD-D476-7FEE4FC1C3AC}"/>
              </a:ext>
            </a:extLst>
          </p:cNvPr>
          <p:cNvSpPr txBox="1"/>
          <p:nvPr userDrawn="1"/>
        </p:nvSpPr>
        <p:spPr>
          <a:xfrm>
            <a:off x="187159" y="5635805"/>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设计原则</a:t>
            </a:r>
            <a:endParaRPr lang="en-US" sz="1000" b="1" dirty="0">
              <a:solidFill>
                <a:schemeClr val="bg1"/>
              </a:solidFill>
              <a:latin typeface="微软雅黑" panose="020B0503020204020204" pitchFamily="34" charset="-122"/>
              <a:ea typeface="微软雅黑" panose="020B0503020204020204" pitchFamily="34" charset="-122"/>
            </a:endParaRPr>
          </a:p>
        </p:txBody>
      </p:sp>
      <p:grpSp>
        <p:nvGrpSpPr>
          <p:cNvPr id="57" name="组合 56">
            <a:extLst>
              <a:ext uri="{FF2B5EF4-FFF2-40B4-BE49-F238E27FC236}">
                <a16:creationId xmlns:a16="http://schemas.microsoft.com/office/drawing/2014/main" id="{AA48E6A0-CC9F-62B6-DE73-EA31A67B4E40}"/>
              </a:ext>
            </a:extLst>
          </p:cNvPr>
          <p:cNvGrpSpPr/>
          <p:nvPr userDrawn="1"/>
        </p:nvGrpSpPr>
        <p:grpSpPr>
          <a:xfrm>
            <a:off x="837328" y="3823621"/>
            <a:ext cx="457200" cy="457200"/>
            <a:chOff x="914755" y="3953208"/>
            <a:chExt cx="457200" cy="457200"/>
          </a:xfrm>
        </p:grpSpPr>
        <p:pic>
          <p:nvPicPr>
            <p:cNvPr id="58" name="图片 57" descr="图标&#10;&#10;描述已自动生成">
              <a:extLst>
                <a:ext uri="{FF2B5EF4-FFF2-40B4-BE49-F238E27FC236}">
                  <a16:creationId xmlns:a16="http://schemas.microsoft.com/office/drawing/2014/main" id="{E8623D58-8579-F149-900F-61FF17FC149E}"/>
                </a:ext>
              </a:extLst>
            </p:cNvPr>
            <p:cNvPicPr>
              <a:picLocks noChangeAspect="1"/>
            </p:cNvPicPr>
            <p:nvPr userDrawn="1"/>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914755" y="3953208"/>
              <a:ext cx="457200" cy="457200"/>
            </a:xfrm>
            <a:prstGeom prst="rect">
              <a:avLst/>
            </a:prstGeom>
          </p:spPr>
        </p:pic>
        <p:sp>
          <p:nvSpPr>
            <p:cNvPr id="59" name="椭圆 58">
              <a:extLst>
                <a:ext uri="{FF2B5EF4-FFF2-40B4-BE49-F238E27FC236}">
                  <a16:creationId xmlns:a16="http://schemas.microsoft.com/office/drawing/2014/main" id="{49B5BB8A-7BC7-130D-72F3-F95701FDD856}"/>
                </a:ext>
              </a:extLst>
            </p:cNvPr>
            <p:cNvSpPr>
              <a:spLocks noChangeAspect="1"/>
            </p:cNvSpPr>
            <p:nvPr userDrawn="1"/>
          </p:nvSpPr>
          <p:spPr>
            <a:xfrm rot="5822244">
              <a:off x="1137555" y="4136089"/>
              <a:ext cx="91440" cy="91440"/>
            </a:xfrm>
            <a:prstGeom prst="ellipse">
              <a:avLst/>
            </a:prstGeom>
            <a:solidFill>
              <a:srgbClr val="151C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图片 2" descr="图标&#10;&#10;描述已自动生成">
            <a:extLst>
              <a:ext uri="{FF2B5EF4-FFF2-40B4-BE49-F238E27FC236}">
                <a16:creationId xmlns:a16="http://schemas.microsoft.com/office/drawing/2014/main" id="{924379DE-9989-147E-AE85-C541BEDE8E4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27902" y="2636030"/>
            <a:ext cx="432000" cy="432000"/>
          </a:xfrm>
          <a:prstGeom prst="roundRect">
            <a:avLst/>
          </a:prstGeom>
          <a:solidFill>
            <a:srgbClr val="F1F1FB"/>
          </a:solidFill>
        </p:spPr>
      </p:pic>
      <p:pic>
        <p:nvPicPr>
          <p:cNvPr id="5" name="图片 4" descr="图标&#10;&#10;描述已自动生成">
            <a:extLst>
              <a:ext uri="{FF2B5EF4-FFF2-40B4-BE49-F238E27FC236}">
                <a16:creationId xmlns:a16="http://schemas.microsoft.com/office/drawing/2014/main" id="{AAD88429-558D-3DA9-F880-3C290259832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27902" y="1423239"/>
            <a:ext cx="432000" cy="432000"/>
          </a:xfrm>
          <a:prstGeom prst="roundRect">
            <a:avLst/>
          </a:prstGeom>
          <a:solidFill>
            <a:srgbClr val="F1F1FB"/>
          </a:solidFill>
        </p:spPr>
      </p:pic>
      <p:pic>
        <p:nvPicPr>
          <p:cNvPr id="13" name="图片 12" descr="图标&#10;&#10;描述已自动生成">
            <a:extLst>
              <a:ext uri="{FF2B5EF4-FFF2-40B4-BE49-F238E27FC236}">
                <a16:creationId xmlns:a16="http://schemas.microsoft.com/office/drawing/2014/main" id="{6CDFABF0-9C6B-CA5C-D7B8-99CFF565F45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27902" y="3848821"/>
            <a:ext cx="432000" cy="432000"/>
          </a:xfrm>
          <a:prstGeom prst="roundRect">
            <a:avLst/>
          </a:prstGeom>
          <a:solidFill>
            <a:srgbClr val="F1F1FB"/>
          </a:solidFill>
        </p:spPr>
      </p:pic>
      <p:pic>
        <p:nvPicPr>
          <p:cNvPr id="16" name="图片 15" descr="图标&#10;&#10;描述已自动生成">
            <a:extLst>
              <a:ext uri="{FF2B5EF4-FFF2-40B4-BE49-F238E27FC236}">
                <a16:creationId xmlns:a16="http://schemas.microsoft.com/office/drawing/2014/main" id="{3DF73C9E-36A0-0383-53CA-65652B31D9D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27902" y="5061612"/>
            <a:ext cx="432000" cy="432000"/>
          </a:xfrm>
          <a:prstGeom prst="roundRect">
            <a:avLst/>
          </a:prstGeom>
          <a:solidFill>
            <a:srgbClr val="F1F1FB"/>
          </a:solidFill>
        </p:spPr>
      </p:pic>
    </p:spTree>
    <p:extLst>
      <p:ext uri="{BB962C8B-B14F-4D97-AF65-F5344CB8AC3E}">
        <p14:creationId xmlns:p14="http://schemas.microsoft.com/office/powerpoint/2010/main" val="4168829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 设计原则">
    <p:bg>
      <p:bgPr>
        <a:solidFill>
          <a:srgbClr val="151C48"/>
        </a:solidFill>
        <a:effectLst/>
      </p:bgPr>
    </p:bg>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55EA6463-8186-58B2-553C-5091A0AA4F25}"/>
              </a:ext>
            </a:extLst>
          </p:cNvPr>
          <p:cNvSpPr/>
          <p:nvPr userDrawn="1"/>
        </p:nvSpPr>
        <p:spPr>
          <a:xfrm>
            <a:off x="1371955" y="238836"/>
            <a:ext cx="10528893" cy="6380328"/>
          </a:xfrm>
          <a:prstGeom prst="roundRect">
            <a:avLst>
              <a:gd name="adj" fmla="val 2090"/>
            </a:avLst>
          </a:prstGeom>
          <a:solidFill>
            <a:srgbClr val="F1F1F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图片 11">
            <a:extLst>
              <a:ext uri="{FF2B5EF4-FFF2-40B4-BE49-F238E27FC236}">
                <a16:creationId xmlns:a16="http://schemas.microsoft.com/office/drawing/2014/main" id="{43DA9326-4D2F-9918-CB31-CA601E8008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2000" y="465160"/>
            <a:ext cx="381569" cy="292291"/>
          </a:xfrm>
          <a:prstGeom prst="rect">
            <a:avLst/>
          </a:prstGeom>
        </p:spPr>
      </p:pic>
      <p:sp>
        <p:nvSpPr>
          <p:cNvPr id="40" name="文本框 39">
            <a:extLst>
              <a:ext uri="{FF2B5EF4-FFF2-40B4-BE49-F238E27FC236}">
                <a16:creationId xmlns:a16="http://schemas.microsoft.com/office/drawing/2014/main" id="{D00823D8-3A14-E67B-FDE8-7FD1BB2E4C50}"/>
              </a:ext>
            </a:extLst>
          </p:cNvPr>
          <p:cNvSpPr txBox="1"/>
          <p:nvPr userDrawn="1"/>
        </p:nvSpPr>
        <p:spPr>
          <a:xfrm>
            <a:off x="214804" y="4369694"/>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图表修饰</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6" name="文本占位符 57">
            <a:extLst>
              <a:ext uri="{FF2B5EF4-FFF2-40B4-BE49-F238E27FC236}">
                <a16:creationId xmlns:a16="http://schemas.microsoft.com/office/drawing/2014/main" id="{327DCEE5-7F76-8195-64C8-D027EBEBBD71}"/>
              </a:ext>
            </a:extLst>
          </p:cNvPr>
          <p:cNvSpPr>
            <a:spLocks noGrp="1"/>
          </p:cNvSpPr>
          <p:nvPr>
            <p:ph type="body" sz="quarter" idx="12"/>
          </p:nvPr>
        </p:nvSpPr>
        <p:spPr>
          <a:xfrm>
            <a:off x="1893569" y="352247"/>
            <a:ext cx="8802687" cy="439715"/>
          </a:xfrm>
          <a:prstGeom prst="rect">
            <a:avLst/>
          </a:prstGeom>
        </p:spPr>
        <p:txBody>
          <a:bodyPr anchor="ctr"/>
          <a:lstStyle>
            <a:lvl1pPr marL="0" indent="0">
              <a:lnSpc>
                <a:spcPct val="150000"/>
              </a:lnSpc>
              <a:spcBef>
                <a:spcPts val="600"/>
              </a:spcBef>
              <a:buNone/>
              <a:defRPr sz="1600" b="1">
                <a:solidFill>
                  <a:srgbClr val="3283FF"/>
                </a:solidFill>
                <a:latin typeface="微软雅黑" panose="020B0503020204020204" pitchFamily="34" charset="-122"/>
                <a:ea typeface="微软雅黑" panose="020B0503020204020204" pitchFamily="34" charset="-122"/>
              </a:defRPr>
            </a:lvl1pPr>
          </a:lstStyle>
          <a:p>
            <a:pPr lvl="0"/>
            <a:endParaRPr lang="en-US" dirty="0"/>
          </a:p>
        </p:txBody>
      </p:sp>
      <p:pic>
        <p:nvPicPr>
          <p:cNvPr id="8" name="图片 7" descr="图表, 条形图&#10;&#10;描述已自动生成">
            <a:extLst>
              <a:ext uri="{FF2B5EF4-FFF2-40B4-BE49-F238E27FC236}">
                <a16:creationId xmlns:a16="http://schemas.microsoft.com/office/drawing/2014/main" id="{00E6A615-ECFC-0EDE-5B18-EE00537EA3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7770" y="304893"/>
            <a:ext cx="614846" cy="612823"/>
          </a:xfrm>
          <a:prstGeom prst="roundRect">
            <a:avLst>
              <a:gd name="adj" fmla="val 4172"/>
            </a:avLst>
          </a:prstGeom>
        </p:spPr>
      </p:pic>
      <p:sp>
        <p:nvSpPr>
          <p:cNvPr id="53" name="文本框 52">
            <a:extLst>
              <a:ext uri="{FF2B5EF4-FFF2-40B4-BE49-F238E27FC236}">
                <a16:creationId xmlns:a16="http://schemas.microsoft.com/office/drawing/2014/main" id="{EAD1A695-2D33-40EA-768C-B01B51266AF6}"/>
              </a:ext>
            </a:extLst>
          </p:cNvPr>
          <p:cNvSpPr txBox="1"/>
          <p:nvPr userDrawn="1"/>
        </p:nvSpPr>
        <p:spPr>
          <a:xfrm>
            <a:off x="214804" y="1979670"/>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认识图表</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54" name="文本框 53">
            <a:extLst>
              <a:ext uri="{FF2B5EF4-FFF2-40B4-BE49-F238E27FC236}">
                <a16:creationId xmlns:a16="http://schemas.microsoft.com/office/drawing/2014/main" id="{BC334811-BEC7-6D71-8542-CD69495345C1}"/>
              </a:ext>
            </a:extLst>
          </p:cNvPr>
          <p:cNvSpPr txBox="1"/>
          <p:nvPr userDrawn="1"/>
        </p:nvSpPr>
        <p:spPr>
          <a:xfrm>
            <a:off x="221430" y="3165138"/>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图表分类</a:t>
            </a:r>
            <a:endParaRPr lang="en-US" sz="1000" b="1" dirty="0">
              <a:solidFill>
                <a:schemeClr val="bg1"/>
              </a:solidFill>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95888ECD-070D-5FFD-D476-7FEE4FC1C3AC}"/>
              </a:ext>
            </a:extLst>
          </p:cNvPr>
          <p:cNvSpPr txBox="1"/>
          <p:nvPr userDrawn="1"/>
        </p:nvSpPr>
        <p:spPr>
          <a:xfrm>
            <a:off x="187159" y="5635805"/>
            <a:ext cx="713486" cy="246221"/>
          </a:xfrm>
          <a:prstGeom prst="rect">
            <a:avLst/>
          </a:prstGeom>
          <a:noFill/>
        </p:spPr>
        <p:txBody>
          <a:bodyPr wrap="square"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设计原则</a:t>
            </a:r>
            <a:endParaRPr lang="en-US" sz="1000" b="1" dirty="0">
              <a:solidFill>
                <a:schemeClr val="bg1"/>
              </a:solidFill>
              <a:latin typeface="微软雅黑" panose="020B0503020204020204" pitchFamily="34" charset="-122"/>
              <a:ea typeface="微软雅黑" panose="020B0503020204020204" pitchFamily="34" charset="-122"/>
            </a:endParaRPr>
          </a:p>
        </p:txBody>
      </p:sp>
      <p:grpSp>
        <p:nvGrpSpPr>
          <p:cNvPr id="57" name="组合 56">
            <a:extLst>
              <a:ext uri="{FF2B5EF4-FFF2-40B4-BE49-F238E27FC236}">
                <a16:creationId xmlns:a16="http://schemas.microsoft.com/office/drawing/2014/main" id="{AA48E6A0-CC9F-62B6-DE73-EA31A67B4E40}"/>
              </a:ext>
            </a:extLst>
          </p:cNvPr>
          <p:cNvGrpSpPr/>
          <p:nvPr userDrawn="1"/>
        </p:nvGrpSpPr>
        <p:grpSpPr>
          <a:xfrm>
            <a:off x="814513" y="5097962"/>
            <a:ext cx="457200" cy="457200"/>
            <a:chOff x="914755" y="3953208"/>
            <a:chExt cx="457200" cy="457200"/>
          </a:xfrm>
        </p:grpSpPr>
        <p:pic>
          <p:nvPicPr>
            <p:cNvPr id="58" name="图片 57" descr="图标&#10;&#10;描述已自动生成">
              <a:extLst>
                <a:ext uri="{FF2B5EF4-FFF2-40B4-BE49-F238E27FC236}">
                  <a16:creationId xmlns:a16="http://schemas.microsoft.com/office/drawing/2014/main" id="{E8623D58-8579-F149-900F-61FF17FC149E}"/>
                </a:ext>
              </a:extLst>
            </p:cNvPr>
            <p:cNvPicPr>
              <a:picLocks noChangeAspect="1"/>
            </p:cNvPicPr>
            <p:nvPr userDrawn="1"/>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914755" y="3953208"/>
              <a:ext cx="457200" cy="457200"/>
            </a:xfrm>
            <a:prstGeom prst="rect">
              <a:avLst/>
            </a:prstGeom>
          </p:spPr>
        </p:pic>
        <p:sp>
          <p:nvSpPr>
            <p:cNvPr id="59" name="椭圆 58">
              <a:extLst>
                <a:ext uri="{FF2B5EF4-FFF2-40B4-BE49-F238E27FC236}">
                  <a16:creationId xmlns:a16="http://schemas.microsoft.com/office/drawing/2014/main" id="{49B5BB8A-7BC7-130D-72F3-F95701FDD856}"/>
                </a:ext>
              </a:extLst>
            </p:cNvPr>
            <p:cNvSpPr>
              <a:spLocks noChangeAspect="1"/>
            </p:cNvSpPr>
            <p:nvPr userDrawn="1"/>
          </p:nvSpPr>
          <p:spPr>
            <a:xfrm rot="5822244">
              <a:off x="1137555" y="4136089"/>
              <a:ext cx="91440" cy="91440"/>
            </a:xfrm>
            <a:prstGeom prst="ellipse">
              <a:avLst/>
            </a:prstGeom>
            <a:solidFill>
              <a:srgbClr val="151C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图片 2" descr="图标&#10;&#10;描述已自动生成">
            <a:extLst>
              <a:ext uri="{FF2B5EF4-FFF2-40B4-BE49-F238E27FC236}">
                <a16:creationId xmlns:a16="http://schemas.microsoft.com/office/drawing/2014/main" id="{924379DE-9989-147E-AE85-C541BEDE8E4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27902" y="2636030"/>
            <a:ext cx="432000" cy="432000"/>
          </a:xfrm>
          <a:prstGeom prst="roundRect">
            <a:avLst/>
          </a:prstGeom>
          <a:solidFill>
            <a:srgbClr val="F1F1FB"/>
          </a:solidFill>
        </p:spPr>
      </p:pic>
      <p:pic>
        <p:nvPicPr>
          <p:cNvPr id="5" name="图片 4" descr="图标&#10;&#10;描述已自动生成">
            <a:extLst>
              <a:ext uri="{FF2B5EF4-FFF2-40B4-BE49-F238E27FC236}">
                <a16:creationId xmlns:a16="http://schemas.microsoft.com/office/drawing/2014/main" id="{AAD88429-558D-3DA9-F880-3C290259832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27902" y="1423239"/>
            <a:ext cx="432000" cy="432000"/>
          </a:xfrm>
          <a:prstGeom prst="roundRect">
            <a:avLst/>
          </a:prstGeom>
          <a:solidFill>
            <a:srgbClr val="F1F1FB"/>
          </a:solidFill>
        </p:spPr>
      </p:pic>
      <p:pic>
        <p:nvPicPr>
          <p:cNvPr id="13" name="图片 12" descr="图标&#10;&#10;描述已自动生成">
            <a:extLst>
              <a:ext uri="{FF2B5EF4-FFF2-40B4-BE49-F238E27FC236}">
                <a16:creationId xmlns:a16="http://schemas.microsoft.com/office/drawing/2014/main" id="{6CDFABF0-9C6B-CA5C-D7B8-99CFF565F45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27902" y="3848821"/>
            <a:ext cx="432000" cy="432000"/>
          </a:xfrm>
          <a:prstGeom prst="roundRect">
            <a:avLst/>
          </a:prstGeom>
          <a:solidFill>
            <a:srgbClr val="F1F1FB"/>
          </a:solidFill>
        </p:spPr>
      </p:pic>
      <p:pic>
        <p:nvPicPr>
          <p:cNvPr id="16" name="图片 15" descr="图标&#10;&#10;描述已自动生成">
            <a:extLst>
              <a:ext uri="{FF2B5EF4-FFF2-40B4-BE49-F238E27FC236}">
                <a16:creationId xmlns:a16="http://schemas.microsoft.com/office/drawing/2014/main" id="{3DF73C9E-36A0-0383-53CA-65652B31D9D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27902" y="5061612"/>
            <a:ext cx="432000" cy="432000"/>
          </a:xfrm>
          <a:prstGeom prst="roundRect">
            <a:avLst/>
          </a:prstGeom>
          <a:solidFill>
            <a:srgbClr val="F1F1FB"/>
          </a:solidFill>
        </p:spPr>
      </p:pic>
    </p:spTree>
    <p:extLst>
      <p:ext uri="{BB962C8B-B14F-4D97-AF65-F5344CB8AC3E}">
        <p14:creationId xmlns:p14="http://schemas.microsoft.com/office/powerpoint/2010/main" val="69366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9AD214E-DF56-6042-5C6E-434D73BD0DBA}"/>
              </a:ext>
            </a:extLst>
          </p:cNvPr>
          <p:cNvSpPr>
            <a:spLocks noGrp="1" noChangeArrowheads="1"/>
          </p:cNvSpPr>
          <p:nvPr>
            <p:ph type="dt" sz="half" idx="10"/>
          </p:nvPr>
        </p:nvSpPr>
        <p:spPr>
          <a:ln/>
        </p:spPr>
        <p:txBody>
          <a:bodyPr/>
          <a:lstStyle>
            <a:lvl1pPr>
              <a:defRPr/>
            </a:lvl1pPr>
          </a:lstStyle>
          <a:p>
            <a:pPr>
              <a:defRPr/>
            </a:pPr>
            <a:fld id="{FA0B4107-275E-44E3-A671-41CCF801EE27}" type="datetimeFigureOut">
              <a:rPr lang="zh-CN" altLang="en-US"/>
              <a:pPr>
                <a:defRPr/>
              </a:pPr>
              <a:t>2024/4/25</a:t>
            </a:fld>
            <a:endParaRPr lang="zh-CN" altLang="en-US"/>
          </a:p>
        </p:txBody>
      </p:sp>
      <p:sp>
        <p:nvSpPr>
          <p:cNvPr id="3" name="页脚占位符 4">
            <a:extLst>
              <a:ext uri="{FF2B5EF4-FFF2-40B4-BE49-F238E27FC236}">
                <a16:creationId xmlns:a16="http://schemas.microsoft.com/office/drawing/2014/main" id="{C8F74F28-E7DA-80F6-BFBD-1E0E91CC18DF}"/>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80823C1D-A57B-DF95-D1B8-92B693DC3AA6}"/>
              </a:ext>
            </a:extLst>
          </p:cNvPr>
          <p:cNvSpPr>
            <a:spLocks noGrp="1" noChangeArrowheads="1"/>
          </p:cNvSpPr>
          <p:nvPr>
            <p:ph type="sldNum" sz="quarter" idx="12"/>
          </p:nvPr>
        </p:nvSpPr>
        <p:spPr>
          <a:ln/>
        </p:spPr>
        <p:txBody>
          <a:bodyPr/>
          <a:lstStyle>
            <a:lvl1pPr>
              <a:defRPr/>
            </a:lvl1pPr>
          </a:lstStyle>
          <a:p>
            <a:pPr>
              <a:defRPr/>
            </a:pPr>
            <a:fld id="{00B52C02-1CB7-46A0-A155-0AC79413B431}" type="slidenum">
              <a:rPr lang="zh-CN" altLang="en-US"/>
              <a:pPr>
                <a:defRPr/>
              </a:pPr>
              <a:t>‹#›</a:t>
            </a:fld>
            <a:endParaRPr lang="zh-CN" altLang="en-US"/>
          </a:p>
        </p:txBody>
      </p:sp>
    </p:spTree>
    <p:extLst>
      <p:ext uri="{BB962C8B-B14F-4D97-AF65-F5344CB8AC3E}">
        <p14:creationId xmlns:p14="http://schemas.microsoft.com/office/powerpoint/2010/main" val="23138260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4A7107B-DC6E-CB21-A499-50F0BEBF5D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96087D6-C9A1-99E1-2204-62DD504722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0AC1752-5033-9F40-B671-0C6BB3231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255936-0D4C-4BA7-9A2A-163087D46752}" type="datetimeFigureOut">
              <a:rPr lang="zh-CN" altLang="en-US" smtClean="0"/>
              <a:t>2024/4/25</a:t>
            </a:fld>
            <a:endParaRPr lang="zh-CN" altLang="en-US"/>
          </a:p>
        </p:txBody>
      </p:sp>
      <p:sp>
        <p:nvSpPr>
          <p:cNvPr id="5" name="页脚占位符 4">
            <a:extLst>
              <a:ext uri="{FF2B5EF4-FFF2-40B4-BE49-F238E27FC236}">
                <a16:creationId xmlns:a16="http://schemas.microsoft.com/office/drawing/2014/main" id="{2EA4BB2A-2CA8-6EB0-8CA6-8BA90D057F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D731A45-3DA6-9486-24CE-358A873FF8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5A8731-189A-4485-B7E5-8EC32F6375FA}" type="slidenum">
              <a:rPr lang="zh-CN" altLang="en-US" smtClean="0"/>
              <a:t>‹#›</a:t>
            </a:fld>
            <a:endParaRPr lang="zh-CN" altLang="en-US"/>
          </a:p>
        </p:txBody>
      </p:sp>
    </p:spTree>
    <p:extLst>
      <p:ext uri="{BB962C8B-B14F-4D97-AF65-F5344CB8AC3E}">
        <p14:creationId xmlns:p14="http://schemas.microsoft.com/office/powerpoint/2010/main" val="1144478350"/>
      </p:ext>
    </p:extLst>
  </p:cSld>
  <p:clrMap bg1="lt1" tx1="dk1" bg2="lt2" tx2="dk2" accent1="accent1" accent2="accent2" accent3="accent3" accent4="accent4" accent5="accent5" accent6="accent6" hlink="hlink" folHlink="folHlink"/>
  <p:sldLayoutIdLst>
    <p:sldLayoutId id="2147483660" r:id="rId1"/>
    <p:sldLayoutId id="2147483675" r:id="rId2"/>
    <p:sldLayoutId id="2147483680" r:id="rId3"/>
    <p:sldLayoutId id="2147483681" r:id="rId4"/>
    <p:sldLayoutId id="2147483682" r:id="rId5"/>
    <p:sldLayoutId id="2147483679"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microsoft.com/office/2014/relationships/chartEx" Target="../charts/chartEx1.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40.png"/><Relationship Id="rId21" Type="http://schemas.openxmlformats.org/officeDocument/2006/relationships/image" Target="../media/image57.png"/><Relationship Id="rId7" Type="http://schemas.openxmlformats.org/officeDocument/2006/relationships/image" Target="../media/image44.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image" Target="../media/image39.png"/><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4.xml"/><Relationship Id="rId6" Type="http://schemas.openxmlformats.org/officeDocument/2006/relationships/image" Target="../media/image43.png"/><Relationship Id="rId11" Type="http://schemas.openxmlformats.org/officeDocument/2006/relationships/image" Target="../media/image47.png"/><Relationship Id="rId5" Type="http://schemas.openxmlformats.org/officeDocument/2006/relationships/image" Target="../media/image42.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1.png"/><Relationship Id="rId9" Type="http://schemas.openxmlformats.org/officeDocument/2006/relationships/image" Target="../media/image45.png"/><Relationship Id="rId14"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4.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22.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s>
</file>

<file path=ppt/slides/_rels/slide2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3" Type="http://schemas.openxmlformats.org/officeDocument/2006/relationships/image" Target="../media/image86.png"/><Relationship Id="rId7" Type="http://schemas.openxmlformats.org/officeDocument/2006/relationships/image" Target="../media/image90.png"/><Relationship Id="rId12" Type="http://schemas.openxmlformats.org/officeDocument/2006/relationships/image" Target="../media/image95.png"/><Relationship Id="rId2" Type="http://schemas.openxmlformats.org/officeDocument/2006/relationships/image" Target="../media/image85.png"/><Relationship Id="rId1" Type="http://schemas.openxmlformats.org/officeDocument/2006/relationships/slideLayout" Target="../slideLayouts/slideLayout4.xml"/><Relationship Id="rId6" Type="http://schemas.openxmlformats.org/officeDocument/2006/relationships/image" Target="../media/image89.png"/><Relationship Id="rId11" Type="http://schemas.openxmlformats.org/officeDocument/2006/relationships/image" Target="../media/image94.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s>
</file>

<file path=ppt/slides/_rels/slide25.xml.rels><?xml version="1.0" encoding="UTF-8" standalone="yes"?>
<Relationships xmlns="http://schemas.openxmlformats.org/package/2006/relationships"><Relationship Id="rId2" Type="http://schemas.openxmlformats.org/officeDocument/2006/relationships/image" Target="../media/image97.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图片 5">
            <a:extLst>
              <a:ext uri="{FF2B5EF4-FFF2-40B4-BE49-F238E27FC236}">
                <a16:creationId xmlns:a16="http://schemas.microsoft.com/office/drawing/2014/main" id="{FDF54EF9-42BF-9459-068D-EE792F6510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9163" y="508000"/>
            <a:ext cx="74803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矩形 6">
            <a:extLst>
              <a:ext uri="{FF2B5EF4-FFF2-40B4-BE49-F238E27FC236}">
                <a16:creationId xmlns:a16="http://schemas.microsoft.com/office/drawing/2014/main" id="{7AC0558C-574F-09AF-2937-6C7A82198111}"/>
              </a:ext>
            </a:extLst>
          </p:cNvPr>
          <p:cNvSpPr>
            <a:spLocks noChangeArrowheads="1"/>
          </p:cNvSpPr>
          <p:nvPr/>
        </p:nvSpPr>
        <p:spPr bwMode="auto">
          <a:xfrm>
            <a:off x="15875" y="4886325"/>
            <a:ext cx="12192000" cy="1955800"/>
          </a:xfrm>
          <a:prstGeom prst="rect">
            <a:avLst/>
          </a:prstGeom>
          <a:solidFill>
            <a:schemeClr val="accent1">
              <a:lumMod val="75000"/>
            </a:schemeClr>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endParaRPr lang="zh-CN" altLang="en-US" sz="1800">
              <a:solidFill>
                <a:srgbClr val="FFFFFF"/>
              </a:solidFill>
            </a:endParaRPr>
          </a:p>
        </p:txBody>
      </p:sp>
      <p:grpSp>
        <p:nvGrpSpPr>
          <p:cNvPr id="32772" name="组合 13">
            <a:extLst>
              <a:ext uri="{FF2B5EF4-FFF2-40B4-BE49-F238E27FC236}">
                <a16:creationId xmlns:a16="http://schemas.microsoft.com/office/drawing/2014/main" id="{AA5B98AB-7EBE-7BAD-0D02-698774299F22}"/>
              </a:ext>
            </a:extLst>
          </p:cNvPr>
          <p:cNvGrpSpPr>
            <a:grpSpLocks noChangeAspect="1"/>
          </p:cNvGrpSpPr>
          <p:nvPr/>
        </p:nvGrpSpPr>
        <p:grpSpPr bwMode="auto">
          <a:xfrm>
            <a:off x="5605463" y="2808288"/>
            <a:ext cx="6777037" cy="4229100"/>
            <a:chOff x="0" y="0"/>
            <a:chExt cx="5324473" cy="3322983"/>
          </a:xfrm>
        </p:grpSpPr>
        <p:pic>
          <p:nvPicPr>
            <p:cNvPr id="32783" name="图片 11">
              <a:extLst>
                <a:ext uri="{FF2B5EF4-FFF2-40B4-BE49-F238E27FC236}">
                  <a16:creationId xmlns:a16="http://schemas.microsoft.com/office/drawing/2014/main" id="{C0E71B12-8C9F-AA94-1A76-62010FB5E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040"/>
            <a:stretch>
              <a:fillRect/>
            </a:stretch>
          </p:blipFill>
          <p:spPr bwMode="auto">
            <a:xfrm>
              <a:off x="6344" y="0"/>
              <a:ext cx="5318129" cy="1642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4" name="图片 12">
              <a:extLst>
                <a:ext uri="{FF2B5EF4-FFF2-40B4-BE49-F238E27FC236}">
                  <a16:creationId xmlns:a16="http://schemas.microsoft.com/office/drawing/2014/main" id="{2CB029A4-0459-0CC5-B3E0-91C791A15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33" r="2628"/>
            <a:stretch>
              <a:fillRect/>
            </a:stretch>
          </p:blipFill>
          <p:spPr bwMode="auto">
            <a:xfrm>
              <a:off x="0" y="1632435"/>
              <a:ext cx="5178427" cy="169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776" name="文本框 58">
            <a:extLst>
              <a:ext uri="{FF2B5EF4-FFF2-40B4-BE49-F238E27FC236}">
                <a16:creationId xmlns:a16="http://schemas.microsoft.com/office/drawing/2014/main" id="{F9F1A603-9B47-7717-3DA2-3C353FA79A54}"/>
              </a:ext>
            </a:extLst>
          </p:cNvPr>
          <p:cNvSpPr txBox="1">
            <a:spLocks noChangeArrowheads="1"/>
          </p:cNvSpPr>
          <p:nvPr/>
        </p:nvSpPr>
        <p:spPr bwMode="auto">
          <a:xfrm>
            <a:off x="268287" y="4072823"/>
            <a:ext cx="9734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 typeface="Arial" panose="020B0604020202020204" pitchFamily="34" charset="0"/>
              <a:buNone/>
            </a:pPr>
            <a:r>
              <a:rPr lang="en-US" altLang="zh-CN" sz="3600" b="1" dirty="0">
                <a:solidFill>
                  <a:schemeClr val="accent1"/>
                </a:solidFill>
                <a:latin typeface="微软雅黑" panose="020B0503020204020204" pitchFamily="34" charset="-122"/>
                <a:ea typeface="微软雅黑" panose="020B0503020204020204" pitchFamily="34" charset="-122"/>
                <a:sym typeface="宋体" panose="02010600030101010101" pitchFamily="2" charset="-122"/>
              </a:rPr>
              <a:t>Excel</a:t>
            </a:r>
            <a:r>
              <a:rPr lang="zh-CN" altLang="en-US" sz="3600" b="1" dirty="0">
                <a:solidFill>
                  <a:schemeClr val="accent1"/>
                </a:solidFill>
                <a:latin typeface="微软雅黑" panose="020B0503020204020204" pitchFamily="34" charset="-122"/>
                <a:ea typeface="微软雅黑" panose="020B0503020204020204" pitchFamily="34" charset="-122"/>
                <a:sym typeface="宋体" panose="02010600030101010101" pitchFamily="2" charset="-122"/>
              </a:rPr>
              <a:t>图表从入门到实践</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D0ABAD6-DC1E-FABC-2884-B3AED3555448}"/>
              </a:ext>
            </a:extLst>
          </p:cNvPr>
          <p:cNvGrpSpPr/>
          <p:nvPr/>
        </p:nvGrpSpPr>
        <p:grpSpPr>
          <a:xfrm>
            <a:off x="1572460" y="3420121"/>
            <a:ext cx="8275570" cy="432000"/>
            <a:chOff x="1572460" y="3420121"/>
            <a:chExt cx="8275570" cy="432000"/>
          </a:xfrm>
        </p:grpSpPr>
        <p:sp>
          <p:nvSpPr>
            <p:cNvPr id="3" name="矩形: 圆角 2">
              <a:extLst>
                <a:ext uri="{FF2B5EF4-FFF2-40B4-BE49-F238E27FC236}">
                  <a16:creationId xmlns:a16="http://schemas.microsoft.com/office/drawing/2014/main" id="{485C83ED-F725-B38C-68D2-B262504DDED9}"/>
                </a:ext>
              </a:extLst>
            </p:cNvPr>
            <p:cNvSpPr/>
            <p:nvPr/>
          </p:nvSpPr>
          <p:spPr>
            <a:xfrm>
              <a:off x="1572460" y="3420121"/>
              <a:ext cx="2160000" cy="432000"/>
            </a:xfrm>
            <a:prstGeom prst="roundRect">
              <a:avLst>
                <a:gd name="adj" fmla="val 11459"/>
              </a:avLst>
            </a:prstGeom>
            <a:solidFill>
              <a:srgbClr val="F6BD16">
                <a:alpha val="70000"/>
              </a:srgbClr>
            </a:solidFill>
            <a:ln w="12700" cap="flat" cmpd="sng" algn="ctr">
              <a:noFill/>
              <a:prstDash val="solid"/>
              <a:miter lim="800000"/>
            </a:ln>
            <a:effectLst>
              <a:outerShdw blurRad="50800" dist="25400" dir="5400000" algn="t" rotWithShape="0">
                <a:prstClr val="black">
                  <a:alpha val="15000"/>
                </a:prstClr>
              </a:outerShdw>
            </a:effectLst>
          </p:spPr>
          <p:txBody>
            <a:bodyPr rtlCol="0" anchor="ctr"/>
            <a:lstStyle/>
            <a:p>
              <a:pPr marR="0" lvl="0" defTabSz="914400" eaLnBrk="1" fontAlgn="auto" latinLnBrk="0" hangingPunct="1">
                <a:lnSpc>
                  <a:spcPct val="150000"/>
                </a:lnSpc>
                <a:spcBef>
                  <a:spcPts val="600"/>
                </a:spcBef>
                <a:spcAft>
                  <a:spcPts val="0"/>
                </a:spcAft>
                <a:buClrTx/>
                <a:buSzTx/>
                <a:tabLst/>
                <a:defRPr/>
              </a:pP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矩形: 圆角 3">
              <a:extLst>
                <a:ext uri="{FF2B5EF4-FFF2-40B4-BE49-F238E27FC236}">
                  <a16:creationId xmlns:a16="http://schemas.microsoft.com/office/drawing/2014/main" id="{2AE30178-0662-E91A-C1AB-B4793A97EB22}"/>
                </a:ext>
              </a:extLst>
            </p:cNvPr>
            <p:cNvSpPr/>
            <p:nvPr/>
          </p:nvSpPr>
          <p:spPr>
            <a:xfrm>
              <a:off x="4630245" y="3420121"/>
              <a:ext cx="2160000" cy="432000"/>
            </a:xfrm>
            <a:prstGeom prst="roundRect">
              <a:avLst>
                <a:gd name="adj" fmla="val 11459"/>
              </a:avLst>
            </a:prstGeom>
            <a:solidFill>
              <a:srgbClr val="69CB91">
                <a:alpha val="70000"/>
              </a:srgbClr>
            </a:solidFill>
            <a:ln w="12700" cap="flat" cmpd="sng" algn="ctr">
              <a:noFill/>
              <a:prstDash val="solid"/>
              <a:miter lim="800000"/>
            </a:ln>
            <a:effectLst>
              <a:outerShdw blurRad="50800" dist="25400" dir="5400000" algn="t" rotWithShape="0">
                <a:prstClr val="black">
                  <a:alpha val="15000"/>
                </a:prstClr>
              </a:outerShdw>
            </a:effectLst>
          </p:spPr>
          <p:txBody>
            <a:bodyPr rtlCol="0" anchor="ctr"/>
            <a:lstStyle/>
            <a:p>
              <a:pPr marR="0" lvl="0" defTabSz="914400" eaLnBrk="1" fontAlgn="auto" latinLnBrk="0" hangingPunct="1">
                <a:lnSpc>
                  <a:spcPct val="150000"/>
                </a:lnSpc>
                <a:spcBef>
                  <a:spcPts val="600"/>
                </a:spcBef>
                <a:spcAft>
                  <a:spcPts val="0"/>
                </a:spcAft>
                <a:buClrTx/>
                <a:buSzTx/>
                <a:tabLst/>
                <a:defRPr/>
              </a:pP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圆角 4">
              <a:extLst>
                <a:ext uri="{FF2B5EF4-FFF2-40B4-BE49-F238E27FC236}">
                  <a16:creationId xmlns:a16="http://schemas.microsoft.com/office/drawing/2014/main" id="{2AC00A6D-8270-FE7C-B8FE-73D0AB7E09D3}"/>
                </a:ext>
              </a:extLst>
            </p:cNvPr>
            <p:cNvSpPr/>
            <p:nvPr/>
          </p:nvSpPr>
          <p:spPr>
            <a:xfrm>
              <a:off x="7688030" y="3420121"/>
              <a:ext cx="2160000" cy="432000"/>
            </a:xfrm>
            <a:prstGeom prst="roundRect">
              <a:avLst>
                <a:gd name="adj" fmla="val 11459"/>
              </a:avLst>
            </a:prstGeom>
            <a:solidFill>
              <a:srgbClr val="6DC8EC">
                <a:alpha val="69804"/>
              </a:srgbClr>
            </a:solidFill>
            <a:ln w="12700" cap="flat" cmpd="sng" algn="ctr">
              <a:noFill/>
              <a:prstDash val="solid"/>
              <a:miter lim="800000"/>
            </a:ln>
            <a:effectLst>
              <a:outerShdw blurRad="50800" dist="25400" dir="5400000" algn="t" rotWithShape="0">
                <a:prstClr val="black">
                  <a:alpha val="15000"/>
                </a:prstClr>
              </a:outerShdw>
            </a:effectLst>
          </p:spPr>
          <p:txBody>
            <a:bodyPr rtlCol="0" anchor="ctr"/>
            <a:lstStyle/>
            <a:p>
              <a:pPr marR="0" lvl="0" defTabSz="914400" eaLnBrk="1" fontAlgn="auto" latinLnBrk="0" hangingPunct="1">
                <a:lnSpc>
                  <a:spcPct val="150000"/>
                </a:lnSpc>
                <a:spcBef>
                  <a:spcPts val="600"/>
                </a:spcBef>
                <a:spcAft>
                  <a:spcPts val="0"/>
                </a:spcAft>
                <a:buClrTx/>
                <a:buSzTx/>
                <a:tabLst/>
                <a:defRPr/>
              </a:pPr>
              <a:endPar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6" name="文本框 5">
            <a:extLst>
              <a:ext uri="{FF2B5EF4-FFF2-40B4-BE49-F238E27FC236}">
                <a16:creationId xmlns:a16="http://schemas.microsoft.com/office/drawing/2014/main" id="{FE6AB571-8333-CA19-CE5F-FAAD1E1E0C1E}"/>
              </a:ext>
            </a:extLst>
          </p:cNvPr>
          <p:cNvSpPr txBox="1"/>
          <p:nvPr/>
        </p:nvSpPr>
        <p:spPr>
          <a:xfrm>
            <a:off x="1536042" y="4042862"/>
            <a:ext cx="2268142" cy="405624"/>
          </a:xfrm>
          <a:prstGeom prst="rect">
            <a:avLst/>
          </a:prstGeom>
          <a:noFill/>
        </p:spPr>
        <p:txBody>
          <a:bodyPr wrap="square" rtlCol="0">
            <a:spAutoFit/>
          </a:bodyPr>
          <a:lstStyle/>
          <a:p>
            <a:pPr>
              <a:lnSpc>
                <a:spcPct val="200000"/>
              </a:lnSpc>
            </a:pPr>
            <a:r>
              <a:rPr lang="zh-CN" altLang="en-US" sz="1200" dirty="0">
                <a:solidFill>
                  <a:schemeClr val="accent1"/>
                </a:solidFill>
                <a:latin typeface="Segoe UI" panose="020B0502040204020203" pitchFamily="34" charset="0"/>
                <a:ea typeface="Segoe UI" panose="020B0502040204020203" pitchFamily="34" charset="0"/>
                <a:cs typeface="Segoe UI" panose="020B0502040204020203" pitchFamily="34" charset="0"/>
              </a:rPr>
              <a:t>了解图表的设计和修饰模式</a:t>
            </a:r>
            <a:endParaRPr lang="en-US" altLang="zh-CN" sz="1200" dirty="0">
              <a:solidFill>
                <a:schemeClr val="accent1"/>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文本框 6">
            <a:extLst>
              <a:ext uri="{FF2B5EF4-FFF2-40B4-BE49-F238E27FC236}">
                <a16:creationId xmlns:a16="http://schemas.microsoft.com/office/drawing/2014/main" id="{52FCC3F8-0C01-D34A-FEF1-9E8BA85B06BE}"/>
              </a:ext>
            </a:extLst>
          </p:cNvPr>
          <p:cNvSpPr txBox="1"/>
          <p:nvPr/>
        </p:nvSpPr>
        <p:spPr>
          <a:xfrm>
            <a:off x="1757628" y="3491996"/>
            <a:ext cx="1673856" cy="307777"/>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第一阶段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Segoe UI" panose="020B0502040204020203" pitchFamily="34" charset="0"/>
              </a:rPr>
              <a:t>认识图表</a:t>
            </a:r>
          </a:p>
        </p:txBody>
      </p:sp>
      <p:sp>
        <p:nvSpPr>
          <p:cNvPr id="8" name="文本框 7">
            <a:extLst>
              <a:ext uri="{FF2B5EF4-FFF2-40B4-BE49-F238E27FC236}">
                <a16:creationId xmlns:a16="http://schemas.microsoft.com/office/drawing/2014/main" id="{08C72C10-A8B8-C253-C501-0EEEC9775588}"/>
              </a:ext>
            </a:extLst>
          </p:cNvPr>
          <p:cNvSpPr txBox="1"/>
          <p:nvPr/>
        </p:nvSpPr>
        <p:spPr>
          <a:xfrm>
            <a:off x="4578740" y="4141209"/>
            <a:ext cx="2619472" cy="613373"/>
          </a:xfrm>
          <a:prstGeom prst="rect">
            <a:avLst/>
          </a:prstGeom>
          <a:noFill/>
        </p:spPr>
        <p:txBody>
          <a:bodyPr wrap="square" rtlCol="0">
            <a:spAutoFit/>
          </a:bodyPr>
          <a:lstStyle/>
          <a:p>
            <a:pPr>
              <a:lnSpc>
                <a:spcPct val="150000"/>
              </a:lnSpc>
            </a:pPr>
            <a:r>
              <a:rPr lang="zh-CN" altLang="en-US" sz="1200" dirty="0">
                <a:solidFill>
                  <a:srgbClr val="37A6FA"/>
                </a:solidFill>
                <a:latin typeface="Segoe UI" panose="020B0502040204020203" pitchFamily="34" charset="0"/>
                <a:ea typeface="Segoe UI" panose="020B0502040204020203" pitchFamily="34" charset="0"/>
                <a:cs typeface="Segoe UI" panose="020B0502040204020203" pitchFamily="34" charset="0"/>
              </a:rPr>
              <a:t>结合模板和视频细致讲解快速学会</a:t>
            </a:r>
            <a:r>
              <a:rPr lang="en-US" altLang="zh-CN" sz="1200" dirty="0">
                <a:solidFill>
                  <a:srgbClr val="37A6FA"/>
                </a:solidFill>
                <a:latin typeface="Segoe UI" panose="020B0502040204020203" pitchFamily="34" charset="0"/>
                <a:ea typeface="Segoe UI" panose="020B0502040204020203" pitchFamily="34" charset="0"/>
                <a:cs typeface="Segoe UI" panose="020B0502040204020203" pitchFamily="34" charset="0"/>
              </a:rPr>
              <a:t>Excel</a:t>
            </a:r>
            <a:r>
              <a:rPr lang="zh-CN" altLang="en-US" sz="1200" dirty="0">
                <a:solidFill>
                  <a:srgbClr val="37A6FA"/>
                </a:solidFill>
                <a:latin typeface="Segoe UI" panose="020B0502040204020203" pitchFamily="34" charset="0"/>
                <a:ea typeface="Segoe UI" panose="020B0502040204020203" pitchFamily="34" charset="0"/>
                <a:cs typeface="Segoe UI" panose="020B0502040204020203" pitchFamily="34" charset="0"/>
              </a:rPr>
              <a:t>图表</a:t>
            </a:r>
            <a:endParaRPr lang="en-US" altLang="zh-CN" sz="1200" dirty="0">
              <a:solidFill>
                <a:srgbClr val="37A6FA"/>
              </a:solidFill>
              <a:latin typeface="Segoe UI" panose="020B0502040204020203" pitchFamily="34" charset="0"/>
              <a:ea typeface="Segoe UI" panose="020B0502040204020203" pitchFamily="34" charset="0"/>
              <a:cs typeface="Segoe UI" panose="020B0502040204020203" pitchFamily="34" charset="0"/>
            </a:endParaRPr>
          </a:p>
        </p:txBody>
      </p:sp>
      <p:sp>
        <p:nvSpPr>
          <p:cNvPr id="9" name="文本框 8">
            <a:extLst>
              <a:ext uri="{FF2B5EF4-FFF2-40B4-BE49-F238E27FC236}">
                <a16:creationId xmlns:a16="http://schemas.microsoft.com/office/drawing/2014/main" id="{EDB41684-9C03-F7CC-611D-F1E554DC13A6}"/>
              </a:ext>
            </a:extLst>
          </p:cNvPr>
          <p:cNvSpPr txBox="1"/>
          <p:nvPr/>
        </p:nvSpPr>
        <p:spPr>
          <a:xfrm>
            <a:off x="7807257" y="3482232"/>
            <a:ext cx="1670650" cy="307777"/>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Segoe UI" panose="020B0502040204020203" pitchFamily="34" charset="0"/>
              </a:rPr>
              <a:t>第三部分 进阶实战</a:t>
            </a:r>
          </a:p>
        </p:txBody>
      </p:sp>
      <p:sp>
        <p:nvSpPr>
          <p:cNvPr id="10" name="文本框 9">
            <a:extLst>
              <a:ext uri="{FF2B5EF4-FFF2-40B4-BE49-F238E27FC236}">
                <a16:creationId xmlns:a16="http://schemas.microsoft.com/office/drawing/2014/main" id="{81F27D4A-5EEF-A971-5F32-3D3D064E75DC}"/>
              </a:ext>
            </a:extLst>
          </p:cNvPr>
          <p:cNvSpPr txBox="1"/>
          <p:nvPr/>
        </p:nvSpPr>
        <p:spPr>
          <a:xfrm>
            <a:off x="7597877" y="4098280"/>
            <a:ext cx="2473401" cy="405624"/>
          </a:xfrm>
          <a:prstGeom prst="rect">
            <a:avLst/>
          </a:prstGeom>
          <a:noFill/>
        </p:spPr>
        <p:txBody>
          <a:bodyPr wrap="square" rtlCol="0">
            <a:spAutoFit/>
          </a:bodyPr>
          <a:lstStyle/>
          <a:p>
            <a:pPr>
              <a:lnSpc>
                <a:spcPct val="200000"/>
              </a:lnSpc>
            </a:pPr>
            <a:r>
              <a:rPr lang="zh-CN" altLang="en-US" sz="1200" dirty="0">
                <a:solidFill>
                  <a:srgbClr val="37A6FA"/>
                </a:solidFill>
                <a:latin typeface="Segoe UI" panose="020B0502040204020203" pitchFamily="34" charset="0"/>
                <a:ea typeface="Segoe UI" panose="020B0502040204020203" pitchFamily="34" charset="0"/>
                <a:cs typeface="Segoe UI" panose="020B0502040204020203" pitchFamily="34" charset="0"/>
              </a:rPr>
              <a:t>掌握图表的基本设计和修饰原则</a:t>
            </a:r>
            <a:endParaRPr lang="en-US" altLang="zh-CN" sz="1200" dirty="0">
              <a:solidFill>
                <a:srgbClr val="37A6FA"/>
              </a:solidFill>
              <a:latin typeface="Segoe UI" panose="020B0502040204020203" pitchFamily="34" charset="0"/>
              <a:ea typeface="Segoe UI" panose="020B0502040204020203" pitchFamily="34" charset="0"/>
              <a:cs typeface="Segoe UI" panose="020B0502040204020203" pitchFamily="34" charset="0"/>
            </a:endParaRPr>
          </a:p>
        </p:txBody>
      </p:sp>
      <p:sp>
        <p:nvSpPr>
          <p:cNvPr id="11" name="文本框 10">
            <a:extLst>
              <a:ext uri="{FF2B5EF4-FFF2-40B4-BE49-F238E27FC236}">
                <a16:creationId xmlns:a16="http://schemas.microsoft.com/office/drawing/2014/main" id="{EA62ABCF-3491-3F52-10FF-5D8F18395E0B}"/>
              </a:ext>
            </a:extLst>
          </p:cNvPr>
          <p:cNvSpPr txBox="1"/>
          <p:nvPr/>
        </p:nvSpPr>
        <p:spPr>
          <a:xfrm>
            <a:off x="7688030" y="2896221"/>
            <a:ext cx="314510" cy="400110"/>
          </a:xfrm>
          <a:prstGeom prst="rect">
            <a:avLst/>
          </a:prstGeom>
          <a:noFill/>
        </p:spPr>
        <p:txBody>
          <a:bodyPr wrap="none" rtlCol="0">
            <a:spAutoFit/>
          </a:bodyPr>
          <a:lstStyle/>
          <a:p>
            <a:r>
              <a:rPr lang="en-US" altLang="zh-CN" sz="2000" b="1" dirty="0">
                <a:solidFill>
                  <a:srgbClr val="7030A0"/>
                </a:solidFill>
                <a:latin typeface="+mn-ea"/>
              </a:rPr>
              <a:t>3</a:t>
            </a:r>
            <a:endParaRPr lang="zh-CN" altLang="en-US" sz="2000" b="1" dirty="0">
              <a:solidFill>
                <a:srgbClr val="7030A0"/>
              </a:solidFill>
              <a:latin typeface="+mn-ea"/>
            </a:endParaRPr>
          </a:p>
        </p:txBody>
      </p:sp>
      <p:cxnSp>
        <p:nvCxnSpPr>
          <p:cNvPr id="12" name="直接连接符 11">
            <a:extLst>
              <a:ext uri="{FF2B5EF4-FFF2-40B4-BE49-F238E27FC236}">
                <a16:creationId xmlns:a16="http://schemas.microsoft.com/office/drawing/2014/main" id="{46A56266-C1A6-D2D0-CCDF-652E81B39388}"/>
              </a:ext>
            </a:extLst>
          </p:cNvPr>
          <p:cNvCxnSpPr/>
          <p:nvPr/>
        </p:nvCxnSpPr>
        <p:spPr>
          <a:xfrm>
            <a:off x="7688030" y="2989496"/>
            <a:ext cx="0" cy="22860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箭头: 右 4">
            <a:extLst>
              <a:ext uri="{FF2B5EF4-FFF2-40B4-BE49-F238E27FC236}">
                <a16:creationId xmlns:a16="http://schemas.microsoft.com/office/drawing/2014/main" id="{A871BDC0-C5C5-2561-A9B9-02EC616F5CF2}"/>
              </a:ext>
            </a:extLst>
          </p:cNvPr>
          <p:cNvSpPr/>
          <p:nvPr/>
        </p:nvSpPr>
        <p:spPr>
          <a:xfrm>
            <a:off x="1536042" y="2617462"/>
            <a:ext cx="9058374" cy="278759"/>
          </a:xfrm>
          <a:custGeom>
            <a:avLst/>
            <a:gdLst>
              <a:gd name="connsiteX0" fmla="*/ 0 w 7827797"/>
              <a:gd name="connsiteY0" fmla="*/ 69690 h 278759"/>
              <a:gd name="connsiteX1" fmla="*/ 7688418 w 7827797"/>
              <a:gd name="connsiteY1" fmla="*/ 69690 h 278759"/>
              <a:gd name="connsiteX2" fmla="*/ 7688418 w 7827797"/>
              <a:gd name="connsiteY2" fmla="*/ 0 h 278759"/>
              <a:gd name="connsiteX3" fmla="*/ 7827797 w 7827797"/>
              <a:gd name="connsiteY3" fmla="*/ 139380 h 278759"/>
              <a:gd name="connsiteX4" fmla="*/ 7688418 w 7827797"/>
              <a:gd name="connsiteY4" fmla="*/ 278759 h 278759"/>
              <a:gd name="connsiteX5" fmla="*/ 7688418 w 7827797"/>
              <a:gd name="connsiteY5" fmla="*/ 209069 h 278759"/>
              <a:gd name="connsiteX6" fmla="*/ 0 w 7827797"/>
              <a:gd name="connsiteY6" fmla="*/ 209069 h 278759"/>
              <a:gd name="connsiteX7" fmla="*/ 0 w 7827797"/>
              <a:gd name="connsiteY7" fmla="*/ 69690 h 278759"/>
              <a:gd name="connsiteX0" fmla="*/ 4417 w 7827797"/>
              <a:gd name="connsiteY0" fmla="*/ 113864 h 278759"/>
              <a:gd name="connsiteX1" fmla="*/ 7688418 w 7827797"/>
              <a:gd name="connsiteY1" fmla="*/ 69690 h 278759"/>
              <a:gd name="connsiteX2" fmla="*/ 7688418 w 7827797"/>
              <a:gd name="connsiteY2" fmla="*/ 0 h 278759"/>
              <a:gd name="connsiteX3" fmla="*/ 7827797 w 7827797"/>
              <a:gd name="connsiteY3" fmla="*/ 139380 h 278759"/>
              <a:gd name="connsiteX4" fmla="*/ 7688418 w 7827797"/>
              <a:gd name="connsiteY4" fmla="*/ 278759 h 278759"/>
              <a:gd name="connsiteX5" fmla="*/ 7688418 w 7827797"/>
              <a:gd name="connsiteY5" fmla="*/ 209069 h 278759"/>
              <a:gd name="connsiteX6" fmla="*/ 0 w 7827797"/>
              <a:gd name="connsiteY6" fmla="*/ 209069 h 278759"/>
              <a:gd name="connsiteX7" fmla="*/ 4417 w 7827797"/>
              <a:gd name="connsiteY7" fmla="*/ 113864 h 278759"/>
              <a:gd name="connsiteX0" fmla="*/ 4417 w 7827797"/>
              <a:gd name="connsiteY0" fmla="*/ 113864 h 278759"/>
              <a:gd name="connsiteX1" fmla="*/ 7688418 w 7827797"/>
              <a:gd name="connsiteY1" fmla="*/ 69690 h 278759"/>
              <a:gd name="connsiteX2" fmla="*/ 7688418 w 7827797"/>
              <a:gd name="connsiteY2" fmla="*/ 0 h 278759"/>
              <a:gd name="connsiteX3" fmla="*/ 7827797 w 7827797"/>
              <a:gd name="connsiteY3" fmla="*/ 139380 h 278759"/>
              <a:gd name="connsiteX4" fmla="*/ 7688418 w 7827797"/>
              <a:gd name="connsiteY4" fmla="*/ 278759 h 278759"/>
              <a:gd name="connsiteX5" fmla="*/ 7688418 w 7827797"/>
              <a:gd name="connsiteY5" fmla="*/ 209069 h 278759"/>
              <a:gd name="connsiteX6" fmla="*/ 0 w 7827797"/>
              <a:gd name="connsiteY6" fmla="*/ 178147 h 278759"/>
              <a:gd name="connsiteX7" fmla="*/ 4417 w 7827797"/>
              <a:gd name="connsiteY7" fmla="*/ 113864 h 278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7797" h="278759">
                <a:moveTo>
                  <a:pt x="4417" y="113864"/>
                </a:moveTo>
                <a:lnTo>
                  <a:pt x="7688418" y="69690"/>
                </a:lnTo>
                <a:lnTo>
                  <a:pt x="7688418" y="0"/>
                </a:lnTo>
                <a:lnTo>
                  <a:pt x="7827797" y="139380"/>
                </a:lnTo>
                <a:lnTo>
                  <a:pt x="7688418" y="278759"/>
                </a:lnTo>
                <a:lnTo>
                  <a:pt x="7688418" y="209069"/>
                </a:lnTo>
                <a:lnTo>
                  <a:pt x="0" y="178147"/>
                </a:lnTo>
                <a:lnTo>
                  <a:pt x="4417" y="113864"/>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55077BC9-48A2-2C74-1172-A5915A1588C4}"/>
              </a:ext>
            </a:extLst>
          </p:cNvPr>
          <p:cNvSpPr txBox="1"/>
          <p:nvPr/>
        </p:nvSpPr>
        <p:spPr>
          <a:xfrm>
            <a:off x="4729173" y="3491996"/>
            <a:ext cx="2064989" cy="307777"/>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第二阶段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rPr>
              <a:t>80</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例图表实践</a:t>
            </a:r>
            <a:endPar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5" name="文本框 14">
            <a:extLst>
              <a:ext uri="{FF2B5EF4-FFF2-40B4-BE49-F238E27FC236}">
                <a16:creationId xmlns:a16="http://schemas.microsoft.com/office/drawing/2014/main" id="{D55A6EFB-85FB-0215-43DC-58C09C25C388}"/>
              </a:ext>
            </a:extLst>
          </p:cNvPr>
          <p:cNvSpPr txBox="1"/>
          <p:nvPr/>
        </p:nvSpPr>
        <p:spPr>
          <a:xfrm>
            <a:off x="4646717" y="2896221"/>
            <a:ext cx="327334" cy="400110"/>
          </a:xfrm>
          <a:prstGeom prst="rect">
            <a:avLst/>
          </a:prstGeom>
          <a:noFill/>
        </p:spPr>
        <p:txBody>
          <a:bodyPr wrap="none" rtlCol="0">
            <a:spAutoFit/>
          </a:bodyPr>
          <a:lstStyle/>
          <a:p>
            <a:r>
              <a:rPr lang="en-US" altLang="zh-CN" sz="2000" b="1" dirty="0">
                <a:solidFill>
                  <a:srgbClr val="7030A0"/>
                </a:solidFill>
                <a:latin typeface="+mn-ea"/>
              </a:rPr>
              <a:t>2</a:t>
            </a:r>
            <a:endParaRPr lang="zh-CN" altLang="en-US" sz="2000" b="1" dirty="0">
              <a:solidFill>
                <a:srgbClr val="7030A0"/>
              </a:solidFill>
              <a:latin typeface="+mn-ea"/>
            </a:endParaRPr>
          </a:p>
        </p:txBody>
      </p:sp>
      <p:sp>
        <p:nvSpPr>
          <p:cNvPr id="16" name="文本框 15">
            <a:extLst>
              <a:ext uri="{FF2B5EF4-FFF2-40B4-BE49-F238E27FC236}">
                <a16:creationId xmlns:a16="http://schemas.microsoft.com/office/drawing/2014/main" id="{F869A0E5-990E-4D9F-26A5-1A3BAF455E7A}"/>
              </a:ext>
            </a:extLst>
          </p:cNvPr>
          <p:cNvSpPr txBox="1"/>
          <p:nvPr/>
        </p:nvSpPr>
        <p:spPr>
          <a:xfrm>
            <a:off x="1572460" y="2903741"/>
            <a:ext cx="327334" cy="400110"/>
          </a:xfrm>
          <a:prstGeom prst="rect">
            <a:avLst/>
          </a:prstGeom>
          <a:noFill/>
        </p:spPr>
        <p:txBody>
          <a:bodyPr wrap="none" rtlCol="0">
            <a:spAutoFit/>
          </a:bodyPr>
          <a:lstStyle/>
          <a:p>
            <a:r>
              <a:rPr lang="en-US" altLang="zh-CN" sz="2000" b="1" dirty="0">
                <a:solidFill>
                  <a:srgbClr val="7030A0"/>
                </a:solidFill>
                <a:latin typeface="+mn-ea"/>
              </a:rPr>
              <a:t>1</a:t>
            </a:r>
            <a:endParaRPr lang="zh-CN" altLang="en-US" sz="2000" b="1" dirty="0">
              <a:solidFill>
                <a:srgbClr val="7030A0"/>
              </a:solidFill>
              <a:latin typeface="+mn-ea"/>
            </a:endParaRPr>
          </a:p>
        </p:txBody>
      </p:sp>
      <p:cxnSp>
        <p:nvCxnSpPr>
          <p:cNvPr id="17" name="直接连接符 16">
            <a:extLst>
              <a:ext uri="{FF2B5EF4-FFF2-40B4-BE49-F238E27FC236}">
                <a16:creationId xmlns:a16="http://schemas.microsoft.com/office/drawing/2014/main" id="{D9EE11F4-FAB6-4661-A794-DCA3518A1987}"/>
              </a:ext>
            </a:extLst>
          </p:cNvPr>
          <p:cNvCxnSpPr>
            <a:cxnSpLocks/>
          </p:cNvCxnSpPr>
          <p:nvPr/>
        </p:nvCxnSpPr>
        <p:spPr>
          <a:xfrm>
            <a:off x="4636136" y="2989496"/>
            <a:ext cx="0" cy="22860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78446CD-7B54-A538-1737-526626E75F89}"/>
              </a:ext>
            </a:extLst>
          </p:cNvPr>
          <p:cNvCxnSpPr/>
          <p:nvPr/>
        </p:nvCxnSpPr>
        <p:spPr>
          <a:xfrm>
            <a:off x="1563037" y="2989496"/>
            <a:ext cx="0" cy="22860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5BD1EF77-CA2E-7622-8DED-92C5116081CE}"/>
              </a:ext>
            </a:extLst>
          </p:cNvPr>
          <p:cNvSpPr txBox="1"/>
          <p:nvPr/>
        </p:nvSpPr>
        <p:spPr>
          <a:xfrm>
            <a:off x="3235556" y="1700696"/>
            <a:ext cx="5873105" cy="523220"/>
          </a:xfrm>
          <a:prstGeom prst="rect">
            <a:avLst/>
          </a:prstGeom>
          <a:noFill/>
        </p:spPr>
        <p:txBody>
          <a:bodyPr wrap="square" rtlCol="0">
            <a:spAutoFit/>
          </a:bodyPr>
          <a:lstStyle/>
          <a:p>
            <a:r>
              <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rPr>
              <a:t>系统学习</a:t>
            </a:r>
            <a:r>
              <a:rPr lang="en-US" altLang="zh-CN" sz="2800" b="1" dirty="0">
                <a:solidFill>
                  <a:schemeClr val="tx1">
                    <a:lumMod val="95000"/>
                    <a:lumOff val="5000"/>
                  </a:schemeClr>
                </a:solidFill>
                <a:latin typeface="微软雅黑" panose="020B0503020204020204" pitchFamily="34" charset="-122"/>
                <a:ea typeface="微软雅黑" panose="020B0503020204020204" pitchFamily="34" charset="-122"/>
              </a:rPr>
              <a:t>Excel</a:t>
            </a:r>
            <a:r>
              <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rPr>
              <a:t>图表</a:t>
            </a:r>
            <a:r>
              <a:rPr lang="en-US" altLang="zh-CN" sz="2800" b="1"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rPr>
              <a:t>建立和美化</a:t>
            </a:r>
          </a:p>
        </p:txBody>
      </p:sp>
    </p:spTree>
    <p:extLst>
      <p:ext uri="{BB962C8B-B14F-4D97-AF65-F5344CB8AC3E}">
        <p14:creationId xmlns:p14="http://schemas.microsoft.com/office/powerpoint/2010/main" val="525523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文本框 1">
            <a:extLst>
              <a:ext uri="{FF2B5EF4-FFF2-40B4-BE49-F238E27FC236}">
                <a16:creationId xmlns:a16="http://schemas.microsoft.com/office/drawing/2014/main" id="{17626B74-7CD9-D7CB-F863-14D96B607FC2}"/>
              </a:ext>
            </a:extLst>
          </p:cNvPr>
          <p:cNvSpPr txBox="1">
            <a:spLocks noChangeArrowheads="1"/>
          </p:cNvSpPr>
          <p:nvPr/>
        </p:nvSpPr>
        <p:spPr bwMode="auto">
          <a:xfrm>
            <a:off x="1835410" y="2132935"/>
            <a:ext cx="12199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kumimoji="1" lang="zh-CN" altLang="en-US" sz="2800" dirty="0">
                <a:solidFill>
                  <a:schemeClr val="accent1"/>
                </a:solidFill>
                <a:latin typeface="华文中宋" panose="02010600040101010101" pitchFamily="2" charset="-122"/>
                <a:ea typeface="华文中宋" panose="02010600040101010101" pitchFamily="2" charset="-122"/>
              </a:rPr>
              <a:t>目录</a:t>
            </a:r>
          </a:p>
        </p:txBody>
      </p:sp>
      <p:sp>
        <p:nvSpPr>
          <p:cNvPr id="76" name="矩形 75">
            <a:extLst>
              <a:ext uri="{FF2B5EF4-FFF2-40B4-BE49-F238E27FC236}">
                <a16:creationId xmlns:a16="http://schemas.microsoft.com/office/drawing/2014/main" id="{024F9A06-D453-F6ED-450C-32C3BD06DFE0}"/>
              </a:ext>
            </a:extLst>
          </p:cNvPr>
          <p:cNvSpPr/>
          <p:nvPr/>
        </p:nvSpPr>
        <p:spPr>
          <a:xfrm>
            <a:off x="1402514" y="2019449"/>
            <a:ext cx="168275" cy="7048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kumimoji="1" lang="zh-CN" altLang="en-US">
              <a:solidFill>
                <a:schemeClr val="accent1"/>
              </a:solidFill>
              <a:latin typeface="华文中宋" panose="02010600040101010101" pitchFamily="2" charset="-122"/>
              <a:ea typeface="华文中宋" panose="02010600040101010101" pitchFamily="2" charset="-122"/>
            </a:endParaRPr>
          </a:p>
        </p:txBody>
      </p:sp>
      <p:cxnSp>
        <p:nvCxnSpPr>
          <p:cNvPr id="77" name="Straight Connector 9">
            <a:extLst>
              <a:ext uri="{FF2B5EF4-FFF2-40B4-BE49-F238E27FC236}">
                <a16:creationId xmlns:a16="http://schemas.microsoft.com/office/drawing/2014/main" id="{C003F6DF-5A49-4921-EFAD-ACDE984D3438}"/>
              </a:ext>
            </a:extLst>
          </p:cNvPr>
          <p:cNvCxnSpPr/>
          <p:nvPr/>
        </p:nvCxnSpPr>
        <p:spPr>
          <a:xfrm flipH="1" flipV="1">
            <a:off x="1402514" y="2017861"/>
            <a:ext cx="9510712" cy="190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FD2AA705-0E9C-0CC4-C14D-000A3DA72B9B}"/>
              </a:ext>
            </a:extLst>
          </p:cNvPr>
          <p:cNvSpPr/>
          <p:nvPr/>
        </p:nvSpPr>
        <p:spPr>
          <a:xfrm>
            <a:off x="3227730" y="2640534"/>
            <a:ext cx="2160000" cy="576000"/>
          </a:xfrm>
          <a:prstGeom prst="rect">
            <a:avLst/>
          </a:prstGeom>
          <a:no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kumimoji="1" lang="zh-CN" altLang="en-US" sz="1600" b="1" dirty="0">
                <a:solidFill>
                  <a:schemeClr val="accent1"/>
                </a:solidFill>
                <a:latin typeface="华文中宋" panose="02010600040101010101" pitchFamily="2" charset="-122"/>
                <a:ea typeface="华文中宋" panose="02010600040101010101" pitchFamily="2" charset="-122"/>
              </a:rPr>
              <a:t>认识图表</a:t>
            </a:r>
          </a:p>
        </p:txBody>
      </p:sp>
      <p:sp>
        <p:nvSpPr>
          <p:cNvPr id="79" name="矩形 78">
            <a:extLst>
              <a:ext uri="{FF2B5EF4-FFF2-40B4-BE49-F238E27FC236}">
                <a16:creationId xmlns:a16="http://schemas.microsoft.com/office/drawing/2014/main" id="{E6AE132D-EA40-8AB5-C780-8226A09B1245}"/>
              </a:ext>
            </a:extLst>
          </p:cNvPr>
          <p:cNvSpPr/>
          <p:nvPr/>
        </p:nvSpPr>
        <p:spPr>
          <a:xfrm>
            <a:off x="3227730" y="4443231"/>
            <a:ext cx="2160000" cy="576000"/>
          </a:xfrm>
          <a:prstGeom prst="rect">
            <a:avLst/>
          </a:prstGeom>
          <a:no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kumimoji="1" lang="zh-CN" altLang="en-US" sz="1600" b="1" dirty="0">
                <a:solidFill>
                  <a:schemeClr val="accent1"/>
                </a:solidFill>
                <a:latin typeface="华文中宋" panose="02010600040101010101" pitchFamily="2" charset="-122"/>
                <a:ea typeface="华文中宋" panose="02010600040101010101" pitchFamily="2" charset="-122"/>
              </a:rPr>
              <a:t>修饰图表</a:t>
            </a:r>
          </a:p>
        </p:txBody>
      </p:sp>
      <p:sp>
        <p:nvSpPr>
          <p:cNvPr id="80" name="矩形 79">
            <a:extLst>
              <a:ext uri="{FF2B5EF4-FFF2-40B4-BE49-F238E27FC236}">
                <a16:creationId xmlns:a16="http://schemas.microsoft.com/office/drawing/2014/main" id="{5EF96197-6C94-D9D4-A8F2-707D8A7AF155}"/>
              </a:ext>
            </a:extLst>
          </p:cNvPr>
          <p:cNvSpPr/>
          <p:nvPr/>
        </p:nvSpPr>
        <p:spPr>
          <a:xfrm>
            <a:off x="3227730" y="3567594"/>
            <a:ext cx="2160000" cy="576000"/>
          </a:xfrm>
          <a:prstGeom prst="rect">
            <a:avLst/>
          </a:prstGeom>
          <a:no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kumimoji="1" lang="zh-CN" altLang="en-US" sz="1600" b="1" dirty="0">
                <a:solidFill>
                  <a:schemeClr val="accent1"/>
                </a:solidFill>
                <a:latin typeface="华文中宋" panose="02010600040101010101" pitchFamily="2" charset="-122"/>
                <a:ea typeface="华文中宋" panose="02010600040101010101" pitchFamily="2" charset="-122"/>
              </a:rPr>
              <a:t>图表分类</a:t>
            </a:r>
          </a:p>
        </p:txBody>
      </p:sp>
      <p:sp>
        <p:nvSpPr>
          <p:cNvPr id="81" name="矩形 80">
            <a:extLst>
              <a:ext uri="{FF2B5EF4-FFF2-40B4-BE49-F238E27FC236}">
                <a16:creationId xmlns:a16="http://schemas.microsoft.com/office/drawing/2014/main" id="{CF4C1A7B-0864-D166-326D-87B12E838B60}"/>
              </a:ext>
            </a:extLst>
          </p:cNvPr>
          <p:cNvSpPr/>
          <p:nvPr/>
        </p:nvSpPr>
        <p:spPr>
          <a:xfrm>
            <a:off x="3227730" y="5374710"/>
            <a:ext cx="2160000" cy="576000"/>
          </a:xfrm>
          <a:prstGeom prst="rect">
            <a:avLst/>
          </a:prstGeom>
          <a:noFill/>
          <a:ln>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kumimoji="1" lang="zh-CN" altLang="en-US" sz="1600" b="1" dirty="0">
                <a:solidFill>
                  <a:schemeClr val="accent1"/>
                </a:solidFill>
                <a:latin typeface="华文中宋" panose="02010600040101010101" pitchFamily="2" charset="-122"/>
                <a:ea typeface="华文中宋" panose="02010600040101010101" pitchFamily="2" charset="-122"/>
              </a:rPr>
              <a:t>设计原则</a:t>
            </a:r>
          </a:p>
        </p:txBody>
      </p:sp>
      <p:sp>
        <p:nvSpPr>
          <p:cNvPr id="83" name="文本框 9">
            <a:extLst>
              <a:ext uri="{FF2B5EF4-FFF2-40B4-BE49-F238E27FC236}">
                <a16:creationId xmlns:a16="http://schemas.microsoft.com/office/drawing/2014/main" id="{AEF7E67C-E2A0-775F-843E-9D45D30E9987}"/>
              </a:ext>
            </a:extLst>
          </p:cNvPr>
          <p:cNvSpPr txBox="1">
            <a:spLocks noChangeArrowheads="1"/>
          </p:cNvSpPr>
          <p:nvPr/>
        </p:nvSpPr>
        <p:spPr bwMode="auto">
          <a:xfrm>
            <a:off x="1402514" y="1273513"/>
            <a:ext cx="118221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kumimoji="1" lang="zh-CN" altLang="en-US" sz="2800" b="1" dirty="0">
                <a:solidFill>
                  <a:schemeClr val="accent1"/>
                </a:solidFill>
                <a:latin typeface="华文中宋" panose="02010600040101010101" pitchFamily="2" charset="-122"/>
                <a:ea typeface="华文中宋" panose="02010600040101010101" pitchFamily="2" charset="-122"/>
              </a:rPr>
              <a:t>系统学习</a:t>
            </a:r>
            <a:r>
              <a:rPr kumimoji="1" lang="en-US" altLang="zh-CN" sz="2800" b="1" dirty="0">
                <a:solidFill>
                  <a:schemeClr val="accent1"/>
                </a:solidFill>
                <a:latin typeface="华文中宋" panose="02010600040101010101" pitchFamily="2" charset="-122"/>
                <a:ea typeface="华文中宋" panose="02010600040101010101" pitchFamily="2" charset="-122"/>
              </a:rPr>
              <a:t>Excel</a:t>
            </a:r>
            <a:r>
              <a:rPr kumimoji="1" lang="zh-CN" altLang="en-US" sz="2800" b="1" dirty="0">
                <a:solidFill>
                  <a:schemeClr val="accent1"/>
                </a:solidFill>
                <a:latin typeface="华文中宋" panose="02010600040101010101" pitchFamily="2" charset="-122"/>
                <a:ea typeface="华文中宋" panose="02010600040101010101" pitchFamily="2" charset="-122"/>
              </a:rPr>
              <a:t>图表建立与美化</a:t>
            </a:r>
            <a:endParaRPr kumimoji="1" lang="en-US" altLang="zh-CN" sz="2800" b="1" dirty="0">
              <a:solidFill>
                <a:schemeClr val="accent1"/>
              </a:solidFill>
              <a:latin typeface="华文中宋" panose="02010600040101010101" pitchFamily="2" charset="-122"/>
              <a:ea typeface="华文中宋" panose="02010600040101010101" pitchFamily="2" charset="-122"/>
            </a:endParaRPr>
          </a:p>
        </p:txBody>
      </p:sp>
      <p:sp>
        <p:nvSpPr>
          <p:cNvPr id="84" name="矩形 83">
            <a:extLst>
              <a:ext uri="{FF2B5EF4-FFF2-40B4-BE49-F238E27FC236}">
                <a16:creationId xmlns:a16="http://schemas.microsoft.com/office/drawing/2014/main" id="{A8229F3C-773B-07DB-77C2-EBD54E59F4C2}"/>
              </a:ext>
            </a:extLst>
          </p:cNvPr>
          <p:cNvSpPr/>
          <p:nvPr/>
        </p:nvSpPr>
        <p:spPr>
          <a:xfrm>
            <a:off x="6705969" y="3836986"/>
            <a:ext cx="4447472" cy="573087"/>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kumimoji="1" lang="zh-CN" altLang="en-US" sz="2400" dirty="0">
                <a:solidFill>
                  <a:schemeClr val="accent1"/>
                </a:solidFill>
                <a:latin typeface="华文中宋" panose="02010600040101010101" pitchFamily="2" charset="-122"/>
                <a:ea typeface="华文中宋" panose="02010600040101010101" pitchFamily="2" charset="-122"/>
              </a:rPr>
              <a:t>图表，用数据说话</a:t>
            </a:r>
          </a:p>
        </p:txBody>
      </p:sp>
    </p:spTree>
    <p:extLst>
      <p:ext uri="{BB962C8B-B14F-4D97-AF65-F5344CB8AC3E}">
        <p14:creationId xmlns:p14="http://schemas.microsoft.com/office/powerpoint/2010/main" val="205577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6574042-5DEE-B9D8-8091-C1EBE2B1A695}"/>
              </a:ext>
            </a:extLst>
          </p:cNvPr>
          <p:cNvSpPr>
            <a:spLocks noGrp="1"/>
          </p:cNvSpPr>
          <p:nvPr>
            <p:ph type="body" sz="quarter" idx="12"/>
          </p:nvPr>
        </p:nvSpPr>
        <p:spPr>
          <a:xfrm>
            <a:off x="1893569" y="352246"/>
            <a:ext cx="8802687" cy="429531"/>
          </a:xfrm>
        </p:spPr>
        <p:txBody>
          <a:bodyPr>
            <a:normAutofit/>
          </a:bodyPr>
          <a:lstStyle/>
          <a:p>
            <a:r>
              <a:rPr lang="zh-CN" altLang="en-US" dirty="0">
                <a:latin typeface="+mn-lt"/>
                <a:ea typeface="+mn-ea"/>
                <a:cs typeface="+mn-ea"/>
                <a:sym typeface="+mn-lt"/>
              </a:rPr>
              <a:t>认识图表</a:t>
            </a:r>
            <a:endParaRPr lang="en-US" altLang="zh-CN" dirty="0">
              <a:latin typeface="+mn-lt"/>
              <a:ea typeface="+mn-ea"/>
              <a:cs typeface="+mn-ea"/>
              <a:sym typeface="+mn-lt"/>
            </a:endParaRPr>
          </a:p>
        </p:txBody>
      </p:sp>
      <p:pic>
        <p:nvPicPr>
          <p:cNvPr id="4" name="图片 3" descr="图表, 条形图&#10;&#10;描述已自动生成">
            <a:extLst>
              <a:ext uri="{FF2B5EF4-FFF2-40B4-BE49-F238E27FC236}">
                <a16:creationId xmlns:a16="http://schemas.microsoft.com/office/drawing/2014/main" id="{8C6D633A-6AE2-65B1-E41D-F29B60C8F25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817502" y="1107011"/>
            <a:ext cx="1512000" cy="1080000"/>
          </a:xfrm>
          <a:prstGeom prst="rect">
            <a:avLst/>
          </a:prstGeom>
        </p:spPr>
      </p:pic>
      <p:pic>
        <p:nvPicPr>
          <p:cNvPr id="6" name="图片 5" descr="图片包含 图形用户界面&#10;&#10;描述已自动生成">
            <a:extLst>
              <a:ext uri="{FF2B5EF4-FFF2-40B4-BE49-F238E27FC236}">
                <a16:creationId xmlns:a16="http://schemas.microsoft.com/office/drawing/2014/main" id="{E4C13773-1E2C-6D67-A8DE-12BF8F7DF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455084" y="1107011"/>
            <a:ext cx="1512000" cy="1080000"/>
          </a:xfrm>
          <a:prstGeom prst="rect">
            <a:avLst/>
          </a:prstGeom>
        </p:spPr>
      </p:pic>
      <p:pic>
        <p:nvPicPr>
          <p:cNvPr id="8" name="图片 7" descr="图表, 条形图&#10;&#10;描述已自动生成">
            <a:extLst>
              <a:ext uri="{FF2B5EF4-FFF2-40B4-BE49-F238E27FC236}">
                <a16:creationId xmlns:a16="http://schemas.microsoft.com/office/drawing/2014/main" id="{0CA7CF8D-EECF-76EB-0E11-27A1A595F57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92666" y="1107011"/>
            <a:ext cx="1512000" cy="1080000"/>
          </a:xfrm>
          <a:prstGeom prst="rect">
            <a:avLst/>
          </a:prstGeom>
        </p:spPr>
      </p:pic>
      <p:pic>
        <p:nvPicPr>
          <p:cNvPr id="10" name="图片 9" descr="图表, 条形图&#10;&#10;描述已自动生成">
            <a:extLst>
              <a:ext uri="{FF2B5EF4-FFF2-40B4-BE49-F238E27FC236}">
                <a16:creationId xmlns:a16="http://schemas.microsoft.com/office/drawing/2014/main" id="{CE7578F9-BBC2-F22F-E340-87105117AAD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730248" y="1107011"/>
            <a:ext cx="1512000" cy="1080000"/>
          </a:xfrm>
          <a:prstGeom prst="rect">
            <a:avLst/>
          </a:prstGeom>
        </p:spPr>
      </p:pic>
      <p:pic>
        <p:nvPicPr>
          <p:cNvPr id="12" name="图片 11" descr="图表, 条形图&#10;&#10;描述已自动生成">
            <a:extLst>
              <a:ext uri="{FF2B5EF4-FFF2-40B4-BE49-F238E27FC236}">
                <a16:creationId xmlns:a16="http://schemas.microsoft.com/office/drawing/2014/main" id="{BAC3D731-67E1-9B4B-4FFD-4F35757F76D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8367830" y="1107011"/>
            <a:ext cx="1512000" cy="1080000"/>
          </a:xfrm>
          <a:prstGeom prst="rect">
            <a:avLst/>
          </a:prstGeom>
        </p:spPr>
      </p:pic>
      <p:pic>
        <p:nvPicPr>
          <p:cNvPr id="14" name="图片 13" descr="图表, 条形图&#10;&#10;描述已自动生成">
            <a:extLst>
              <a:ext uri="{FF2B5EF4-FFF2-40B4-BE49-F238E27FC236}">
                <a16:creationId xmlns:a16="http://schemas.microsoft.com/office/drawing/2014/main" id="{BE2F9E69-F197-8C40-CD51-34C4B38D955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0005410" y="1107011"/>
            <a:ext cx="1512000" cy="1080000"/>
          </a:xfrm>
          <a:prstGeom prst="rect">
            <a:avLst/>
          </a:prstGeom>
        </p:spPr>
      </p:pic>
      <p:pic>
        <p:nvPicPr>
          <p:cNvPr id="16" name="图片 15" descr="图形用户界面, 应用程序&#10;&#10;描述已自动生成">
            <a:extLst>
              <a:ext uri="{FF2B5EF4-FFF2-40B4-BE49-F238E27FC236}">
                <a16:creationId xmlns:a16="http://schemas.microsoft.com/office/drawing/2014/main" id="{D1CB196E-37C5-BE6A-B5D4-6A12B0AAC662}"/>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817502" y="2397798"/>
            <a:ext cx="1512000" cy="1080000"/>
          </a:xfrm>
          <a:prstGeom prst="rect">
            <a:avLst/>
          </a:prstGeom>
        </p:spPr>
      </p:pic>
      <p:pic>
        <p:nvPicPr>
          <p:cNvPr id="18" name="图片 17" descr="图形用户界面&#10;&#10;描述已自动生成">
            <a:extLst>
              <a:ext uri="{FF2B5EF4-FFF2-40B4-BE49-F238E27FC236}">
                <a16:creationId xmlns:a16="http://schemas.microsoft.com/office/drawing/2014/main" id="{6289E9C4-7441-0870-AAEA-1BE52A588D4F}"/>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3455084" y="2397798"/>
            <a:ext cx="1512000" cy="1080000"/>
          </a:xfrm>
          <a:prstGeom prst="rect">
            <a:avLst/>
          </a:prstGeom>
        </p:spPr>
      </p:pic>
      <p:pic>
        <p:nvPicPr>
          <p:cNvPr id="20" name="图片 19" descr="图表, 树状图&#10;&#10;描述已自动生成">
            <a:extLst>
              <a:ext uri="{FF2B5EF4-FFF2-40B4-BE49-F238E27FC236}">
                <a16:creationId xmlns:a16="http://schemas.microsoft.com/office/drawing/2014/main" id="{E4888B4F-C99C-8349-2597-9E61F592EB78}"/>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5092666" y="2397798"/>
            <a:ext cx="1512000" cy="1080000"/>
          </a:xfrm>
          <a:prstGeom prst="rect">
            <a:avLst/>
          </a:prstGeom>
        </p:spPr>
      </p:pic>
      <p:pic>
        <p:nvPicPr>
          <p:cNvPr id="22" name="图片 21" descr="图片包含 图形用户界面&#10;&#10;描述已自动生成">
            <a:extLst>
              <a:ext uri="{FF2B5EF4-FFF2-40B4-BE49-F238E27FC236}">
                <a16:creationId xmlns:a16="http://schemas.microsoft.com/office/drawing/2014/main" id="{0C29FCD2-F68D-E9A7-8D77-3337E3AC2AAE}"/>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6730248" y="2397798"/>
            <a:ext cx="1512000" cy="1080000"/>
          </a:xfrm>
          <a:prstGeom prst="rect">
            <a:avLst/>
          </a:prstGeom>
        </p:spPr>
      </p:pic>
      <p:pic>
        <p:nvPicPr>
          <p:cNvPr id="24" name="图片 23" descr="图表, 条形图&#10;&#10;描述已自动生成">
            <a:extLst>
              <a:ext uri="{FF2B5EF4-FFF2-40B4-BE49-F238E27FC236}">
                <a16:creationId xmlns:a16="http://schemas.microsoft.com/office/drawing/2014/main" id="{94A4A2D8-1088-3EDA-97D1-2E316DFF0FE3}"/>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8367830" y="2397798"/>
            <a:ext cx="1512000" cy="1080000"/>
          </a:xfrm>
          <a:prstGeom prst="rect">
            <a:avLst/>
          </a:prstGeom>
        </p:spPr>
      </p:pic>
      <p:pic>
        <p:nvPicPr>
          <p:cNvPr id="26" name="图片 25" descr="电脑萤幕的截图&#10;&#10;描述已自动生成">
            <a:extLst>
              <a:ext uri="{FF2B5EF4-FFF2-40B4-BE49-F238E27FC236}">
                <a16:creationId xmlns:a16="http://schemas.microsoft.com/office/drawing/2014/main" id="{99220133-6AA5-0821-59F9-7E7EC5A7F596}"/>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10005410" y="2397798"/>
            <a:ext cx="1512000" cy="1080000"/>
          </a:xfrm>
          <a:prstGeom prst="rect">
            <a:avLst/>
          </a:prstGeom>
        </p:spPr>
      </p:pic>
      <p:pic>
        <p:nvPicPr>
          <p:cNvPr id="28" name="图片 27">
            <a:extLst>
              <a:ext uri="{FF2B5EF4-FFF2-40B4-BE49-F238E27FC236}">
                <a16:creationId xmlns:a16="http://schemas.microsoft.com/office/drawing/2014/main" id="{16FD0B02-8F4C-EE2E-5ACC-61B24AF5414E}"/>
              </a:ext>
            </a:extLst>
          </p:cNvPr>
          <p:cNvPicPr>
            <a:picLocks/>
          </p:cNvPicPr>
          <p:nvPr/>
        </p:nvPicPr>
        <p:blipFill>
          <a:blip r:embed="rId14">
            <a:extLst>
              <a:ext uri="{28A0092B-C50C-407E-A947-70E740481C1C}">
                <a14:useLocalDpi xmlns:a14="http://schemas.microsoft.com/office/drawing/2010/main" val="0"/>
              </a:ext>
            </a:extLst>
          </a:blip>
          <a:srcRect/>
          <a:stretch/>
        </p:blipFill>
        <p:spPr>
          <a:xfrm>
            <a:off x="1817502" y="3688585"/>
            <a:ext cx="1512000" cy="1080000"/>
          </a:xfrm>
          <a:prstGeom prst="rect">
            <a:avLst/>
          </a:prstGeom>
        </p:spPr>
      </p:pic>
      <p:pic>
        <p:nvPicPr>
          <p:cNvPr id="30" name="图片 29">
            <a:extLst>
              <a:ext uri="{FF2B5EF4-FFF2-40B4-BE49-F238E27FC236}">
                <a16:creationId xmlns:a16="http://schemas.microsoft.com/office/drawing/2014/main" id="{365BDA99-510D-EAA7-2D23-03FD594DAFAF}"/>
              </a:ext>
            </a:extLst>
          </p:cNvPr>
          <p:cNvPicPr>
            <a:picLocks/>
          </p:cNvPicPr>
          <p:nvPr/>
        </p:nvPicPr>
        <p:blipFill>
          <a:blip r:embed="rId15">
            <a:extLst>
              <a:ext uri="{28A0092B-C50C-407E-A947-70E740481C1C}">
                <a14:useLocalDpi xmlns:a14="http://schemas.microsoft.com/office/drawing/2010/main" val="0"/>
              </a:ext>
            </a:extLst>
          </a:blip>
          <a:srcRect/>
          <a:stretch/>
        </p:blipFill>
        <p:spPr>
          <a:xfrm>
            <a:off x="3455084" y="3688585"/>
            <a:ext cx="1512000" cy="1080000"/>
          </a:xfrm>
          <a:prstGeom prst="rect">
            <a:avLst/>
          </a:prstGeom>
        </p:spPr>
      </p:pic>
      <p:pic>
        <p:nvPicPr>
          <p:cNvPr id="52" name="图片 51" descr="图示&#10;&#10;描述已自动生成">
            <a:extLst>
              <a:ext uri="{FF2B5EF4-FFF2-40B4-BE49-F238E27FC236}">
                <a16:creationId xmlns:a16="http://schemas.microsoft.com/office/drawing/2014/main" id="{1A056681-BC3C-8B3C-6903-826A4550924D}"/>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5092666" y="3688585"/>
            <a:ext cx="1512000" cy="1080000"/>
          </a:xfrm>
          <a:prstGeom prst="rect">
            <a:avLst/>
          </a:prstGeom>
        </p:spPr>
      </p:pic>
      <p:pic>
        <p:nvPicPr>
          <p:cNvPr id="54" name="图片 53" descr="图示&#10;&#10;描述已自动生成">
            <a:extLst>
              <a:ext uri="{FF2B5EF4-FFF2-40B4-BE49-F238E27FC236}">
                <a16:creationId xmlns:a16="http://schemas.microsoft.com/office/drawing/2014/main" id="{BB26DAAC-F20F-A251-E99E-27195D0047BB}"/>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6730248" y="3688585"/>
            <a:ext cx="1512000" cy="1080000"/>
          </a:xfrm>
          <a:prstGeom prst="rect">
            <a:avLst/>
          </a:prstGeom>
        </p:spPr>
      </p:pic>
      <p:pic>
        <p:nvPicPr>
          <p:cNvPr id="56" name="图片 55" descr="图示&#10;&#10;描述已自动生成">
            <a:extLst>
              <a:ext uri="{FF2B5EF4-FFF2-40B4-BE49-F238E27FC236}">
                <a16:creationId xmlns:a16="http://schemas.microsoft.com/office/drawing/2014/main" id="{D6B2D65E-6633-8C8F-3763-AEFC6A0B4804}"/>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8367830" y="3688585"/>
            <a:ext cx="1512000" cy="1080000"/>
          </a:xfrm>
          <a:prstGeom prst="rect">
            <a:avLst/>
          </a:prstGeom>
        </p:spPr>
      </p:pic>
      <p:pic>
        <p:nvPicPr>
          <p:cNvPr id="58" name="图片 57" descr="图表, 雷达图&#10;&#10;描述已自动生成">
            <a:extLst>
              <a:ext uri="{FF2B5EF4-FFF2-40B4-BE49-F238E27FC236}">
                <a16:creationId xmlns:a16="http://schemas.microsoft.com/office/drawing/2014/main" id="{F434E7A2-F109-BCFB-9E22-A432C13BD69B}"/>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10005410" y="3688585"/>
            <a:ext cx="1512000" cy="1080000"/>
          </a:xfrm>
          <a:prstGeom prst="rect">
            <a:avLst/>
          </a:prstGeom>
        </p:spPr>
      </p:pic>
      <p:pic>
        <p:nvPicPr>
          <p:cNvPr id="60" name="图片 59" descr="图表, 饼图&#10;&#10;描述已自动生成">
            <a:extLst>
              <a:ext uri="{FF2B5EF4-FFF2-40B4-BE49-F238E27FC236}">
                <a16:creationId xmlns:a16="http://schemas.microsoft.com/office/drawing/2014/main" id="{D18ED83E-F9A1-EF11-073F-680484CF6D44}"/>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1817502" y="4979372"/>
            <a:ext cx="1512000" cy="1080000"/>
          </a:xfrm>
          <a:prstGeom prst="rect">
            <a:avLst/>
          </a:prstGeom>
        </p:spPr>
      </p:pic>
      <p:pic>
        <p:nvPicPr>
          <p:cNvPr id="62" name="图片 61" descr="图表&#10;&#10;描述已自动生成">
            <a:extLst>
              <a:ext uri="{FF2B5EF4-FFF2-40B4-BE49-F238E27FC236}">
                <a16:creationId xmlns:a16="http://schemas.microsoft.com/office/drawing/2014/main" id="{0E9CE0C7-6E9C-FD1F-E8D4-F9199017389D}"/>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3455084" y="4979372"/>
            <a:ext cx="1512000" cy="1080000"/>
          </a:xfrm>
          <a:prstGeom prst="rect">
            <a:avLst/>
          </a:prstGeom>
        </p:spPr>
      </p:pic>
      <p:pic>
        <p:nvPicPr>
          <p:cNvPr id="64" name="图片 63" descr="手机屏幕的截图&#10;&#10;描述已自动生成">
            <a:extLst>
              <a:ext uri="{FF2B5EF4-FFF2-40B4-BE49-F238E27FC236}">
                <a16:creationId xmlns:a16="http://schemas.microsoft.com/office/drawing/2014/main" id="{0637AFD0-73B8-C7CF-05A9-F2CB19531805}"/>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5092666" y="4979372"/>
            <a:ext cx="1512000" cy="1080000"/>
          </a:xfrm>
          <a:prstGeom prst="rect">
            <a:avLst/>
          </a:prstGeom>
        </p:spPr>
      </p:pic>
      <p:pic>
        <p:nvPicPr>
          <p:cNvPr id="66" name="图片 65" descr="图表, 图示&#10;&#10;中度可信度描述已自动生成">
            <a:extLst>
              <a:ext uri="{FF2B5EF4-FFF2-40B4-BE49-F238E27FC236}">
                <a16:creationId xmlns:a16="http://schemas.microsoft.com/office/drawing/2014/main" id="{D4391E78-199C-9FBE-A413-423DDB8C4DC3}"/>
              </a:ext>
            </a:extLst>
          </p:cNvPr>
          <p:cNvPicPr>
            <a:picLocks/>
          </p:cNvPicPr>
          <p:nvPr/>
        </p:nvPicPr>
        <p:blipFill>
          <a:blip r:embed="rId23">
            <a:extLst>
              <a:ext uri="{28A0092B-C50C-407E-A947-70E740481C1C}">
                <a14:useLocalDpi xmlns:a14="http://schemas.microsoft.com/office/drawing/2010/main" val="0"/>
              </a:ext>
            </a:extLst>
          </a:blip>
          <a:stretch>
            <a:fillRect/>
          </a:stretch>
        </p:blipFill>
        <p:spPr>
          <a:xfrm>
            <a:off x="6730248" y="4979372"/>
            <a:ext cx="1512000" cy="1080000"/>
          </a:xfrm>
          <a:prstGeom prst="rect">
            <a:avLst/>
          </a:prstGeom>
        </p:spPr>
      </p:pic>
      <p:pic>
        <p:nvPicPr>
          <p:cNvPr id="68" name="图片 67" descr="图片包含 图表&#10;&#10;描述已自动生成">
            <a:extLst>
              <a:ext uri="{FF2B5EF4-FFF2-40B4-BE49-F238E27FC236}">
                <a16:creationId xmlns:a16="http://schemas.microsoft.com/office/drawing/2014/main" id="{087CA7CA-10F4-27F1-8324-A7B2518DFF3B}"/>
              </a:ext>
            </a:extLst>
          </p:cNvPr>
          <p:cNvPicPr>
            <a:picLocks/>
          </p:cNvPicPr>
          <p:nvPr/>
        </p:nvPicPr>
        <p:blipFill>
          <a:blip r:embed="rId24">
            <a:extLst>
              <a:ext uri="{28A0092B-C50C-407E-A947-70E740481C1C}">
                <a14:useLocalDpi xmlns:a14="http://schemas.microsoft.com/office/drawing/2010/main" val="0"/>
              </a:ext>
            </a:extLst>
          </a:blip>
          <a:stretch>
            <a:fillRect/>
          </a:stretch>
        </p:blipFill>
        <p:spPr>
          <a:xfrm>
            <a:off x="8367830" y="4979372"/>
            <a:ext cx="1512000" cy="1080000"/>
          </a:xfrm>
          <a:prstGeom prst="rect">
            <a:avLst/>
          </a:prstGeom>
        </p:spPr>
      </p:pic>
      <p:pic>
        <p:nvPicPr>
          <p:cNvPr id="70" name="图片 69" descr="图表, 旭日形&#10;&#10;描述已自动生成">
            <a:extLst>
              <a:ext uri="{FF2B5EF4-FFF2-40B4-BE49-F238E27FC236}">
                <a16:creationId xmlns:a16="http://schemas.microsoft.com/office/drawing/2014/main" id="{E9DE18E8-7330-1259-8AFE-13B756600EDD}"/>
              </a:ext>
            </a:extLst>
          </p:cNvPr>
          <p:cNvPicPr>
            <a:picLocks/>
          </p:cNvPicPr>
          <p:nvPr/>
        </p:nvPicPr>
        <p:blipFill>
          <a:blip r:embed="rId25">
            <a:extLst>
              <a:ext uri="{28A0092B-C50C-407E-A947-70E740481C1C}">
                <a14:useLocalDpi xmlns:a14="http://schemas.microsoft.com/office/drawing/2010/main" val="0"/>
              </a:ext>
            </a:extLst>
          </a:blip>
          <a:stretch>
            <a:fillRect/>
          </a:stretch>
        </p:blipFill>
        <p:spPr>
          <a:xfrm>
            <a:off x="10005410" y="4979372"/>
            <a:ext cx="1512000" cy="1080000"/>
          </a:xfrm>
          <a:prstGeom prst="rect">
            <a:avLst/>
          </a:prstGeom>
        </p:spPr>
      </p:pic>
    </p:spTree>
    <p:extLst>
      <p:ext uri="{BB962C8B-B14F-4D97-AF65-F5344CB8AC3E}">
        <p14:creationId xmlns:p14="http://schemas.microsoft.com/office/powerpoint/2010/main" val="4134895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认识图表</a:t>
            </a:r>
            <a:endParaRPr lang="en-US" dirty="0">
              <a:latin typeface="+mn-lt"/>
              <a:ea typeface="+mn-ea"/>
              <a:cs typeface="+mn-ea"/>
              <a:sym typeface="+mn-lt"/>
            </a:endParaRPr>
          </a:p>
        </p:txBody>
      </p:sp>
      <p:sp>
        <p:nvSpPr>
          <p:cNvPr id="20" name="文本框 19">
            <a:extLst>
              <a:ext uri="{FF2B5EF4-FFF2-40B4-BE49-F238E27FC236}">
                <a16:creationId xmlns:a16="http://schemas.microsoft.com/office/drawing/2014/main" id="{16D0748A-C2A3-EF92-2839-51BDCC0B0A8D}"/>
              </a:ext>
            </a:extLst>
          </p:cNvPr>
          <p:cNvSpPr txBox="1"/>
          <p:nvPr/>
        </p:nvSpPr>
        <p:spPr>
          <a:xfrm>
            <a:off x="1893569" y="1152425"/>
            <a:ext cx="9535408" cy="562783"/>
          </a:xfrm>
          <a:prstGeom prst="rect">
            <a:avLst/>
          </a:prstGeom>
          <a:noFill/>
        </p:spPr>
        <p:txBody>
          <a:bodyPr wrap="square">
            <a:spAutoFit/>
          </a:bodyPr>
          <a:lstStyle/>
          <a:p>
            <a:pPr>
              <a:lnSpc>
                <a:spcPct val="200000"/>
              </a:lnSpc>
            </a:pPr>
            <a:r>
              <a:rPr lang="en-US" altLang="zh-CN" b="1" i="0" dirty="0">
                <a:solidFill>
                  <a:schemeClr val="accent1"/>
                </a:solidFill>
                <a:effectLst/>
                <a:latin typeface="+mn-ea"/>
              </a:rPr>
              <a:t>Excel</a:t>
            </a:r>
            <a:r>
              <a:rPr lang="zh-CN" altLang="en-US" b="1" i="0" dirty="0">
                <a:solidFill>
                  <a:schemeClr val="accent1"/>
                </a:solidFill>
                <a:effectLst/>
                <a:latin typeface="+mn-ea"/>
              </a:rPr>
              <a:t>图表是将数据以图形的形式展示出来，帮助用户更直观地理解和分析数据</a:t>
            </a:r>
            <a:endParaRPr lang="en-US" altLang="zh-CN" b="1" dirty="0">
              <a:solidFill>
                <a:schemeClr val="accent1"/>
              </a:solidFill>
              <a:latin typeface="+mn-ea"/>
            </a:endParaRPr>
          </a:p>
        </p:txBody>
      </p:sp>
      <p:grpSp>
        <p:nvGrpSpPr>
          <p:cNvPr id="2" name="Group 2">
            <a:extLst>
              <a:ext uri="{FF2B5EF4-FFF2-40B4-BE49-F238E27FC236}">
                <a16:creationId xmlns:a16="http://schemas.microsoft.com/office/drawing/2014/main" id="{1BDCC456-B598-886C-F04A-A38AA86DEE70}"/>
              </a:ext>
            </a:extLst>
          </p:cNvPr>
          <p:cNvGrpSpPr/>
          <p:nvPr/>
        </p:nvGrpSpPr>
        <p:grpSpPr>
          <a:xfrm>
            <a:off x="2077894" y="2697244"/>
            <a:ext cx="2581806" cy="2639730"/>
            <a:chOff x="840035" y="934644"/>
            <a:chExt cx="3098167" cy="3167676"/>
          </a:xfrm>
        </p:grpSpPr>
        <p:grpSp>
          <p:nvGrpSpPr>
            <p:cNvPr id="4" name="Group 2672">
              <a:extLst>
                <a:ext uri="{FF2B5EF4-FFF2-40B4-BE49-F238E27FC236}">
                  <a16:creationId xmlns:a16="http://schemas.microsoft.com/office/drawing/2014/main" id="{A6229675-D513-D852-03E1-DF0052F5D991}"/>
                </a:ext>
              </a:extLst>
            </p:cNvPr>
            <p:cNvGrpSpPr/>
            <p:nvPr/>
          </p:nvGrpSpPr>
          <p:grpSpPr>
            <a:xfrm>
              <a:off x="840035" y="934644"/>
              <a:ext cx="3098167" cy="3167676"/>
              <a:chOff x="0" y="1768375"/>
              <a:chExt cx="5511020" cy="5634664"/>
            </a:xfrm>
          </p:grpSpPr>
          <p:sp>
            <p:nvSpPr>
              <p:cNvPr id="9" name="Shape 2662">
                <a:extLst>
                  <a:ext uri="{FF2B5EF4-FFF2-40B4-BE49-F238E27FC236}">
                    <a16:creationId xmlns:a16="http://schemas.microsoft.com/office/drawing/2014/main" id="{143B330C-AB93-14FB-E594-F499D9B62821}"/>
                  </a:ext>
                </a:extLst>
              </p:cNvPr>
              <p:cNvSpPr/>
              <p:nvPr/>
            </p:nvSpPr>
            <p:spPr>
              <a:xfrm>
                <a:off x="0" y="2092586"/>
                <a:ext cx="5511020" cy="5310453"/>
              </a:xfrm>
              <a:prstGeom prst="roundRect">
                <a:avLst>
                  <a:gd name="adj" fmla="val 5907"/>
                </a:avLst>
              </a:prstGeom>
              <a:solidFill>
                <a:srgbClr val="FFFFFF"/>
              </a:solidFill>
              <a:ln w="12700" cap="flat">
                <a:noFill/>
                <a:miter lim="400000"/>
              </a:ln>
              <a:effectLst>
                <a:outerShdw blurRad="190500" dist="127000" dir="5400000" rotWithShape="0">
                  <a:srgbClr val="000000">
                    <a:alpha val="20000"/>
                  </a:srgbClr>
                </a:outerShdw>
              </a:effectLst>
            </p:spPr>
            <p:txBody>
              <a:bodyPr wrap="square" lIns="0" tIns="0" rIns="0" bIns="0" numCol="1" anchor="ctr">
                <a:noAutofit/>
              </a:bodyPr>
              <a:lstStyle/>
              <a:p>
                <a:pPr defTabSz="761970">
                  <a:defRPr sz="3200"/>
                </a:pPr>
                <a:endParaRPr sz="3556" dirty="0">
                  <a:solidFill>
                    <a:prstClr val="black"/>
                  </a:solidFill>
                  <a:cs typeface="+mn-ea"/>
                  <a:sym typeface="+mn-lt"/>
                </a:endParaRPr>
              </a:p>
            </p:txBody>
          </p:sp>
          <p:sp>
            <p:nvSpPr>
              <p:cNvPr id="16" name="Shape 2666">
                <a:extLst>
                  <a:ext uri="{FF2B5EF4-FFF2-40B4-BE49-F238E27FC236}">
                    <a16:creationId xmlns:a16="http://schemas.microsoft.com/office/drawing/2014/main" id="{746253D2-C857-D462-8491-D1899EFC55B8}"/>
                  </a:ext>
                </a:extLst>
              </p:cNvPr>
              <p:cNvSpPr/>
              <p:nvPr/>
            </p:nvSpPr>
            <p:spPr>
              <a:xfrm>
                <a:off x="2487682" y="1768375"/>
                <a:ext cx="586009" cy="62551"/>
              </a:xfrm>
              <a:custGeom>
                <a:avLst/>
                <a:gdLst/>
                <a:ahLst/>
                <a:cxnLst>
                  <a:cxn ang="0">
                    <a:pos x="wd2" y="hd2"/>
                  </a:cxn>
                  <a:cxn ang="5400000">
                    <a:pos x="wd2" y="hd2"/>
                  </a:cxn>
                  <a:cxn ang="10800000">
                    <a:pos x="wd2" y="hd2"/>
                  </a:cxn>
                  <a:cxn ang="16200000">
                    <a:pos x="wd2" y="hd2"/>
                  </a:cxn>
                </a:cxnLst>
                <a:rect l="0" t="0" r="r" b="b"/>
                <a:pathLst>
                  <a:path w="21600" h="21600" extrusionOk="0">
                    <a:moveTo>
                      <a:pt x="0" y="907"/>
                    </a:moveTo>
                    <a:lnTo>
                      <a:pt x="80" y="21600"/>
                    </a:lnTo>
                    <a:lnTo>
                      <a:pt x="21600" y="0"/>
                    </a:lnTo>
                    <a:cubicBezTo>
                      <a:pt x="21600" y="0"/>
                      <a:pt x="0" y="907"/>
                      <a:pt x="0" y="907"/>
                    </a:cubicBezTo>
                    <a:close/>
                  </a:path>
                </a:pathLst>
              </a:custGeom>
              <a:solidFill>
                <a:srgbClr val="41474D"/>
              </a:solidFill>
              <a:ln w="12700" cap="flat">
                <a:noFill/>
                <a:miter lim="400000"/>
              </a:ln>
              <a:effectLst/>
            </p:spPr>
            <p:txBody>
              <a:bodyPr wrap="square" lIns="42333" tIns="42333" rIns="42333" bIns="42333" numCol="1" anchor="ctr">
                <a:noAutofit/>
              </a:bodyPr>
              <a:lstStyle/>
              <a:p>
                <a:pPr defTabSz="190487">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333" dirty="0">
                  <a:solidFill>
                    <a:srgbClr val="FFFFFF"/>
                  </a:solidFill>
                  <a:effectLst>
                    <a:outerShdw blurRad="38100" dist="12700" dir="5400000" rotWithShape="0">
                      <a:srgbClr val="000000">
                        <a:alpha val="50000"/>
                      </a:srgbClr>
                    </a:outerShdw>
                  </a:effectLst>
                  <a:cs typeface="+mn-ea"/>
                  <a:sym typeface="+mn-lt"/>
                </a:endParaRPr>
              </a:p>
            </p:txBody>
          </p:sp>
        </p:grpSp>
        <p:grpSp>
          <p:nvGrpSpPr>
            <p:cNvPr id="5" name="Group 99">
              <a:extLst>
                <a:ext uri="{FF2B5EF4-FFF2-40B4-BE49-F238E27FC236}">
                  <a16:creationId xmlns:a16="http://schemas.microsoft.com/office/drawing/2014/main" id="{4C6CC10F-4933-8DA4-7822-967C493083A2}"/>
                </a:ext>
              </a:extLst>
            </p:cNvPr>
            <p:cNvGrpSpPr/>
            <p:nvPr/>
          </p:nvGrpSpPr>
          <p:grpSpPr>
            <a:xfrm>
              <a:off x="1360919" y="1486824"/>
              <a:ext cx="2049237" cy="2135587"/>
              <a:chOff x="680774" y="743265"/>
              <a:chExt cx="2049237" cy="2135587"/>
            </a:xfrm>
          </p:grpSpPr>
          <p:sp>
            <p:nvSpPr>
              <p:cNvPr id="6" name="TextBox 100">
                <a:extLst>
                  <a:ext uri="{FF2B5EF4-FFF2-40B4-BE49-F238E27FC236}">
                    <a16:creationId xmlns:a16="http://schemas.microsoft.com/office/drawing/2014/main" id="{D4D5CAF8-8CC9-92D0-82F7-6ACA604D815E}"/>
                  </a:ext>
                </a:extLst>
              </p:cNvPr>
              <p:cNvSpPr txBox="1"/>
              <p:nvPr/>
            </p:nvSpPr>
            <p:spPr>
              <a:xfrm>
                <a:off x="1299080" y="743265"/>
                <a:ext cx="684803" cy="738664"/>
              </a:xfrm>
              <a:prstGeom prst="rect">
                <a:avLst/>
              </a:prstGeom>
              <a:noFill/>
            </p:spPr>
            <p:txBody>
              <a:bodyPr wrap="none" lIns="0" tIns="0" rIns="0" bIns="0" rtlCol="0">
                <a:spAutoFit/>
              </a:bodyPr>
              <a:lstStyle/>
              <a:p>
                <a:pPr algn="ctr" defTabSz="761970"/>
                <a:r>
                  <a:rPr lang="en-US" sz="4000" dirty="0">
                    <a:solidFill>
                      <a:schemeClr val="accent1"/>
                    </a:solidFill>
                    <a:cs typeface="+mn-ea"/>
                    <a:sym typeface="+mn-lt"/>
                  </a:rPr>
                  <a:t>01</a:t>
                </a:r>
              </a:p>
            </p:txBody>
          </p:sp>
          <p:sp>
            <p:nvSpPr>
              <p:cNvPr id="7" name="TextBox 101">
                <a:extLst>
                  <a:ext uri="{FF2B5EF4-FFF2-40B4-BE49-F238E27FC236}">
                    <a16:creationId xmlns:a16="http://schemas.microsoft.com/office/drawing/2014/main" id="{7C609910-A093-FE91-9ECF-4C5C48BCD021}"/>
                  </a:ext>
                </a:extLst>
              </p:cNvPr>
              <p:cNvSpPr txBox="1"/>
              <p:nvPr/>
            </p:nvSpPr>
            <p:spPr>
              <a:xfrm>
                <a:off x="1134903" y="1503028"/>
                <a:ext cx="1077218" cy="258533"/>
              </a:xfrm>
              <a:prstGeom prst="rect">
                <a:avLst/>
              </a:prstGeom>
              <a:noFill/>
            </p:spPr>
            <p:txBody>
              <a:bodyPr wrap="none" lIns="0" tIns="0" rIns="0" bIns="0" rtlCol="0">
                <a:spAutoFit/>
              </a:bodyPr>
              <a:lstStyle/>
              <a:p>
                <a:pPr defTabSz="761970"/>
                <a:r>
                  <a:rPr lang="zh-CN" altLang="en-US" sz="1400" b="1" dirty="0">
                    <a:solidFill>
                      <a:schemeClr val="accent1"/>
                    </a:solidFill>
                    <a:cs typeface="+mn-ea"/>
                    <a:sym typeface="+mn-lt"/>
                  </a:rPr>
                  <a:t>可视化数据</a:t>
                </a:r>
                <a:endParaRPr lang="en-US" sz="1400" b="1" dirty="0">
                  <a:solidFill>
                    <a:schemeClr val="accent1"/>
                  </a:solidFill>
                  <a:cs typeface="+mn-ea"/>
                  <a:sym typeface="+mn-lt"/>
                </a:endParaRPr>
              </a:p>
            </p:txBody>
          </p:sp>
          <p:sp>
            <p:nvSpPr>
              <p:cNvPr id="8" name="TextBox 102">
                <a:extLst>
                  <a:ext uri="{FF2B5EF4-FFF2-40B4-BE49-F238E27FC236}">
                    <a16:creationId xmlns:a16="http://schemas.microsoft.com/office/drawing/2014/main" id="{367B292F-EAA9-7AEA-D42A-F337C1D8F04A}"/>
                  </a:ext>
                </a:extLst>
              </p:cNvPr>
              <p:cNvSpPr txBox="1"/>
              <p:nvPr/>
            </p:nvSpPr>
            <p:spPr>
              <a:xfrm flipH="1">
                <a:off x="680774" y="1931746"/>
                <a:ext cx="2049237" cy="947106"/>
              </a:xfrm>
              <a:prstGeom prst="rect">
                <a:avLst/>
              </a:prstGeom>
              <a:noFill/>
            </p:spPr>
            <p:txBody>
              <a:bodyPr wrap="square" lIns="0" tIns="0" rIns="0" bIns="0" rtlCol="0">
                <a:spAutoFit/>
              </a:bodyPr>
              <a:lstStyle/>
              <a:p>
                <a:pPr algn="ctr" defTabSz="761970">
                  <a:lnSpc>
                    <a:spcPct val="125000"/>
                  </a:lnSpc>
                </a:pPr>
                <a:r>
                  <a:rPr lang="zh-CN" altLang="en-US" sz="1050" dirty="0">
                    <a:solidFill>
                      <a:schemeClr val="tx1">
                        <a:lumMod val="95000"/>
                        <a:lumOff val="5000"/>
                      </a:schemeClr>
                    </a:solidFill>
                    <a:latin typeface="+mn-ea"/>
                  </a:rPr>
                  <a:t>图表将冗长的数据转化为直观的图形，使得数据更易于理解和比较，从而更好地洞察数据背后的含义</a:t>
                </a:r>
                <a:endParaRPr lang="en-US" altLang="zh-CN" sz="1050" dirty="0">
                  <a:solidFill>
                    <a:schemeClr val="tx1">
                      <a:lumMod val="95000"/>
                      <a:lumOff val="5000"/>
                    </a:schemeClr>
                  </a:solidFill>
                  <a:cs typeface="+mn-ea"/>
                  <a:sym typeface="+mn-lt"/>
                </a:endParaRPr>
              </a:p>
            </p:txBody>
          </p:sp>
        </p:grpSp>
      </p:grpSp>
      <p:grpSp>
        <p:nvGrpSpPr>
          <p:cNvPr id="19" name="Group 3">
            <a:extLst>
              <a:ext uri="{FF2B5EF4-FFF2-40B4-BE49-F238E27FC236}">
                <a16:creationId xmlns:a16="http://schemas.microsoft.com/office/drawing/2014/main" id="{411638ED-7817-6D9E-BFCE-44A93817A8A5}"/>
              </a:ext>
            </a:extLst>
          </p:cNvPr>
          <p:cNvGrpSpPr/>
          <p:nvPr/>
        </p:nvGrpSpPr>
        <p:grpSpPr>
          <a:xfrm>
            <a:off x="5366220" y="2849131"/>
            <a:ext cx="2581806" cy="2487842"/>
            <a:chOff x="4546247" y="1140255"/>
            <a:chExt cx="3098166" cy="2985411"/>
          </a:xfrm>
        </p:grpSpPr>
        <p:sp>
          <p:nvSpPr>
            <p:cNvPr id="26" name="Shape 2673">
              <a:extLst>
                <a:ext uri="{FF2B5EF4-FFF2-40B4-BE49-F238E27FC236}">
                  <a16:creationId xmlns:a16="http://schemas.microsoft.com/office/drawing/2014/main" id="{C2FE548D-FC7E-C6F9-85CE-31FA308D0BD8}"/>
                </a:ext>
              </a:extLst>
            </p:cNvPr>
            <p:cNvSpPr/>
            <p:nvPr/>
          </p:nvSpPr>
          <p:spPr>
            <a:xfrm>
              <a:off x="4546247" y="1140255"/>
              <a:ext cx="3098166" cy="2985411"/>
            </a:xfrm>
            <a:prstGeom prst="roundRect">
              <a:avLst>
                <a:gd name="adj" fmla="val 5907"/>
              </a:avLst>
            </a:prstGeom>
            <a:solidFill>
              <a:srgbClr val="FFFFFF"/>
            </a:solidFill>
            <a:ln w="12700" cap="flat">
              <a:noFill/>
              <a:miter lim="400000"/>
            </a:ln>
            <a:effectLst>
              <a:outerShdw blurRad="190500" dist="127000" dir="5400000" rotWithShape="0">
                <a:srgbClr val="000000">
                  <a:alpha val="20000"/>
                </a:srgbClr>
              </a:outerShdw>
            </a:effectLst>
          </p:spPr>
          <p:txBody>
            <a:bodyPr wrap="square" lIns="0" tIns="0" rIns="0" bIns="0" numCol="1" anchor="ctr">
              <a:noAutofit/>
            </a:bodyPr>
            <a:lstStyle/>
            <a:p>
              <a:pPr defTabSz="761970">
                <a:defRPr sz="3200"/>
              </a:pPr>
              <a:endParaRPr sz="3556" dirty="0">
                <a:solidFill>
                  <a:prstClr val="black"/>
                </a:solidFill>
                <a:cs typeface="+mn-ea"/>
                <a:sym typeface="+mn-lt"/>
              </a:endParaRPr>
            </a:p>
          </p:txBody>
        </p:sp>
        <p:grpSp>
          <p:nvGrpSpPr>
            <p:cNvPr id="22" name="Group 103">
              <a:extLst>
                <a:ext uri="{FF2B5EF4-FFF2-40B4-BE49-F238E27FC236}">
                  <a16:creationId xmlns:a16="http://schemas.microsoft.com/office/drawing/2014/main" id="{2813E680-D511-2B01-1E0F-0D72000A6F60}"/>
                </a:ext>
              </a:extLst>
            </p:cNvPr>
            <p:cNvGrpSpPr/>
            <p:nvPr/>
          </p:nvGrpSpPr>
          <p:grpSpPr>
            <a:xfrm>
              <a:off x="4884888" y="1535330"/>
              <a:ext cx="2593154" cy="2287112"/>
              <a:chOff x="544276" y="805185"/>
              <a:chExt cx="2593154" cy="2287112"/>
            </a:xfrm>
          </p:grpSpPr>
          <p:sp>
            <p:nvSpPr>
              <p:cNvPr id="23" name="TextBox 104">
                <a:extLst>
                  <a:ext uri="{FF2B5EF4-FFF2-40B4-BE49-F238E27FC236}">
                    <a16:creationId xmlns:a16="http://schemas.microsoft.com/office/drawing/2014/main" id="{0C5740A2-4507-1CF4-FF89-2B452AFCAE04}"/>
                  </a:ext>
                </a:extLst>
              </p:cNvPr>
              <p:cNvSpPr txBox="1"/>
              <p:nvPr/>
            </p:nvSpPr>
            <p:spPr>
              <a:xfrm>
                <a:off x="1393369" y="805185"/>
                <a:ext cx="684804" cy="738663"/>
              </a:xfrm>
              <a:prstGeom prst="rect">
                <a:avLst/>
              </a:prstGeom>
              <a:noFill/>
            </p:spPr>
            <p:txBody>
              <a:bodyPr wrap="none" lIns="0" tIns="0" rIns="0" bIns="0" rtlCol="0">
                <a:spAutoFit/>
              </a:bodyPr>
              <a:lstStyle/>
              <a:p>
                <a:pPr algn="ctr" defTabSz="761970"/>
                <a:r>
                  <a:rPr lang="en-US" sz="4000" dirty="0">
                    <a:solidFill>
                      <a:schemeClr val="accent2"/>
                    </a:solidFill>
                    <a:cs typeface="+mn-ea"/>
                    <a:sym typeface="+mn-lt"/>
                  </a:rPr>
                  <a:t>02</a:t>
                </a:r>
              </a:p>
            </p:txBody>
          </p:sp>
          <p:sp>
            <p:nvSpPr>
              <p:cNvPr id="24" name="TextBox 105">
                <a:extLst>
                  <a:ext uri="{FF2B5EF4-FFF2-40B4-BE49-F238E27FC236}">
                    <a16:creationId xmlns:a16="http://schemas.microsoft.com/office/drawing/2014/main" id="{C3C6D873-30E3-DD8B-E632-CEA39FEA7D29}"/>
                  </a:ext>
                </a:extLst>
              </p:cNvPr>
              <p:cNvSpPr txBox="1"/>
              <p:nvPr/>
            </p:nvSpPr>
            <p:spPr>
              <a:xfrm>
                <a:off x="563650" y="1554090"/>
                <a:ext cx="2573780" cy="258533"/>
              </a:xfrm>
              <a:prstGeom prst="rect">
                <a:avLst/>
              </a:prstGeom>
              <a:noFill/>
            </p:spPr>
            <p:txBody>
              <a:bodyPr wrap="none" lIns="0" tIns="0" rIns="0" bIns="0" rtlCol="0">
                <a:spAutoFit/>
              </a:bodyPr>
              <a:lstStyle/>
              <a:p>
                <a:pPr defTabSz="761970"/>
                <a:r>
                  <a:rPr lang="zh-CN" altLang="en-US" sz="1400" b="1" dirty="0">
                    <a:solidFill>
                      <a:schemeClr val="accent2"/>
                    </a:solidFill>
                    <a:latin typeface="+mn-ea"/>
                  </a:rPr>
                  <a:t>发现模式</a:t>
                </a:r>
                <a:r>
                  <a:rPr lang="en-US" altLang="zh-CN" sz="1400" b="1" dirty="0">
                    <a:solidFill>
                      <a:schemeClr val="accent2"/>
                    </a:solidFill>
                    <a:latin typeface="+mn-ea"/>
                  </a:rPr>
                  <a:t>/</a:t>
                </a:r>
                <a:r>
                  <a:rPr lang="zh-CN" altLang="en-US" sz="1400" b="1" dirty="0">
                    <a:solidFill>
                      <a:schemeClr val="accent2"/>
                    </a:solidFill>
                    <a:latin typeface="+mn-ea"/>
                  </a:rPr>
                  <a:t>趋势</a:t>
                </a:r>
                <a:r>
                  <a:rPr lang="en-US" altLang="zh-CN" sz="1400" b="1" dirty="0">
                    <a:solidFill>
                      <a:schemeClr val="accent2"/>
                    </a:solidFill>
                    <a:latin typeface="+mn-ea"/>
                  </a:rPr>
                  <a:t>/</a:t>
                </a:r>
                <a:r>
                  <a:rPr lang="zh-CN" altLang="en-US" sz="1400" b="1" dirty="0">
                    <a:solidFill>
                      <a:schemeClr val="accent2"/>
                    </a:solidFill>
                    <a:latin typeface="+mn-ea"/>
                  </a:rPr>
                  <a:t>比较和对比</a:t>
                </a:r>
                <a:endParaRPr lang="en-US" sz="1400" b="1" dirty="0">
                  <a:solidFill>
                    <a:schemeClr val="accent2"/>
                  </a:solidFill>
                  <a:cs typeface="+mn-ea"/>
                  <a:sym typeface="+mn-lt"/>
                </a:endParaRPr>
              </a:p>
            </p:txBody>
          </p:sp>
          <p:sp>
            <p:nvSpPr>
              <p:cNvPr id="25" name="TextBox 106">
                <a:extLst>
                  <a:ext uri="{FF2B5EF4-FFF2-40B4-BE49-F238E27FC236}">
                    <a16:creationId xmlns:a16="http://schemas.microsoft.com/office/drawing/2014/main" id="{B1F7A68C-AEAD-DE49-7DD4-9DA76BC78D86}"/>
                  </a:ext>
                </a:extLst>
              </p:cNvPr>
              <p:cNvSpPr txBox="1"/>
              <p:nvPr/>
            </p:nvSpPr>
            <p:spPr>
              <a:xfrm flipH="1">
                <a:off x="544276" y="1902817"/>
                <a:ext cx="2446111" cy="1189480"/>
              </a:xfrm>
              <a:prstGeom prst="rect">
                <a:avLst/>
              </a:prstGeom>
              <a:noFill/>
            </p:spPr>
            <p:txBody>
              <a:bodyPr wrap="square" lIns="0" tIns="0" rIns="0" bIns="0" rtlCol="0">
                <a:spAutoFit/>
              </a:bodyPr>
              <a:lstStyle/>
              <a:p>
                <a:pPr algn="ctr" defTabSz="761970">
                  <a:lnSpc>
                    <a:spcPct val="125000"/>
                  </a:lnSpc>
                </a:pPr>
                <a:r>
                  <a:rPr lang="zh-CN" altLang="en-US" sz="1050" dirty="0">
                    <a:solidFill>
                      <a:schemeClr val="tx1">
                        <a:lumMod val="95000"/>
                        <a:lumOff val="5000"/>
                      </a:schemeClr>
                    </a:solidFill>
                    <a:cs typeface="+mn-ea"/>
                    <a:sym typeface="+mn-lt"/>
                  </a:rPr>
                  <a:t>图表可以帮助我们发现数据中的模式、趋势和异常值。通过观察图表中的线条、柱状或饼块的变化，快速识别出数据中的规律，并基于发现进行进一步分析和推断。</a:t>
                </a:r>
              </a:p>
            </p:txBody>
          </p:sp>
        </p:grpSp>
      </p:grpSp>
      <p:grpSp>
        <p:nvGrpSpPr>
          <p:cNvPr id="36" name="Group 4">
            <a:extLst>
              <a:ext uri="{FF2B5EF4-FFF2-40B4-BE49-F238E27FC236}">
                <a16:creationId xmlns:a16="http://schemas.microsoft.com/office/drawing/2014/main" id="{1EBB125D-B5C6-BBC5-399D-2891AABD850F}"/>
              </a:ext>
            </a:extLst>
          </p:cNvPr>
          <p:cNvGrpSpPr/>
          <p:nvPr/>
        </p:nvGrpSpPr>
        <p:grpSpPr>
          <a:xfrm>
            <a:off x="8802257" y="2831576"/>
            <a:ext cx="2581806" cy="2487842"/>
            <a:chOff x="8252459" y="1176404"/>
            <a:chExt cx="3098167" cy="2985412"/>
          </a:xfrm>
        </p:grpSpPr>
        <p:sp>
          <p:nvSpPr>
            <p:cNvPr id="42" name="Shape 2684">
              <a:extLst>
                <a:ext uri="{FF2B5EF4-FFF2-40B4-BE49-F238E27FC236}">
                  <a16:creationId xmlns:a16="http://schemas.microsoft.com/office/drawing/2014/main" id="{7BC49516-4D79-C30F-BECF-7A5292E7C7ED}"/>
                </a:ext>
              </a:extLst>
            </p:cNvPr>
            <p:cNvSpPr/>
            <p:nvPr/>
          </p:nvSpPr>
          <p:spPr>
            <a:xfrm>
              <a:off x="8252459" y="1176404"/>
              <a:ext cx="3098167" cy="2985412"/>
            </a:xfrm>
            <a:prstGeom prst="roundRect">
              <a:avLst>
                <a:gd name="adj" fmla="val 5907"/>
              </a:avLst>
            </a:prstGeom>
            <a:solidFill>
              <a:srgbClr val="FFFFFF"/>
            </a:solidFill>
            <a:ln w="12700" cap="flat">
              <a:noFill/>
              <a:miter lim="400000"/>
            </a:ln>
            <a:effectLst>
              <a:outerShdw blurRad="190500" dist="127000" dir="5400000" rotWithShape="0">
                <a:srgbClr val="000000">
                  <a:alpha val="20000"/>
                </a:srgbClr>
              </a:outerShdw>
            </a:effectLst>
          </p:spPr>
          <p:txBody>
            <a:bodyPr wrap="square" lIns="0" tIns="0" rIns="0" bIns="0" numCol="1" anchor="ctr">
              <a:noAutofit/>
            </a:bodyPr>
            <a:lstStyle/>
            <a:p>
              <a:pPr defTabSz="761970">
                <a:defRPr sz="3200"/>
              </a:pPr>
              <a:endParaRPr sz="3556" dirty="0">
                <a:solidFill>
                  <a:prstClr val="black"/>
                </a:solidFill>
                <a:cs typeface="+mn-ea"/>
                <a:sym typeface="+mn-lt"/>
              </a:endParaRPr>
            </a:p>
          </p:txBody>
        </p:sp>
        <p:grpSp>
          <p:nvGrpSpPr>
            <p:cNvPr id="38" name="Group 107">
              <a:extLst>
                <a:ext uri="{FF2B5EF4-FFF2-40B4-BE49-F238E27FC236}">
                  <a16:creationId xmlns:a16="http://schemas.microsoft.com/office/drawing/2014/main" id="{F2004FA0-A4B7-BE15-157F-0AEC3EC7A4C2}"/>
                </a:ext>
              </a:extLst>
            </p:cNvPr>
            <p:cNvGrpSpPr/>
            <p:nvPr/>
          </p:nvGrpSpPr>
          <p:grpSpPr>
            <a:xfrm>
              <a:off x="8776924" y="1592544"/>
              <a:ext cx="2365607" cy="2440171"/>
              <a:chOff x="733856" y="862399"/>
              <a:chExt cx="2365607" cy="2440171"/>
            </a:xfrm>
          </p:grpSpPr>
          <p:sp>
            <p:nvSpPr>
              <p:cNvPr id="39" name="TextBox 108">
                <a:extLst>
                  <a:ext uri="{FF2B5EF4-FFF2-40B4-BE49-F238E27FC236}">
                    <a16:creationId xmlns:a16="http://schemas.microsoft.com/office/drawing/2014/main" id="{FD45860B-A4C0-1227-96C8-E27CBD6CA3DA}"/>
                  </a:ext>
                </a:extLst>
              </p:cNvPr>
              <p:cNvSpPr txBox="1"/>
              <p:nvPr/>
            </p:nvSpPr>
            <p:spPr>
              <a:xfrm>
                <a:off x="1482383" y="862399"/>
                <a:ext cx="684803" cy="738664"/>
              </a:xfrm>
              <a:prstGeom prst="rect">
                <a:avLst/>
              </a:prstGeom>
              <a:noFill/>
            </p:spPr>
            <p:txBody>
              <a:bodyPr wrap="none" lIns="0" tIns="0" rIns="0" bIns="0" rtlCol="0">
                <a:spAutoFit/>
              </a:bodyPr>
              <a:lstStyle/>
              <a:p>
                <a:pPr algn="ctr" defTabSz="761970"/>
                <a:r>
                  <a:rPr lang="en-US" sz="4000" dirty="0">
                    <a:solidFill>
                      <a:schemeClr val="accent3"/>
                    </a:solidFill>
                    <a:cs typeface="+mn-ea"/>
                    <a:sym typeface="+mn-lt"/>
                  </a:rPr>
                  <a:t>03</a:t>
                </a:r>
              </a:p>
            </p:txBody>
          </p:sp>
          <p:sp>
            <p:nvSpPr>
              <p:cNvPr id="40" name="TextBox 109">
                <a:extLst>
                  <a:ext uri="{FF2B5EF4-FFF2-40B4-BE49-F238E27FC236}">
                    <a16:creationId xmlns:a16="http://schemas.microsoft.com/office/drawing/2014/main" id="{2E4FE732-8846-39AB-01FA-E7A18ED051AB}"/>
                  </a:ext>
                </a:extLst>
              </p:cNvPr>
              <p:cNvSpPr txBox="1"/>
              <p:nvPr/>
            </p:nvSpPr>
            <p:spPr>
              <a:xfrm>
                <a:off x="1170467" y="1590875"/>
                <a:ext cx="1508104" cy="258533"/>
              </a:xfrm>
              <a:prstGeom prst="rect">
                <a:avLst/>
              </a:prstGeom>
              <a:noFill/>
            </p:spPr>
            <p:txBody>
              <a:bodyPr wrap="none" lIns="0" tIns="0" rIns="0" bIns="0" rtlCol="0">
                <a:spAutoFit/>
              </a:bodyPr>
              <a:lstStyle/>
              <a:p>
                <a:pPr defTabSz="761970"/>
                <a:r>
                  <a:rPr lang="zh-CN" altLang="en-US" sz="1400" b="1" dirty="0">
                    <a:solidFill>
                      <a:schemeClr val="accent3"/>
                    </a:solidFill>
                    <a:latin typeface="+mn-ea"/>
                  </a:rPr>
                  <a:t>数据沟通和展示</a:t>
                </a:r>
                <a:endParaRPr lang="en-US" sz="1400" b="1" dirty="0">
                  <a:solidFill>
                    <a:schemeClr val="accent3"/>
                  </a:solidFill>
                  <a:cs typeface="+mn-ea"/>
                  <a:sym typeface="+mn-lt"/>
                </a:endParaRPr>
              </a:p>
            </p:txBody>
          </p:sp>
          <p:sp>
            <p:nvSpPr>
              <p:cNvPr id="41" name="TextBox 110">
                <a:extLst>
                  <a:ext uri="{FF2B5EF4-FFF2-40B4-BE49-F238E27FC236}">
                    <a16:creationId xmlns:a16="http://schemas.microsoft.com/office/drawing/2014/main" id="{0769FECB-668A-48C3-AB2B-FB34E3416ED0}"/>
                  </a:ext>
                </a:extLst>
              </p:cNvPr>
              <p:cNvSpPr txBox="1"/>
              <p:nvPr/>
            </p:nvSpPr>
            <p:spPr>
              <a:xfrm flipH="1">
                <a:off x="733856" y="1938965"/>
                <a:ext cx="2365607" cy="1363605"/>
              </a:xfrm>
              <a:prstGeom prst="rect">
                <a:avLst/>
              </a:prstGeom>
              <a:noFill/>
            </p:spPr>
            <p:txBody>
              <a:bodyPr wrap="square" lIns="0" tIns="0" rIns="0" bIns="0" rtlCol="0">
                <a:spAutoFit/>
              </a:bodyPr>
              <a:lstStyle/>
              <a:p>
                <a:pPr algn="ctr" defTabSz="761970">
                  <a:lnSpc>
                    <a:spcPct val="125000"/>
                  </a:lnSpc>
                </a:pPr>
                <a:r>
                  <a:rPr lang="zh-CN" altLang="en-US" sz="1000" dirty="0">
                    <a:solidFill>
                      <a:schemeClr val="tx1">
                        <a:lumMod val="95000"/>
                        <a:lumOff val="5000"/>
                      </a:schemeClr>
                    </a:solidFill>
                    <a:latin typeface="+mn-ea"/>
                  </a:rPr>
                  <a:t>图表是一种有效的数据沟通工具，可以帮助您将复杂的数据信息以简洁清晰的方式传达给他人。通过将数据呈现为图表，您可以更好地向他人解释数据的含义和洞察，支持决策制定和业务沟通。</a:t>
                </a:r>
                <a:endParaRPr lang="en-US" altLang="zh-CN" sz="1000" dirty="0">
                  <a:solidFill>
                    <a:prstClr val="black">
                      <a:lumMod val="65000"/>
                      <a:lumOff val="35000"/>
                    </a:prstClr>
                  </a:solidFill>
                  <a:cs typeface="+mn-ea"/>
                  <a:sym typeface="+mn-lt"/>
                </a:endParaRPr>
              </a:p>
            </p:txBody>
          </p:sp>
        </p:grpSp>
      </p:grpSp>
      <p:pic>
        <p:nvPicPr>
          <p:cNvPr id="53" name="图片 52" descr="图标&#10;&#10;描述已自动生成">
            <a:extLst>
              <a:ext uri="{FF2B5EF4-FFF2-40B4-BE49-F238E27FC236}">
                <a16:creationId xmlns:a16="http://schemas.microsoft.com/office/drawing/2014/main" id="{78133A37-EC70-26E1-5306-8F620B227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1189" y="2382983"/>
            <a:ext cx="616040" cy="616040"/>
          </a:xfrm>
          <a:prstGeom prst="rect">
            <a:avLst/>
          </a:prstGeom>
        </p:spPr>
      </p:pic>
      <p:pic>
        <p:nvPicPr>
          <p:cNvPr id="54" name="图片 53" descr="图标&#10;&#10;描述已自动生成">
            <a:extLst>
              <a:ext uri="{FF2B5EF4-FFF2-40B4-BE49-F238E27FC236}">
                <a16:creationId xmlns:a16="http://schemas.microsoft.com/office/drawing/2014/main" id="{6B2878FF-48FE-E8CA-80E8-7AEE5C9AC0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738" y="2392694"/>
            <a:ext cx="616040" cy="616040"/>
          </a:xfrm>
          <a:prstGeom prst="rect">
            <a:avLst/>
          </a:prstGeom>
        </p:spPr>
      </p:pic>
      <p:pic>
        <p:nvPicPr>
          <p:cNvPr id="55" name="图片 54" descr="图标&#10;&#10;描述已自动生成">
            <a:extLst>
              <a:ext uri="{FF2B5EF4-FFF2-40B4-BE49-F238E27FC236}">
                <a16:creationId xmlns:a16="http://schemas.microsoft.com/office/drawing/2014/main" id="{D31E789E-77F9-D37F-2F2A-C35B97D984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3743" y="2392694"/>
            <a:ext cx="616040" cy="616040"/>
          </a:xfrm>
          <a:prstGeom prst="rect">
            <a:avLst/>
          </a:prstGeom>
        </p:spPr>
      </p:pic>
    </p:spTree>
    <p:extLst>
      <p:ext uri="{BB962C8B-B14F-4D97-AF65-F5344CB8AC3E}">
        <p14:creationId xmlns:p14="http://schemas.microsoft.com/office/powerpoint/2010/main" val="423163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anim calcmode="lin" valueType="num">
                                      <p:cBhvr>
                                        <p:cTn id="14" dur="1000" fill="hold"/>
                                        <p:tgtEl>
                                          <p:spTgt spid="19"/>
                                        </p:tgtEl>
                                        <p:attrNameLst>
                                          <p:attrName>ppt_x</p:attrName>
                                        </p:attrNameLst>
                                      </p:cBhvr>
                                      <p:tavLst>
                                        <p:tav tm="0">
                                          <p:val>
                                            <p:strVal val="#ppt_x"/>
                                          </p:val>
                                        </p:tav>
                                        <p:tav tm="100000">
                                          <p:val>
                                            <p:strVal val="#ppt_x"/>
                                          </p:val>
                                        </p:tav>
                                      </p:tavLst>
                                    </p:anim>
                                    <p:anim calcmode="lin" valueType="num">
                                      <p:cBhvr>
                                        <p:cTn id="15" dur="10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1000"/>
                                        <p:tgtEl>
                                          <p:spTgt spid="36"/>
                                        </p:tgtEl>
                                      </p:cBhvr>
                                    </p:animEffect>
                                    <p:anim calcmode="lin" valueType="num">
                                      <p:cBhvr>
                                        <p:cTn id="20" dur="1000" fill="hold"/>
                                        <p:tgtEl>
                                          <p:spTgt spid="36"/>
                                        </p:tgtEl>
                                        <p:attrNameLst>
                                          <p:attrName>ppt_x</p:attrName>
                                        </p:attrNameLst>
                                      </p:cBhvr>
                                      <p:tavLst>
                                        <p:tav tm="0">
                                          <p:val>
                                            <p:strVal val="#ppt_x"/>
                                          </p:val>
                                        </p:tav>
                                        <p:tav tm="100000">
                                          <p:val>
                                            <p:strVal val="#ppt_x"/>
                                          </p:val>
                                        </p:tav>
                                      </p:tavLst>
                                    </p:anim>
                                    <p:anim calcmode="lin" valueType="num">
                                      <p:cBhvr>
                                        <p:cTn id="21"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三步建立</a:t>
            </a:r>
            <a:r>
              <a:rPr lang="en-US" altLang="zh-CN" dirty="0">
                <a:latin typeface="+mn-lt"/>
                <a:ea typeface="+mn-ea"/>
                <a:cs typeface="+mn-ea"/>
                <a:sym typeface="+mn-lt"/>
              </a:rPr>
              <a:t>Excel</a:t>
            </a:r>
            <a:r>
              <a:rPr lang="zh-CN" altLang="en-US" dirty="0">
                <a:latin typeface="+mn-lt"/>
                <a:ea typeface="+mn-ea"/>
                <a:cs typeface="+mn-ea"/>
                <a:sym typeface="+mn-lt"/>
              </a:rPr>
              <a:t>专业图表</a:t>
            </a:r>
            <a:endParaRPr lang="en-US" dirty="0">
              <a:latin typeface="+mn-lt"/>
              <a:ea typeface="+mn-ea"/>
              <a:cs typeface="+mn-ea"/>
              <a:sym typeface="+mn-lt"/>
            </a:endParaRPr>
          </a:p>
        </p:txBody>
      </p:sp>
      <p:grpSp>
        <p:nvGrpSpPr>
          <p:cNvPr id="45" name="组合 41">
            <a:extLst>
              <a:ext uri="{FF2B5EF4-FFF2-40B4-BE49-F238E27FC236}">
                <a16:creationId xmlns:a16="http://schemas.microsoft.com/office/drawing/2014/main" id="{ED605659-3057-F74C-F2D6-FB86EED068BD}"/>
              </a:ext>
            </a:extLst>
          </p:cNvPr>
          <p:cNvGrpSpPr/>
          <p:nvPr/>
        </p:nvGrpSpPr>
        <p:grpSpPr>
          <a:xfrm>
            <a:off x="8893865" y="1085529"/>
            <a:ext cx="2241975" cy="1367303"/>
            <a:chOff x="2455838" y="4901670"/>
            <a:chExt cx="2241974" cy="1367303"/>
          </a:xfrm>
        </p:grpSpPr>
        <p:sp>
          <p:nvSpPr>
            <p:cNvPr id="46" name="矩形 45">
              <a:extLst>
                <a:ext uri="{FF2B5EF4-FFF2-40B4-BE49-F238E27FC236}">
                  <a16:creationId xmlns:a16="http://schemas.microsoft.com/office/drawing/2014/main" id="{D67D8B50-F2AE-4B31-A3DE-3E716DD1DA90}"/>
                </a:ext>
              </a:extLst>
            </p:cNvPr>
            <p:cNvSpPr/>
            <p:nvPr/>
          </p:nvSpPr>
          <p:spPr>
            <a:xfrm>
              <a:off x="2455838" y="4901670"/>
              <a:ext cx="2241974" cy="394210"/>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t>修饰图表</a:t>
              </a:r>
            </a:p>
          </p:txBody>
        </p:sp>
        <p:sp>
          <p:nvSpPr>
            <p:cNvPr id="47" name="文本框 46">
              <a:extLst>
                <a:ext uri="{FF2B5EF4-FFF2-40B4-BE49-F238E27FC236}">
                  <a16:creationId xmlns:a16="http://schemas.microsoft.com/office/drawing/2014/main" id="{F2E6B241-5369-DC4B-2D9E-F8775F8FAE4E}"/>
                </a:ext>
              </a:extLst>
            </p:cNvPr>
            <p:cNvSpPr txBox="1"/>
            <p:nvPr/>
          </p:nvSpPr>
          <p:spPr>
            <a:xfrm>
              <a:off x="2455838" y="5280497"/>
              <a:ext cx="2241974" cy="988476"/>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对建立的图表进行修饰</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规律性操作，掌握图表元素有哪些，可以进行哪些修饰，结合图形和文本框辅助修饰图表</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8" name="组合 44">
            <a:extLst>
              <a:ext uri="{FF2B5EF4-FFF2-40B4-BE49-F238E27FC236}">
                <a16:creationId xmlns:a16="http://schemas.microsoft.com/office/drawing/2014/main" id="{A85EDF19-A2A8-6E1B-B979-0F63DBD6092D}"/>
              </a:ext>
            </a:extLst>
          </p:cNvPr>
          <p:cNvGrpSpPr/>
          <p:nvPr/>
        </p:nvGrpSpPr>
        <p:grpSpPr>
          <a:xfrm>
            <a:off x="4935268" y="1085529"/>
            <a:ext cx="2241975" cy="1136086"/>
            <a:chOff x="2455838" y="4901670"/>
            <a:chExt cx="2241974" cy="1136086"/>
          </a:xfrm>
        </p:grpSpPr>
        <p:sp>
          <p:nvSpPr>
            <p:cNvPr id="49" name="矩形 48">
              <a:extLst>
                <a:ext uri="{FF2B5EF4-FFF2-40B4-BE49-F238E27FC236}">
                  <a16:creationId xmlns:a16="http://schemas.microsoft.com/office/drawing/2014/main" id="{7009C946-DDFA-337C-40F6-BD19E13A7A4B}"/>
                </a:ext>
              </a:extLst>
            </p:cNvPr>
            <p:cNvSpPr/>
            <p:nvPr/>
          </p:nvSpPr>
          <p:spPr>
            <a:xfrm>
              <a:off x="2455838" y="4901670"/>
              <a:ext cx="2241974" cy="394210"/>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t>选择和建立图表</a:t>
              </a:r>
            </a:p>
          </p:txBody>
        </p:sp>
        <p:sp>
          <p:nvSpPr>
            <p:cNvPr id="50" name="文本框 49">
              <a:extLst>
                <a:ext uri="{FF2B5EF4-FFF2-40B4-BE49-F238E27FC236}">
                  <a16:creationId xmlns:a16="http://schemas.microsoft.com/office/drawing/2014/main" id="{6B30768A-C1AC-585A-E6B8-7A02C44B97F8}"/>
                </a:ext>
              </a:extLst>
            </p:cNvPr>
            <p:cNvSpPr txBox="1"/>
            <p:nvPr/>
          </p:nvSpPr>
          <p:spPr>
            <a:xfrm>
              <a:off x="2455838" y="5280497"/>
              <a:ext cx="2241974" cy="757259"/>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根据关系选择合适的图表</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掌握图表的分类，以及每个类型适合的数据关系，建议多看多做</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57" name="组合 50">
            <a:extLst>
              <a:ext uri="{FF2B5EF4-FFF2-40B4-BE49-F238E27FC236}">
                <a16:creationId xmlns:a16="http://schemas.microsoft.com/office/drawing/2014/main" id="{82F33A55-2EEE-87C1-BDA6-4758B750AAB1}"/>
              </a:ext>
            </a:extLst>
          </p:cNvPr>
          <p:cNvGrpSpPr/>
          <p:nvPr/>
        </p:nvGrpSpPr>
        <p:grpSpPr>
          <a:xfrm>
            <a:off x="1893569" y="1111981"/>
            <a:ext cx="2494557" cy="905638"/>
            <a:chOff x="2455838" y="4901670"/>
            <a:chExt cx="2241974" cy="905638"/>
          </a:xfrm>
        </p:grpSpPr>
        <p:sp>
          <p:nvSpPr>
            <p:cNvPr id="58" name="矩形 57">
              <a:extLst>
                <a:ext uri="{FF2B5EF4-FFF2-40B4-BE49-F238E27FC236}">
                  <a16:creationId xmlns:a16="http://schemas.microsoft.com/office/drawing/2014/main" id="{D73A0E63-6169-3C5C-F1BD-54036AA3F899}"/>
                </a:ext>
              </a:extLst>
            </p:cNvPr>
            <p:cNvSpPr/>
            <p:nvPr/>
          </p:nvSpPr>
          <p:spPr>
            <a:xfrm>
              <a:off x="2455838" y="4901670"/>
              <a:ext cx="2241974" cy="394210"/>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t>建立数据区域</a:t>
              </a:r>
            </a:p>
          </p:txBody>
        </p:sp>
        <p:sp>
          <p:nvSpPr>
            <p:cNvPr id="59" name="文本框 58">
              <a:extLst>
                <a:ext uri="{FF2B5EF4-FFF2-40B4-BE49-F238E27FC236}">
                  <a16:creationId xmlns:a16="http://schemas.microsoft.com/office/drawing/2014/main" id="{E8EB27B9-91CB-D01C-1E0A-39BDA34F233A}"/>
                </a:ext>
              </a:extLst>
            </p:cNvPr>
            <p:cNvSpPr txBox="1"/>
            <p:nvPr/>
          </p:nvSpPr>
          <p:spPr>
            <a:xfrm>
              <a:off x="2455838" y="5280497"/>
              <a:ext cx="2241974" cy="526811"/>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根据数据建立图表需要的数据结构</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000" dirty="0">
                  <a:solidFill>
                    <a:schemeClr val="tx1">
                      <a:lumMod val="95000"/>
                      <a:lumOff val="5000"/>
                    </a:schemeClr>
                  </a:solidFill>
                  <a:latin typeface="微软雅黑" panose="020B0503020204020204" pitchFamily="34" charset="-122"/>
                  <a:ea typeface="微软雅黑" panose="020B0503020204020204" pitchFamily="34" charset="-122"/>
                </a:rPr>
                <a:t>掌握不同的图表需要什么样的数据结构</a:t>
              </a:r>
              <a:endParaRPr lang="en-US" altLang="zh-CN" sz="1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aphicFrame>
        <p:nvGraphicFramePr>
          <p:cNvPr id="5" name="图表 4">
            <a:extLst>
              <a:ext uri="{FF2B5EF4-FFF2-40B4-BE49-F238E27FC236}">
                <a16:creationId xmlns:a16="http://schemas.microsoft.com/office/drawing/2014/main" id="{A3E60C88-5423-4429-8809-DEED9457AA09}"/>
              </a:ext>
            </a:extLst>
          </p:cNvPr>
          <p:cNvGraphicFramePr>
            <a:graphicFrameLocks noChangeAspect="1"/>
          </p:cNvGraphicFramePr>
          <p:nvPr>
            <p:extLst>
              <p:ext uri="{D42A27DB-BD31-4B8C-83A1-F6EECF244321}">
                <p14:modId xmlns:p14="http://schemas.microsoft.com/office/powerpoint/2010/main" val="4228614621"/>
              </p:ext>
            </p:extLst>
          </p:nvPr>
        </p:nvGraphicFramePr>
        <p:xfrm>
          <a:off x="7832107" y="2873473"/>
          <a:ext cx="3848727" cy="2880000"/>
        </p:xfrm>
        <a:graphic>
          <a:graphicData uri="http://schemas.openxmlformats.org/drawingml/2006/chart">
            <c:chart xmlns:c="http://schemas.openxmlformats.org/drawingml/2006/chart" xmlns:r="http://schemas.openxmlformats.org/officeDocument/2006/relationships" r:id="rId2"/>
          </a:graphicData>
        </a:graphic>
      </p:graphicFrame>
      <p:pic>
        <p:nvPicPr>
          <p:cNvPr id="6" name="图片 5">
            <a:extLst>
              <a:ext uri="{FF2B5EF4-FFF2-40B4-BE49-F238E27FC236}">
                <a16:creationId xmlns:a16="http://schemas.microsoft.com/office/drawing/2014/main" id="{7713FA98-E1F9-3E61-5E8C-EFA5BCFFC467}"/>
              </a:ext>
            </a:extLst>
          </p:cNvPr>
          <p:cNvPicPr>
            <a:picLocks noChangeAspect="1"/>
          </p:cNvPicPr>
          <p:nvPr/>
        </p:nvPicPr>
        <p:blipFill>
          <a:blip r:embed="rId3"/>
          <a:stretch>
            <a:fillRect/>
          </a:stretch>
        </p:blipFill>
        <p:spPr>
          <a:xfrm>
            <a:off x="2218289" y="2873473"/>
            <a:ext cx="1304925" cy="1409700"/>
          </a:xfrm>
          <a:prstGeom prst="rect">
            <a:avLst/>
          </a:prstGeom>
        </p:spPr>
      </p:pic>
      <p:graphicFrame>
        <p:nvGraphicFramePr>
          <p:cNvPr id="7" name="图表 6">
            <a:extLst>
              <a:ext uri="{FF2B5EF4-FFF2-40B4-BE49-F238E27FC236}">
                <a16:creationId xmlns:a16="http://schemas.microsoft.com/office/drawing/2014/main" id="{C9BC2CEF-0166-D63F-6B86-EC8B0DAC3453}"/>
              </a:ext>
            </a:extLst>
          </p:cNvPr>
          <p:cNvGraphicFramePr>
            <a:graphicFrameLocks/>
          </p:cNvGraphicFramePr>
          <p:nvPr>
            <p:extLst>
              <p:ext uri="{D42A27DB-BD31-4B8C-83A1-F6EECF244321}">
                <p14:modId xmlns:p14="http://schemas.microsoft.com/office/powerpoint/2010/main" val="2796470883"/>
              </p:ext>
            </p:extLst>
          </p:nvPr>
        </p:nvGraphicFramePr>
        <p:xfrm>
          <a:off x="4025347" y="2873473"/>
          <a:ext cx="3737114" cy="288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33813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p:tgtEl>
                                          <p:spTgt spid="57"/>
                                        </p:tgtEl>
                                        <p:attrNameLst>
                                          <p:attrName>ppt_x</p:attrName>
                                        </p:attrNameLst>
                                      </p:cBhvr>
                                      <p:tavLst>
                                        <p:tav tm="0">
                                          <p:val>
                                            <p:strVal val="#ppt_x-#ppt_w*1.125000"/>
                                          </p:val>
                                        </p:tav>
                                        <p:tav tm="100000">
                                          <p:val>
                                            <p:strVal val="#ppt_x"/>
                                          </p:val>
                                        </p:tav>
                                      </p:tavLst>
                                    </p:anim>
                                    <p:animEffect transition="in" filter="wipe(right)">
                                      <p:cBhvr>
                                        <p:cTn id="8" dur="500"/>
                                        <p:tgtEl>
                                          <p:spTgt spid="57"/>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additive="base">
                                        <p:cTn id="12" dur="500"/>
                                        <p:tgtEl>
                                          <p:spTgt spid="48"/>
                                        </p:tgtEl>
                                        <p:attrNameLst>
                                          <p:attrName>ppt_x</p:attrName>
                                        </p:attrNameLst>
                                      </p:cBhvr>
                                      <p:tavLst>
                                        <p:tav tm="0">
                                          <p:val>
                                            <p:strVal val="#ppt_x-#ppt_w*1.125000"/>
                                          </p:val>
                                        </p:tav>
                                        <p:tav tm="100000">
                                          <p:val>
                                            <p:strVal val="#ppt_x"/>
                                          </p:val>
                                        </p:tav>
                                      </p:tavLst>
                                    </p:anim>
                                    <p:animEffect transition="in" filter="wipe(right)">
                                      <p:cBhvr>
                                        <p:cTn id="13" dur="500"/>
                                        <p:tgtEl>
                                          <p:spTgt spid="48"/>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45"/>
                                        </p:tgtEl>
                                        <p:attrNameLst>
                                          <p:attrName>style.visibility</p:attrName>
                                        </p:attrNameLst>
                                      </p:cBhvr>
                                      <p:to>
                                        <p:strVal val="visible"/>
                                      </p:to>
                                    </p:set>
                                    <p:anim calcmode="lin" valueType="num">
                                      <p:cBhvr additive="base">
                                        <p:cTn id="17" dur="500"/>
                                        <p:tgtEl>
                                          <p:spTgt spid="45"/>
                                        </p:tgtEl>
                                        <p:attrNameLst>
                                          <p:attrName>ppt_x</p:attrName>
                                        </p:attrNameLst>
                                      </p:cBhvr>
                                      <p:tavLst>
                                        <p:tav tm="0">
                                          <p:val>
                                            <p:strVal val="#ppt_x-#ppt_w*1.125000"/>
                                          </p:val>
                                        </p:tav>
                                        <p:tav tm="100000">
                                          <p:val>
                                            <p:strVal val="#ppt_x"/>
                                          </p:val>
                                        </p:tav>
                                      </p:tavLst>
                                    </p:anim>
                                    <p:animEffect transition="in" filter="wipe(right)">
                                      <p:cBhvr>
                                        <p:cTn id="1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图表数据的基本结构</a:t>
            </a:r>
            <a:endParaRPr lang="en-US" dirty="0">
              <a:latin typeface="+mn-lt"/>
              <a:ea typeface="+mn-ea"/>
              <a:cs typeface="+mn-ea"/>
              <a:sym typeface="+mn-lt"/>
            </a:endParaRPr>
          </a:p>
        </p:txBody>
      </p:sp>
      <p:graphicFrame>
        <p:nvGraphicFramePr>
          <p:cNvPr id="10" name="表格 9">
            <a:extLst>
              <a:ext uri="{FF2B5EF4-FFF2-40B4-BE49-F238E27FC236}">
                <a16:creationId xmlns:a16="http://schemas.microsoft.com/office/drawing/2014/main" id="{DA71707D-69A0-CCFE-7EF2-A7AF72FC4A8D}"/>
              </a:ext>
            </a:extLst>
          </p:cNvPr>
          <p:cNvGraphicFramePr>
            <a:graphicFrameLocks noGrp="1"/>
          </p:cNvGraphicFramePr>
          <p:nvPr>
            <p:extLst>
              <p:ext uri="{D42A27DB-BD31-4B8C-83A1-F6EECF244321}">
                <p14:modId xmlns:p14="http://schemas.microsoft.com/office/powerpoint/2010/main" val="2594567951"/>
              </p:ext>
            </p:extLst>
          </p:nvPr>
        </p:nvGraphicFramePr>
        <p:xfrm>
          <a:off x="1768551" y="3575184"/>
          <a:ext cx="9579462" cy="2477746"/>
        </p:xfrm>
        <a:graphic>
          <a:graphicData uri="http://schemas.openxmlformats.org/drawingml/2006/table">
            <a:tbl>
              <a:tblPr firstRow="1" firstCol="1" bandRow="1"/>
              <a:tblGrid>
                <a:gridCol w="1303879">
                  <a:extLst>
                    <a:ext uri="{9D8B030D-6E8A-4147-A177-3AD203B41FA5}">
                      <a16:colId xmlns:a16="http://schemas.microsoft.com/office/drawing/2014/main" val="3549720706"/>
                    </a:ext>
                  </a:extLst>
                </a:gridCol>
                <a:gridCol w="1353603">
                  <a:extLst>
                    <a:ext uri="{9D8B030D-6E8A-4147-A177-3AD203B41FA5}">
                      <a16:colId xmlns:a16="http://schemas.microsoft.com/office/drawing/2014/main" val="1443955368"/>
                    </a:ext>
                  </a:extLst>
                </a:gridCol>
                <a:gridCol w="1853727">
                  <a:extLst>
                    <a:ext uri="{9D8B030D-6E8A-4147-A177-3AD203B41FA5}">
                      <a16:colId xmlns:a16="http://schemas.microsoft.com/office/drawing/2014/main" val="3944885162"/>
                    </a:ext>
                  </a:extLst>
                </a:gridCol>
                <a:gridCol w="2183803">
                  <a:extLst>
                    <a:ext uri="{9D8B030D-6E8A-4147-A177-3AD203B41FA5}">
                      <a16:colId xmlns:a16="http://schemas.microsoft.com/office/drawing/2014/main" val="641332905"/>
                    </a:ext>
                  </a:extLst>
                </a:gridCol>
                <a:gridCol w="2884450">
                  <a:extLst>
                    <a:ext uri="{9D8B030D-6E8A-4147-A177-3AD203B41FA5}">
                      <a16:colId xmlns:a16="http://schemas.microsoft.com/office/drawing/2014/main" val="3908186353"/>
                    </a:ext>
                  </a:extLst>
                </a:gridCol>
              </a:tblGrid>
              <a:tr h="489818">
                <a:tc>
                  <a:txBody>
                    <a:bodyPr/>
                    <a:lstStyle/>
                    <a:p>
                      <a:pPr algn="ctr"/>
                      <a:r>
                        <a:rPr lang="zh-CN" sz="1100" b="1" kern="0" dirty="0">
                          <a:solidFill>
                            <a:schemeClr val="bg1"/>
                          </a:solidFill>
                          <a:effectLst/>
                        </a:rPr>
                        <a:t>系列值数量</a:t>
                      </a:r>
                      <a:endParaRPr lang="zh-CN" sz="1400" b="1"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3283FF"/>
                    </a:solidFill>
                  </a:tcPr>
                </a:tc>
                <a:tc>
                  <a:txBody>
                    <a:bodyPr/>
                    <a:lstStyle/>
                    <a:p>
                      <a:pPr algn="ctr"/>
                      <a:r>
                        <a:rPr lang="zh-CN" sz="1100" b="1" kern="0" dirty="0">
                          <a:solidFill>
                            <a:schemeClr val="bg1"/>
                          </a:solidFill>
                          <a:effectLst/>
                        </a:rPr>
                        <a:t>轴标签数量</a:t>
                      </a:r>
                      <a:endParaRPr lang="zh-CN" sz="1400" b="1"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3283FF"/>
                    </a:solidFill>
                  </a:tcPr>
                </a:tc>
                <a:tc>
                  <a:txBody>
                    <a:bodyPr/>
                    <a:lstStyle/>
                    <a:p>
                      <a:pPr algn="ctr"/>
                      <a:r>
                        <a:rPr lang="zh-CN" sz="1100" b="1" kern="0" dirty="0">
                          <a:solidFill>
                            <a:schemeClr val="bg1"/>
                          </a:solidFill>
                          <a:effectLst/>
                        </a:rPr>
                        <a:t>例子</a:t>
                      </a:r>
                      <a:endParaRPr lang="zh-CN" sz="1400" b="1"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3283FF"/>
                    </a:solidFill>
                  </a:tcPr>
                </a:tc>
                <a:tc>
                  <a:txBody>
                    <a:bodyPr/>
                    <a:lstStyle/>
                    <a:p>
                      <a:pPr algn="ctr"/>
                      <a:r>
                        <a:rPr lang="zh-CN" sz="1100" b="1" kern="0" dirty="0">
                          <a:solidFill>
                            <a:schemeClr val="bg1"/>
                          </a:solidFill>
                          <a:effectLst/>
                        </a:rPr>
                        <a:t>适合图表</a:t>
                      </a:r>
                      <a:endParaRPr lang="zh-CN" sz="1400" b="1"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3283FF"/>
                    </a:solidFill>
                  </a:tcPr>
                </a:tc>
                <a:tc>
                  <a:txBody>
                    <a:bodyPr/>
                    <a:lstStyle/>
                    <a:p>
                      <a:pPr algn="ctr"/>
                      <a:r>
                        <a:rPr lang="zh-CN" sz="1100" b="1" kern="0" dirty="0">
                          <a:solidFill>
                            <a:schemeClr val="bg1"/>
                          </a:solidFill>
                          <a:effectLst/>
                        </a:rPr>
                        <a:t>说明</a:t>
                      </a:r>
                      <a:endParaRPr lang="zh-CN" sz="1400" b="1"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3283FF"/>
                    </a:solidFill>
                  </a:tcPr>
                </a:tc>
                <a:extLst>
                  <a:ext uri="{0D108BD9-81ED-4DB2-BD59-A6C34878D82A}">
                    <a16:rowId xmlns:a16="http://schemas.microsoft.com/office/drawing/2014/main" val="3190857186"/>
                  </a:ext>
                </a:extLst>
              </a:tr>
              <a:tr h="473337">
                <a:tc>
                  <a:txBody>
                    <a:bodyPr/>
                    <a:lstStyle/>
                    <a:p>
                      <a:pPr algn="ctr"/>
                      <a:r>
                        <a:rPr lang="en-US" sz="1000" kern="0" dirty="0">
                          <a:effectLst/>
                        </a:rPr>
                        <a:t>1</a:t>
                      </a:r>
                      <a:endParaRPr lang="zh-CN" altLang="en-US" sz="1000" kern="0" dirty="0">
                        <a:solidFill>
                          <a:schemeClr val="tx1">
                            <a:lumMod val="95000"/>
                            <a:lumOff val="5000"/>
                          </a:schemeClr>
                        </a:solidFill>
                        <a:effectLst/>
                        <a:latin typeface="+mn-ea"/>
                        <a:ea typeface="+mn-ea"/>
                        <a:cs typeface="+mn-cs"/>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1000" kern="0" dirty="0">
                          <a:effectLst/>
                        </a:rPr>
                        <a:t>1</a:t>
                      </a:r>
                      <a:endParaRPr lang="zh-CN" sz="1100" kern="100" dirty="0">
                        <a:solidFill>
                          <a:schemeClr val="tx1">
                            <a:lumMod val="95000"/>
                            <a:lumOff val="5000"/>
                          </a:schemeClr>
                        </a:solidFill>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zh-CN" sz="1000" kern="0" dirty="0">
                          <a:effectLst/>
                        </a:rPr>
                        <a:t>各商品销量、各部门人数</a:t>
                      </a:r>
                      <a:endParaRPr lang="zh-CN" sz="1100" kern="100" dirty="0">
                        <a:solidFill>
                          <a:schemeClr val="tx1">
                            <a:lumMod val="95000"/>
                            <a:lumOff val="5000"/>
                          </a:schemeClr>
                        </a:solidFill>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zh-CN" sz="1000" kern="0" dirty="0">
                          <a:effectLst/>
                        </a:rPr>
                        <a:t>柱形图、条形图、折线图、圆饼图等</a:t>
                      </a:r>
                      <a:endParaRPr lang="zh-CN" sz="1100" kern="100" dirty="0">
                        <a:solidFill>
                          <a:schemeClr val="tx1">
                            <a:lumMod val="95000"/>
                            <a:lumOff val="5000"/>
                          </a:schemeClr>
                        </a:solidFill>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zh-CN" sz="1000" kern="0" dirty="0">
                          <a:effectLst/>
                        </a:rPr>
                        <a:t>最为常见</a:t>
                      </a:r>
                      <a:endParaRPr lang="zh-CN" sz="1100" kern="100" dirty="0">
                        <a:solidFill>
                          <a:schemeClr val="tx1">
                            <a:lumMod val="95000"/>
                            <a:lumOff val="5000"/>
                          </a:schemeClr>
                        </a:solidFill>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627897968"/>
                  </a:ext>
                </a:extLst>
              </a:tr>
              <a:tr h="484094">
                <a:tc>
                  <a:txBody>
                    <a:bodyPr/>
                    <a:lstStyle/>
                    <a:p>
                      <a:pPr algn="ctr"/>
                      <a:r>
                        <a:rPr lang="en-US" sz="900" kern="0" dirty="0">
                          <a:effectLst/>
                        </a:rPr>
                        <a:t>1</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1000" kern="0" dirty="0">
                          <a:effectLst/>
                        </a:rPr>
                        <a:t>0</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sz="1000" kern="0" dirty="0">
                          <a:effectLst/>
                        </a:rPr>
                        <a:t>总销量、总人数</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sz="1000" kern="0" dirty="0">
                          <a:effectLst/>
                        </a:rPr>
                        <a:t>卡片图</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sz="1000" kern="0" dirty="0">
                          <a:effectLst/>
                        </a:rPr>
                        <a:t>度量某一个指标，常用于数据大屏</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997541330"/>
                  </a:ext>
                </a:extLst>
              </a:tr>
              <a:tr h="532503">
                <a:tc>
                  <a:txBody>
                    <a:bodyPr/>
                    <a:lstStyle/>
                    <a:p>
                      <a:pPr algn="ctr"/>
                      <a:r>
                        <a:rPr lang="en-US" sz="900" kern="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en-US" sz="1000" kern="0" dirty="0">
                          <a:effectLst/>
                        </a:rPr>
                        <a:t>2</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zh-CN" sz="1000" kern="0">
                          <a:effectLst/>
                        </a:rPr>
                        <a:t>各商品四个季度销量、</a:t>
                      </a:r>
                      <a:br>
                        <a:rPr lang="en-US" sz="1000" kern="0">
                          <a:effectLst/>
                        </a:rPr>
                      </a:br>
                      <a:r>
                        <a:rPr lang="zh-CN" sz="1000" kern="0">
                          <a:effectLst/>
                        </a:rPr>
                        <a:t>各部门性别人数分布</a:t>
                      </a:r>
                      <a:endParaRPr lang="zh-CN" sz="1100" kern="10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zh-CN" sz="1000" kern="0" dirty="0">
                          <a:effectLst/>
                        </a:rPr>
                        <a:t>堆积柱形图、簇状柱形图等</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r>
                        <a:rPr lang="zh-CN" sz="1000" kern="0" dirty="0">
                          <a:effectLst/>
                        </a:rPr>
                        <a:t>使用轴坐标和颜色区分</a:t>
                      </a:r>
                      <a:r>
                        <a:rPr lang="zh-CN" altLang="en-US" sz="1000" kern="0" dirty="0">
                          <a:effectLst/>
                        </a:rPr>
                        <a:t>不同类别</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938287760"/>
                  </a:ext>
                </a:extLst>
              </a:tr>
              <a:tr h="497994">
                <a:tc>
                  <a:txBody>
                    <a:bodyPr/>
                    <a:lstStyle/>
                    <a:p>
                      <a:pPr algn="ctr"/>
                      <a:r>
                        <a:rPr lang="en-US" sz="900" kern="0" dirty="0">
                          <a:effectLst/>
                        </a:rPr>
                        <a:t>2</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sz="1000" kern="0" dirty="0">
                          <a:effectLst/>
                        </a:rPr>
                        <a:t>1</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sz="1000" kern="0" dirty="0">
                          <a:effectLst/>
                        </a:rPr>
                        <a:t>各商品销量和销售额、</a:t>
                      </a:r>
                      <a:br>
                        <a:rPr lang="en-US" sz="1000" kern="0" dirty="0">
                          <a:effectLst/>
                        </a:rPr>
                      </a:br>
                      <a:r>
                        <a:rPr lang="zh-CN" sz="1000" kern="0" dirty="0">
                          <a:effectLst/>
                        </a:rPr>
                        <a:t>各部门人数和人均工资</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sz="1000" kern="0" dirty="0">
                          <a:effectLst/>
                        </a:rPr>
                        <a:t>组合图</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sz="1000" kern="0" dirty="0">
                          <a:effectLst/>
                        </a:rPr>
                        <a:t>一般添加次要坐标轴</a:t>
                      </a:r>
                      <a:endParaRPr lang="zh-CN" sz="1100" kern="100" dirty="0">
                        <a:effectLst/>
                        <a:latin typeface="+mn-ea"/>
                        <a:ea typeface="+mn-ea"/>
                        <a:cs typeface="Times New Roman" panose="02020603050405020304" pitchFamily="18" charset="0"/>
                      </a:endParaRPr>
                    </a:p>
                  </a:txBody>
                  <a:tcPr marL="68580" marR="6858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889987281"/>
                  </a:ext>
                </a:extLst>
              </a:tr>
            </a:tbl>
          </a:graphicData>
        </a:graphic>
      </p:graphicFrame>
      <p:sp>
        <p:nvSpPr>
          <p:cNvPr id="12" name="文本框 11">
            <a:extLst>
              <a:ext uri="{FF2B5EF4-FFF2-40B4-BE49-F238E27FC236}">
                <a16:creationId xmlns:a16="http://schemas.microsoft.com/office/drawing/2014/main" id="{31F7E2A4-D765-8654-C2FC-0BDFD27FDD14}"/>
              </a:ext>
            </a:extLst>
          </p:cNvPr>
          <p:cNvSpPr txBox="1"/>
          <p:nvPr/>
        </p:nvSpPr>
        <p:spPr>
          <a:xfrm>
            <a:off x="1741657" y="1627599"/>
            <a:ext cx="4410665" cy="1490857"/>
          </a:xfrm>
          <a:prstGeom prst="rect">
            <a:avLst/>
          </a:prstGeom>
          <a:noFill/>
        </p:spPr>
        <p:txBody>
          <a:bodyPr wrap="square">
            <a:spAutoFit/>
          </a:bodyPr>
          <a:lstStyle/>
          <a:p>
            <a:pPr algn="just">
              <a:lnSpc>
                <a:spcPct val="150000"/>
              </a:lnSpc>
            </a:pPr>
            <a:r>
              <a:rPr lang="zh-CN" altLang="zh-CN" sz="1400" b="1" kern="100" dirty="0">
                <a:solidFill>
                  <a:srgbClr val="3283FF"/>
                </a:solidFill>
                <a:effectLst/>
                <a:latin typeface="+mn-ea"/>
                <a:cs typeface="Times New Roman" panose="02020603050405020304" pitchFamily="18" charset="0"/>
              </a:rPr>
              <a:t>度量值</a:t>
            </a:r>
            <a:endParaRPr lang="en-US" altLang="zh-CN" sz="1400" b="1" kern="100" dirty="0">
              <a:solidFill>
                <a:srgbClr val="3283FF"/>
              </a:solidFill>
              <a:latin typeface="+mn-ea"/>
              <a:cs typeface="Times New Roman" panose="02020603050405020304" pitchFamily="18" charset="0"/>
            </a:endParaRPr>
          </a:p>
          <a:p>
            <a:pPr algn="just">
              <a:lnSpc>
                <a:spcPct val="150000"/>
              </a:lnSpc>
            </a:pPr>
            <a:r>
              <a:rPr lang="zh-CN" altLang="zh-CN" sz="1200" kern="100" dirty="0">
                <a:solidFill>
                  <a:schemeClr val="tx1">
                    <a:lumMod val="95000"/>
                    <a:lumOff val="5000"/>
                  </a:schemeClr>
                </a:solidFill>
                <a:effectLst/>
                <a:latin typeface="+mn-ea"/>
                <a:cs typeface="Times New Roman" panose="02020603050405020304" pitchFamily="18" charset="0"/>
              </a:rPr>
              <a:t>度量值是指可以被聚合汇总的统计值，是聚合运算</a:t>
            </a:r>
            <a:r>
              <a:rPr lang="en-US" altLang="zh-CN" sz="1200" kern="100" dirty="0">
                <a:solidFill>
                  <a:schemeClr val="tx1">
                    <a:lumMod val="95000"/>
                    <a:lumOff val="5000"/>
                  </a:schemeClr>
                </a:solidFill>
                <a:effectLst/>
                <a:latin typeface="+mn-ea"/>
                <a:cs typeface="Times New Roman" panose="02020603050405020304" pitchFamily="18" charset="0"/>
              </a:rPr>
              <a:t>(</a:t>
            </a:r>
            <a:r>
              <a:rPr lang="zh-CN" altLang="zh-CN" sz="1200" kern="100" dirty="0">
                <a:solidFill>
                  <a:schemeClr val="tx1">
                    <a:lumMod val="95000"/>
                    <a:lumOff val="5000"/>
                  </a:schemeClr>
                </a:solidFill>
                <a:effectLst/>
                <a:latin typeface="+mn-ea"/>
                <a:cs typeface="Times New Roman" panose="02020603050405020304" pitchFamily="18" charset="0"/>
              </a:rPr>
              <a:t>计数、求和、平均值、最大值等</a:t>
            </a:r>
            <a:r>
              <a:rPr lang="en-US" altLang="zh-CN" sz="1200" kern="100" dirty="0">
                <a:solidFill>
                  <a:schemeClr val="tx1">
                    <a:lumMod val="95000"/>
                    <a:lumOff val="5000"/>
                  </a:schemeClr>
                </a:solidFill>
                <a:effectLst/>
                <a:latin typeface="+mn-ea"/>
                <a:cs typeface="Times New Roman" panose="02020603050405020304" pitchFamily="18" charset="0"/>
              </a:rPr>
              <a:t>)</a:t>
            </a:r>
            <a:r>
              <a:rPr lang="zh-CN" altLang="zh-CN" sz="1200" kern="100" dirty="0">
                <a:solidFill>
                  <a:schemeClr val="tx1">
                    <a:lumMod val="95000"/>
                    <a:lumOff val="5000"/>
                  </a:schemeClr>
                </a:solidFill>
                <a:effectLst/>
                <a:latin typeface="+mn-ea"/>
                <a:cs typeface="Times New Roman" panose="02020603050405020304" pitchFamily="18" charset="0"/>
              </a:rPr>
              <a:t>的结果。度量值的数据类型一定是数值。例如区域销售量就是度量值。另外度量值也可作为某个指标的度量衡，例如总的销售量也是度量值。</a:t>
            </a:r>
            <a:endParaRPr lang="zh-CN" altLang="zh-CN" sz="1050" kern="100" dirty="0">
              <a:solidFill>
                <a:schemeClr val="tx1">
                  <a:lumMod val="95000"/>
                  <a:lumOff val="5000"/>
                </a:schemeClr>
              </a:solidFill>
              <a:effectLst/>
              <a:latin typeface="+mn-ea"/>
              <a:cs typeface="Times New Roman" panose="02020603050405020304" pitchFamily="18" charset="0"/>
            </a:endParaRPr>
          </a:p>
        </p:txBody>
      </p:sp>
      <p:sp>
        <p:nvSpPr>
          <p:cNvPr id="2" name="文本框 1">
            <a:extLst>
              <a:ext uri="{FF2B5EF4-FFF2-40B4-BE49-F238E27FC236}">
                <a16:creationId xmlns:a16="http://schemas.microsoft.com/office/drawing/2014/main" id="{116217C7-D7B0-B3D9-4DAE-FECD022BFAC2}"/>
              </a:ext>
            </a:extLst>
          </p:cNvPr>
          <p:cNvSpPr txBox="1"/>
          <p:nvPr/>
        </p:nvSpPr>
        <p:spPr>
          <a:xfrm>
            <a:off x="1768551" y="927023"/>
            <a:ext cx="8915400" cy="700576"/>
          </a:xfrm>
          <a:prstGeom prst="rect">
            <a:avLst/>
          </a:prstGeom>
          <a:noFill/>
        </p:spPr>
        <p:txBody>
          <a:bodyPr wrap="square" rtlCol="0">
            <a:spAutoFit/>
          </a:bodyPr>
          <a:lstStyle/>
          <a:p>
            <a:pPr>
              <a:lnSpc>
                <a:spcPct val="150000"/>
              </a:lnSpc>
            </a:pPr>
            <a:r>
              <a:rPr lang="zh-CN" altLang="en-US" sz="1400" b="1" dirty="0">
                <a:solidFill>
                  <a:srgbClr val="3283FF"/>
                </a:solidFill>
                <a:latin typeface="微软雅黑" panose="020B0503020204020204" pitchFamily="34" charset="-122"/>
                <a:ea typeface="微软雅黑" panose="020B0503020204020204" pitchFamily="34" charset="-122"/>
              </a:rPr>
              <a:t>在选择插入图表前需要建立正确的图表数据区域，有些复杂的图表也是通过调整图表数据结构实现的</a:t>
            </a:r>
            <a:endParaRPr lang="en-US" altLang="zh-CN" sz="1400" b="1" dirty="0">
              <a:solidFill>
                <a:srgbClr val="3283FF"/>
              </a:solidFill>
              <a:latin typeface="微软雅黑" panose="020B0503020204020204" pitchFamily="34" charset="-122"/>
              <a:ea typeface="微软雅黑" panose="020B0503020204020204" pitchFamily="34" charset="-122"/>
            </a:endParaRPr>
          </a:p>
          <a:p>
            <a:pPr>
              <a:lnSpc>
                <a:spcPct val="150000"/>
              </a:lnSpc>
            </a:pPr>
            <a:r>
              <a:rPr lang="zh-CN" altLang="en-US" sz="1400" b="1" dirty="0">
                <a:solidFill>
                  <a:srgbClr val="3283FF"/>
                </a:solidFill>
                <a:latin typeface="微软雅黑" panose="020B0503020204020204" pitchFamily="34" charset="-122"/>
                <a:ea typeface="微软雅黑" panose="020B0503020204020204" pitchFamily="34" charset="-122"/>
              </a:rPr>
              <a:t>初学者建议先从基本的图表入手，在逐渐了解了数据结构对图表的影响后慢慢尝试相对复杂图表</a:t>
            </a:r>
          </a:p>
        </p:txBody>
      </p:sp>
      <p:sp>
        <p:nvSpPr>
          <p:cNvPr id="5" name="文本框 4">
            <a:extLst>
              <a:ext uri="{FF2B5EF4-FFF2-40B4-BE49-F238E27FC236}">
                <a16:creationId xmlns:a16="http://schemas.microsoft.com/office/drawing/2014/main" id="{B428088B-D715-670B-6075-B1866E8E3CF5}"/>
              </a:ext>
            </a:extLst>
          </p:cNvPr>
          <p:cNvSpPr txBox="1"/>
          <p:nvPr/>
        </p:nvSpPr>
        <p:spPr>
          <a:xfrm>
            <a:off x="6829424" y="1766098"/>
            <a:ext cx="4053924" cy="1213858"/>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zh-CN" sz="1400" b="1" i="0" u="none" strike="noStrike" kern="100" cap="none" spc="0" normalizeH="0" baseline="0" noProof="0" dirty="0">
                <a:ln>
                  <a:noFill/>
                </a:ln>
                <a:solidFill>
                  <a:srgbClr val="3283FF"/>
                </a:solidFill>
                <a:effectLst/>
                <a:uLnTx/>
                <a:uFillTx/>
                <a:latin typeface="微软雅黑"/>
                <a:ea typeface="微软雅黑"/>
                <a:cs typeface="Times New Roman" panose="02020603050405020304" pitchFamily="18" charset="0"/>
              </a:rPr>
              <a:t>维度</a:t>
            </a:r>
            <a:endParaRPr kumimoji="0" lang="en-US" altLang="zh-CN" sz="1400" b="1" i="0" u="none" strike="noStrike" kern="100" cap="none" spc="0" normalizeH="0" baseline="0" noProof="0" dirty="0">
              <a:ln>
                <a:noFill/>
              </a:ln>
              <a:solidFill>
                <a:srgbClr val="3283FF"/>
              </a:solidFill>
              <a:effectLst/>
              <a:uLnTx/>
              <a:uFillTx/>
              <a:latin typeface="微软雅黑"/>
              <a:ea typeface="微软雅黑"/>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zh-CN" altLang="zh-CN" sz="1200" b="0" i="0" u="none" strike="noStrike" kern="100" cap="none" spc="0" normalizeH="0" baseline="0" noProof="0" dirty="0">
                <a:ln>
                  <a:noFill/>
                </a:ln>
                <a:solidFill>
                  <a:prstClr val="black">
                    <a:lumMod val="95000"/>
                    <a:lumOff val="5000"/>
                  </a:prstClr>
                </a:solidFill>
                <a:effectLst/>
                <a:uLnTx/>
                <a:uFillTx/>
                <a:latin typeface="微软雅黑"/>
                <a:ea typeface="微软雅黑"/>
                <a:cs typeface="Times New Roman" panose="02020603050405020304" pitchFamily="18" charset="0"/>
              </a:rPr>
              <a:t>是指某一对象的描述性属性或特征，可以理解成分类标签。维度是解释事物或现象的角度。维度数据类型一般是字符串和日期，例如区域就是维度。</a:t>
            </a:r>
            <a:endParaRPr kumimoji="0" lang="zh-CN" altLang="zh-CN" sz="1050" b="0" i="0" u="none" strike="noStrike" kern="100" cap="none" spc="0" normalizeH="0" baseline="0" noProof="0" dirty="0">
              <a:ln>
                <a:noFill/>
              </a:ln>
              <a:solidFill>
                <a:prstClr val="black">
                  <a:lumMod val="95000"/>
                  <a:lumOff val="5000"/>
                </a:prstClr>
              </a:solidFill>
              <a:effectLst/>
              <a:uLnTx/>
              <a:uFillTx/>
              <a:latin typeface="微软雅黑"/>
              <a:ea typeface="微软雅黑"/>
              <a:cs typeface="Times New Roman" panose="02020603050405020304" pitchFamily="18" charset="0"/>
            </a:endParaRPr>
          </a:p>
        </p:txBody>
      </p:sp>
    </p:spTree>
    <p:extLst>
      <p:ext uri="{BB962C8B-B14F-4D97-AF65-F5344CB8AC3E}">
        <p14:creationId xmlns:p14="http://schemas.microsoft.com/office/powerpoint/2010/main" val="3400822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图表类型的选择</a:t>
            </a:r>
            <a:endParaRPr lang="en-US" dirty="0">
              <a:latin typeface="+mn-lt"/>
              <a:ea typeface="+mn-ea"/>
              <a:cs typeface="+mn-ea"/>
              <a:sym typeface="+mn-lt"/>
            </a:endParaRPr>
          </a:p>
        </p:txBody>
      </p:sp>
      <p:sp>
        <p:nvSpPr>
          <p:cNvPr id="4" name="文本框 3">
            <a:extLst>
              <a:ext uri="{FF2B5EF4-FFF2-40B4-BE49-F238E27FC236}">
                <a16:creationId xmlns:a16="http://schemas.microsoft.com/office/drawing/2014/main" id="{27E43623-FED5-04DF-978E-B4830F310E16}"/>
              </a:ext>
            </a:extLst>
          </p:cNvPr>
          <p:cNvSpPr txBox="1"/>
          <p:nvPr/>
        </p:nvSpPr>
        <p:spPr>
          <a:xfrm>
            <a:off x="1893569" y="1297126"/>
            <a:ext cx="2663862" cy="1069524"/>
          </a:xfrm>
          <a:prstGeom prst="rect">
            <a:avLst/>
          </a:prstGeom>
          <a:noFill/>
        </p:spPr>
        <p:txBody>
          <a:bodyPr wrap="square">
            <a:spAutoFit/>
          </a:bodyPr>
          <a:lstStyle/>
          <a:p>
            <a:pPr>
              <a:lnSpc>
                <a:spcPct val="150000"/>
              </a:lnSpc>
            </a:pPr>
            <a:r>
              <a:rPr lang="zh-CN" altLang="en-US" sz="1600" b="1" i="0" dirty="0">
                <a:solidFill>
                  <a:srgbClr val="121212"/>
                </a:solidFill>
                <a:effectLst/>
                <a:latin typeface="-apple-system"/>
              </a:rPr>
              <a:t>构成</a:t>
            </a:r>
            <a:endParaRPr lang="en-US" altLang="zh-CN" sz="1600" b="1" i="0" dirty="0">
              <a:solidFill>
                <a:srgbClr val="121212"/>
              </a:solidFill>
              <a:effectLst/>
              <a:latin typeface="-apple-system"/>
            </a:endParaRPr>
          </a:p>
          <a:p>
            <a:pPr>
              <a:lnSpc>
                <a:spcPct val="150000"/>
              </a:lnSpc>
            </a:pPr>
            <a:r>
              <a:rPr lang="zh-CN" altLang="en-US" sz="1400" b="0" i="0" dirty="0">
                <a:solidFill>
                  <a:srgbClr val="121212"/>
                </a:solidFill>
                <a:effectLst/>
                <a:latin typeface="-apple-system"/>
              </a:rPr>
              <a:t>构成主要探讨部分数据与整体之间的关系。</a:t>
            </a:r>
            <a:endParaRPr lang="zh-CN" altLang="en-US" sz="1400" dirty="0"/>
          </a:p>
        </p:txBody>
      </p:sp>
      <p:sp>
        <p:nvSpPr>
          <p:cNvPr id="6" name="文本框 5">
            <a:extLst>
              <a:ext uri="{FF2B5EF4-FFF2-40B4-BE49-F238E27FC236}">
                <a16:creationId xmlns:a16="http://schemas.microsoft.com/office/drawing/2014/main" id="{42251A4A-1217-D810-1510-7D7D503C2684}"/>
              </a:ext>
            </a:extLst>
          </p:cNvPr>
          <p:cNvSpPr txBox="1"/>
          <p:nvPr/>
        </p:nvSpPr>
        <p:spPr>
          <a:xfrm>
            <a:off x="8342555" y="1297126"/>
            <a:ext cx="3189643" cy="1069524"/>
          </a:xfrm>
          <a:prstGeom prst="rect">
            <a:avLst/>
          </a:prstGeom>
          <a:noFill/>
        </p:spPr>
        <p:txBody>
          <a:bodyPr wrap="square">
            <a:spAutoFit/>
          </a:bodyPr>
          <a:lstStyle/>
          <a:p>
            <a:pPr>
              <a:lnSpc>
                <a:spcPct val="150000"/>
              </a:lnSpc>
            </a:pPr>
            <a:r>
              <a:rPr lang="zh-CN" altLang="en-US" sz="1600" b="1" i="0" dirty="0">
                <a:solidFill>
                  <a:srgbClr val="121212"/>
                </a:solidFill>
                <a:effectLst/>
                <a:latin typeface="-apple-system"/>
              </a:rPr>
              <a:t>趋势</a:t>
            </a:r>
            <a:endParaRPr lang="en-US" altLang="zh-CN" sz="1600" b="1" i="0" dirty="0">
              <a:solidFill>
                <a:srgbClr val="121212"/>
              </a:solidFill>
              <a:effectLst/>
              <a:latin typeface="-apple-system"/>
            </a:endParaRPr>
          </a:p>
          <a:p>
            <a:pPr>
              <a:lnSpc>
                <a:spcPct val="150000"/>
              </a:lnSpc>
            </a:pPr>
            <a:r>
              <a:rPr lang="zh-CN" altLang="en-US" sz="1400" b="0" i="0" dirty="0">
                <a:solidFill>
                  <a:srgbClr val="121212"/>
                </a:solidFill>
                <a:effectLst/>
                <a:latin typeface="-apple-system"/>
              </a:rPr>
              <a:t>趋势指基于时间的数据，</a:t>
            </a:r>
            <a:endParaRPr lang="en-US" altLang="zh-CN" sz="1400" b="0" i="0" dirty="0">
              <a:solidFill>
                <a:srgbClr val="121212"/>
              </a:solidFill>
              <a:effectLst/>
              <a:latin typeface="-apple-system"/>
            </a:endParaRPr>
          </a:p>
          <a:p>
            <a:pPr>
              <a:lnSpc>
                <a:spcPct val="150000"/>
              </a:lnSpc>
            </a:pPr>
            <a:r>
              <a:rPr lang="zh-CN" altLang="en-US" sz="1400" b="0" i="0" dirty="0">
                <a:solidFill>
                  <a:srgbClr val="121212"/>
                </a:solidFill>
                <a:effectLst/>
                <a:latin typeface="-apple-system"/>
              </a:rPr>
              <a:t>关心数据如何随时间的变化而变化。</a:t>
            </a:r>
            <a:endParaRPr lang="zh-CN" altLang="en-US" sz="1400" dirty="0"/>
          </a:p>
        </p:txBody>
      </p:sp>
      <p:sp>
        <p:nvSpPr>
          <p:cNvPr id="8" name="文本框 7">
            <a:extLst>
              <a:ext uri="{FF2B5EF4-FFF2-40B4-BE49-F238E27FC236}">
                <a16:creationId xmlns:a16="http://schemas.microsoft.com/office/drawing/2014/main" id="{BA788105-E7C8-55BC-694F-4666301125D3}"/>
              </a:ext>
            </a:extLst>
          </p:cNvPr>
          <p:cNvSpPr txBox="1"/>
          <p:nvPr/>
        </p:nvSpPr>
        <p:spPr>
          <a:xfrm>
            <a:off x="5205916" y="1297126"/>
            <a:ext cx="2488154" cy="1069524"/>
          </a:xfrm>
          <a:prstGeom prst="rect">
            <a:avLst/>
          </a:prstGeom>
          <a:noFill/>
        </p:spPr>
        <p:txBody>
          <a:bodyPr wrap="square">
            <a:spAutoFit/>
          </a:bodyPr>
          <a:lstStyle/>
          <a:p>
            <a:pPr>
              <a:lnSpc>
                <a:spcPct val="150000"/>
              </a:lnSpc>
            </a:pPr>
            <a:r>
              <a:rPr lang="zh-CN" altLang="en-US" sz="1600" b="1" i="0" dirty="0">
                <a:solidFill>
                  <a:srgbClr val="121212"/>
                </a:solidFill>
                <a:effectLst/>
                <a:latin typeface="-apple-system"/>
              </a:rPr>
              <a:t>比较</a:t>
            </a:r>
            <a:endParaRPr lang="en-US" altLang="zh-CN" sz="1600" b="1" i="0" dirty="0">
              <a:solidFill>
                <a:srgbClr val="121212"/>
              </a:solidFill>
              <a:effectLst/>
              <a:latin typeface="-apple-system"/>
            </a:endParaRPr>
          </a:p>
          <a:p>
            <a:pPr>
              <a:lnSpc>
                <a:spcPct val="150000"/>
              </a:lnSpc>
            </a:pPr>
            <a:r>
              <a:rPr lang="zh-CN" altLang="en-US" sz="1400" b="0" i="0" dirty="0">
                <a:solidFill>
                  <a:srgbClr val="121212"/>
                </a:solidFill>
                <a:effectLst/>
                <a:latin typeface="-apple-system"/>
              </a:rPr>
              <a:t>比较只要关注多个项目的排列顺序。</a:t>
            </a:r>
            <a:endParaRPr lang="zh-CN" altLang="en-US" sz="1400" dirty="0"/>
          </a:p>
        </p:txBody>
      </p:sp>
      <p:graphicFrame>
        <p:nvGraphicFramePr>
          <p:cNvPr id="13" name="图表 12">
            <a:extLst>
              <a:ext uri="{FF2B5EF4-FFF2-40B4-BE49-F238E27FC236}">
                <a16:creationId xmlns:a16="http://schemas.microsoft.com/office/drawing/2014/main" id="{A6CAF6D5-9EBF-FD4C-A200-6853013F3D8A}"/>
              </a:ext>
            </a:extLst>
          </p:cNvPr>
          <p:cNvGraphicFramePr>
            <a:graphicFrameLocks noChangeAspect="1"/>
          </p:cNvGraphicFramePr>
          <p:nvPr>
            <p:extLst>
              <p:ext uri="{D42A27DB-BD31-4B8C-83A1-F6EECF244321}">
                <p14:modId xmlns:p14="http://schemas.microsoft.com/office/powerpoint/2010/main" val="4145550489"/>
              </p:ext>
            </p:extLst>
          </p:nvPr>
        </p:nvGraphicFramePr>
        <p:xfrm>
          <a:off x="1581373" y="2758100"/>
          <a:ext cx="3132000" cy="3132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图表 15">
            <a:extLst>
              <a:ext uri="{FF2B5EF4-FFF2-40B4-BE49-F238E27FC236}">
                <a16:creationId xmlns:a16="http://schemas.microsoft.com/office/drawing/2014/main" id="{6F5F13D4-321D-DB71-2706-D0273C915413}"/>
              </a:ext>
            </a:extLst>
          </p:cNvPr>
          <p:cNvGraphicFramePr/>
          <p:nvPr>
            <p:extLst>
              <p:ext uri="{D42A27DB-BD31-4B8C-83A1-F6EECF244321}">
                <p14:modId xmlns:p14="http://schemas.microsoft.com/office/powerpoint/2010/main" val="2352791032"/>
              </p:ext>
            </p:extLst>
          </p:nvPr>
        </p:nvGraphicFramePr>
        <p:xfrm>
          <a:off x="4976375" y="2758100"/>
          <a:ext cx="3132000" cy="3132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图表 18">
            <a:extLst>
              <a:ext uri="{FF2B5EF4-FFF2-40B4-BE49-F238E27FC236}">
                <a16:creationId xmlns:a16="http://schemas.microsoft.com/office/drawing/2014/main" id="{ECECA570-508D-8C4C-6D9F-029DA427F95E}"/>
              </a:ext>
            </a:extLst>
          </p:cNvPr>
          <p:cNvGraphicFramePr/>
          <p:nvPr>
            <p:extLst>
              <p:ext uri="{D42A27DB-BD31-4B8C-83A1-F6EECF244321}">
                <p14:modId xmlns:p14="http://schemas.microsoft.com/office/powerpoint/2010/main" val="3121120525"/>
              </p:ext>
            </p:extLst>
          </p:nvPr>
        </p:nvGraphicFramePr>
        <p:xfrm>
          <a:off x="8371376" y="2758100"/>
          <a:ext cx="3132000" cy="3132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15749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图表类型的选择</a:t>
            </a:r>
            <a:endParaRPr lang="en-US" dirty="0">
              <a:latin typeface="+mn-lt"/>
              <a:ea typeface="+mn-ea"/>
              <a:cs typeface="+mn-ea"/>
              <a:sym typeface="+mn-lt"/>
            </a:endParaRPr>
          </a:p>
        </p:txBody>
      </p:sp>
      <p:sp>
        <p:nvSpPr>
          <p:cNvPr id="4" name="文本框 3">
            <a:extLst>
              <a:ext uri="{FF2B5EF4-FFF2-40B4-BE49-F238E27FC236}">
                <a16:creationId xmlns:a16="http://schemas.microsoft.com/office/drawing/2014/main" id="{27E43623-FED5-04DF-978E-B4830F310E16}"/>
              </a:ext>
            </a:extLst>
          </p:cNvPr>
          <p:cNvSpPr txBox="1"/>
          <p:nvPr/>
        </p:nvSpPr>
        <p:spPr>
          <a:xfrm>
            <a:off x="1893569" y="1297126"/>
            <a:ext cx="4318388" cy="746358"/>
          </a:xfrm>
          <a:prstGeom prst="rect">
            <a:avLst/>
          </a:prstGeom>
          <a:noFill/>
        </p:spPr>
        <p:txBody>
          <a:bodyPr wrap="square">
            <a:spAutoFit/>
          </a:bodyPr>
          <a:lstStyle/>
          <a:p>
            <a:pPr>
              <a:lnSpc>
                <a:spcPct val="150000"/>
              </a:lnSpc>
            </a:pPr>
            <a:r>
              <a:rPr lang="zh-CN" altLang="en-US" sz="1600" b="1" i="0" dirty="0">
                <a:solidFill>
                  <a:srgbClr val="121212"/>
                </a:solidFill>
                <a:effectLst/>
                <a:latin typeface="-apple-system"/>
              </a:rPr>
              <a:t>分布</a:t>
            </a:r>
            <a:endParaRPr lang="en-US" altLang="zh-CN" sz="1600" b="1" i="0" dirty="0">
              <a:solidFill>
                <a:srgbClr val="121212"/>
              </a:solidFill>
              <a:effectLst/>
              <a:latin typeface="-apple-system"/>
            </a:endParaRPr>
          </a:p>
          <a:p>
            <a:pPr>
              <a:lnSpc>
                <a:spcPct val="150000"/>
              </a:lnSpc>
            </a:pPr>
            <a:r>
              <a:rPr lang="zh-CN" altLang="en-US" sz="1400" b="0" i="0" dirty="0">
                <a:solidFill>
                  <a:srgbClr val="121212"/>
                </a:solidFill>
                <a:effectLst/>
                <a:latin typeface="-apple-system"/>
              </a:rPr>
              <a:t>分布主要关注各数值范围内项目出现的频率等。</a:t>
            </a:r>
            <a:endParaRPr lang="zh-CN" altLang="en-US" sz="1200" dirty="0"/>
          </a:p>
        </p:txBody>
      </p:sp>
      <p:sp>
        <p:nvSpPr>
          <p:cNvPr id="8" name="文本框 7">
            <a:extLst>
              <a:ext uri="{FF2B5EF4-FFF2-40B4-BE49-F238E27FC236}">
                <a16:creationId xmlns:a16="http://schemas.microsoft.com/office/drawing/2014/main" id="{BA788105-E7C8-55BC-694F-4666301125D3}"/>
              </a:ext>
            </a:extLst>
          </p:cNvPr>
          <p:cNvSpPr txBox="1"/>
          <p:nvPr/>
        </p:nvSpPr>
        <p:spPr>
          <a:xfrm>
            <a:off x="6882038" y="1297126"/>
            <a:ext cx="4639401" cy="1069524"/>
          </a:xfrm>
          <a:prstGeom prst="rect">
            <a:avLst/>
          </a:prstGeom>
          <a:noFill/>
        </p:spPr>
        <p:txBody>
          <a:bodyPr wrap="square">
            <a:spAutoFit/>
          </a:bodyPr>
          <a:lstStyle/>
          <a:p>
            <a:pPr>
              <a:lnSpc>
                <a:spcPct val="150000"/>
              </a:lnSpc>
            </a:pPr>
            <a:r>
              <a:rPr lang="zh-CN" altLang="en-US" sz="1600" b="1" i="0" dirty="0">
                <a:solidFill>
                  <a:srgbClr val="121212"/>
                </a:solidFill>
                <a:effectLst/>
                <a:latin typeface="-apple-system"/>
              </a:rPr>
              <a:t>联系</a:t>
            </a:r>
            <a:endParaRPr lang="en-US" altLang="zh-CN" sz="1600" b="1" i="0" dirty="0">
              <a:solidFill>
                <a:srgbClr val="121212"/>
              </a:solidFill>
              <a:effectLst/>
              <a:latin typeface="-apple-system"/>
            </a:endParaRPr>
          </a:p>
          <a:p>
            <a:pPr>
              <a:lnSpc>
                <a:spcPct val="150000"/>
              </a:lnSpc>
            </a:pPr>
            <a:r>
              <a:rPr lang="zh-CN" altLang="en-US" sz="1400" b="0" i="0" dirty="0">
                <a:solidFill>
                  <a:srgbClr val="121212"/>
                </a:solidFill>
                <a:effectLst/>
                <a:latin typeface="-apple-system"/>
              </a:rPr>
              <a:t>联系主要探讨两个及两个以上变量是否表达出我们预期所要证明的模式关系。</a:t>
            </a:r>
            <a:endParaRPr lang="zh-CN" altLang="en-US" sz="1200" dirty="0"/>
          </a:p>
        </p:txBody>
      </p:sp>
      <mc:AlternateContent xmlns:mc="http://schemas.openxmlformats.org/markup-compatibility/2006" xmlns:cx1="http://schemas.microsoft.com/office/drawing/2015/9/8/chartex">
        <mc:Choice Requires="cx1">
          <p:graphicFrame>
            <p:nvGraphicFramePr>
              <p:cNvPr id="7" name="图表 6">
                <a:extLst>
                  <a:ext uri="{FF2B5EF4-FFF2-40B4-BE49-F238E27FC236}">
                    <a16:creationId xmlns:a16="http://schemas.microsoft.com/office/drawing/2014/main" id="{927DA394-1302-5618-CD4E-9ADE1371A34D}"/>
                  </a:ext>
                </a:extLst>
              </p:cNvPr>
              <p:cNvGraphicFramePr/>
              <p:nvPr/>
            </p:nvGraphicFramePr>
            <p:xfrm>
              <a:off x="2220258" y="2700169"/>
              <a:ext cx="4212815" cy="3231713"/>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7" name="图表 6">
                <a:extLst>
                  <a:ext uri="{FF2B5EF4-FFF2-40B4-BE49-F238E27FC236}">
                    <a16:creationId xmlns:a16="http://schemas.microsoft.com/office/drawing/2014/main" id="{927DA394-1302-5618-CD4E-9ADE1371A34D}"/>
                  </a:ext>
                </a:extLst>
              </p:cNvPr>
              <p:cNvPicPr>
                <a:picLocks noGrp="1" noRot="1" noChangeAspect="1" noMove="1" noResize="1" noEditPoints="1" noAdjustHandles="1" noChangeArrowheads="1" noChangeShapeType="1"/>
              </p:cNvPicPr>
              <p:nvPr/>
            </p:nvPicPr>
            <p:blipFill>
              <a:blip r:embed="rId3"/>
              <a:stretch>
                <a:fillRect/>
              </a:stretch>
            </p:blipFill>
            <p:spPr>
              <a:xfrm>
                <a:off x="2220258" y="2700169"/>
                <a:ext cx="4212815" cy="3231713"/>
              </a:xfrm>
              <a:prstGeom prst="rect">
                <a:avLst/>
              </a:prstGeom>
            </p:spPr>
          </p:pic>
        </mc:Fallback>
      </mc:AlternateContent>
      <p:graphicFrame>
        <p:nvGraphicFramePr>
          <p:cNvPr id="11" name="图表 10">
            <a:extLst>
              <a:ext uri="{FF2B5EF4-FFF2-40B4-BE49-F238E27FC236}">
                <a16:creationId xmlns:a16="http://schemas.microsoft.com/office/drawing/2014/main" id="{DA17ECBE-BCBE-812D-5E1B-B8F3AA4B4EF1}"/>
              </a:ext>
            </a:extLst>
          </p:cNvPr>
          <p:cNvGraphicFramePr/>
          <p:nvPr/>
        </p:nvGraphicFramePr>
        <p:xfrm>
          <a:off x="6882038" y="2700169"/>
          <a:ext cx="4521068" cy="3231713"/>
        </p:xfrm>
        <a:graphic>
          <a:graphicData uri="http://schemas.openxmlformats.org/drawingml/2006/chart">
            <c:chart xmlns:c="http://schemas.openxmlformats.org/drawingml/2006/chart" xmlns:r="http://schemas.openxmlformats.org/officeDocument/2006/relationships" r:id="rId4"/>
          </a:graphicData>
        </a:graphic>
      </p:graphicFrame>
      <p:sp>
        <p:nvSpPr>
          <p:cNvPr id="5" name="文本框 4">
            <a:extLst>
              <a:ext uri="{FF2B5EF4-FFF2-40B4-BE49-F238E27FC236}">
                <a16:creationId xmlns:a16="http://schemas.microsoft.com/office/drawing/2014/main" id="{BAC7A221-BFC4-FA7F-322A-C396B6E90303}"/>
              </a:ext>
            </a:extLst>
          </p:cNvPr>
          <p:cNvSpPr txBox="1"/>
          <p:nvPr/>
        </p:nvSpPr>
        <p:spPr>
          <a:xfrm>
            <a:off x="3246331" y="6052100"/>
            <a:ext cx="1625816" cy="246221"/>
          </a:xfrm>
          <a:prstGeom prst="rect">
            <a:avLst/>
          </a:prstGeom>
          <a:noFill/>
        </p:spPr>
        <p:txBody>
          <a:bodyPr wrap="square">
            <a:spAutoFit/>
          </a:bodyPr>
          <a:lstStyle/>
          <a:p>
            <a:r>
              <a:rPr lang="zh-CN" altLang="en-US" sz="1000" dirty="0"/>
              <a:t>帕累托图</a:t>
            </a:r>
          </a:p>
        </p:txBody>
      </p:sp>
    </p:spTree>
    <p:extLst>
      <p:ext uri="{BB962C8B-B14F-4D97-AF65-F5344CB8AC3E}">
        <p14:creationId xmlns:p14="http://schemas.microsoft.com/office/powerpoint/2010/main" val="2317791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a:latin typeface="+mn-lt"/>
                <a:ea typeface="+mn-ea"/>
                <a:cs typeface="+mn-ea"/>
                <a:sym typeface="+mn-lt"/>
              </a:rPr>
              <a:t>图表类型的选择</a:t>
            </a:r>
            <a:endParaRPr lang="en-US" dirty="0">
              <a:latin typeface="+mn-lt"/>
              <a:ea typeface="+mn-ea"/>
              <a:cs typeface="+mn-ea"/>
              <a:sym typeface="+mn-lt"/>
            </a:endParaRPr>
          </a:p>
        </p:txBody>
      </p:sp>
      <p:pic>
        <p:nvPicPr>
          <p:cNvPr id="2052" name="Picture 4">
            <a:extLst>
              <a:ext uri="{FF2B5EF4-FFF2-40B4-BE49-F238E27FC236}">
                <a16:creationId xmlns:a16="http://schemas.microsoft.com/office/drawing/2014/main" id="{6C759230-FEEE-94ED-5D17-AF3C7B7FB6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7404" y="1404137"/>
            <a:ext cx="6096896" cy="4712986"/>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4F618534-5B2D-8E06-04E2-1DFF8A3D55A6}"/>
              </a:ext>
            </a:extLst>
          </p:cNvPr>
          <p:cNvSpPr txBox="1"/>
          <p:nvPr/>
        </p:nvSpPr>
        <p:spPr>
          <a:xfrm>
            <a:off x="1935031" y="991244"/>
            <a:ext cx="6096896" cy="307777"/>
          </a:xfrm>
          <a:prstGeom prst="rect">
            <a:avLst/>
          </a:prstGeom>
          <a:noFill/>
        </p:spPr>
        <p:txBody>
          <a:bodyPr wrap="square">
            <a:spAutoFit/>
          </a:bodyPr>
          <a:lstStyle/>
          <a:p>
            <a:r>
              <a:rPr lang="zh-CN" altLang="en-US" sz="1400" b="0" i="0" dirty="0">
                <a:solidFill>
                  <a:schemeClr val="tx1">
                    <a:lumMod val="95000"/>
                    <a:lumOff val="5000"/>
                  </a:schemeClr>
                </a:solidFill>
                <a:effectLst/>
                <a:latin typeface="+mn-ea"/>
              </a:rPr>
              <a:t>国外专家</a:t>
            </a:r>
            <a:r>
              <a:rPr lang="en-US" altLang="zh-CN" sz="1400" b="0" i="0" dirty="0">
                <a:solidFill>
                  <a:schemeClr val="tx1">
                    <a:lumMod val="95000"/>
                    <a:lumOff val="5000"/>
                  </a:schemeClr>
                </a:solidFill>
                <a:effectLst/>
                <a:latin typeface="+mn-ea"/>
              </a:rPr>
              <a:t>Andrew Abela</a:t>
            </a:r>
            <a:r>
              <a:rPr lang="zh-CN" altLang="en-US" sz="1400" b="0" i="0" dirty="0">
                <a:solidFill>
                  <a:schemeClr val="tx1">
                    <a:lumMod val="95000"/>
                    <a:lumOff val="5000"/>
                  </a:schemeClr>
                </a:solidFill>
                <a:effectLst/>
                <a:latin typeface="+mn-ea"/>
              </a:rPr>
              <a:t>整理的图表类型选择指南</a:t>
            </a:r>
            <a:endParaRPr lang="zh-CN" altLang="en-US" sz="1400" dirty="0">
              <a:solidFill>
                <a:schemeClr val="tx1">
                  <a:lumMod val="95000"/>
                  <a:lumOff val="5000"/>
                </a:schemeClr>
              </a:solidFill>
              <a:latin typeface="+mn-ea"/>
            </a:endParaRPr>
          </a:p>
        </p:txBody>
      </p:sp>
    </p:spTree>
    <p:extLst>
      <p:ext uri="{BB962C8B-B14F-4D97-AF65-F5344CB8AC3E}">
        <p14:creationId xmlns:p14="http://schemas.microsoft.com/office/powerpoint/2010/main" val="951730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7CD89C7-C6F7-8849-026C-E6B5068BA889}"/>
              </a:ext>
            </a:extLst>
          </p:cNvPr>
          <p:cNvSpPr>
            <a:spLocks noGrp="1"/>
          </p:cNvSpPr>
          <p:nvPr>
            <p:ph type="body" sz="quarter" idx="12"/>
          </p:nvPr>
        </p:nvSpPr>
        <p:spPr/>
        <p:txBody>
          <a:bodyPr/>
          <a:lstStyle/>
          <a:p>
            <a:r>
              <a:rPr lang="zh-CN" altLang="en-US" dirty="0"/>
              <a:t>图表修饰的基本内容</a:t>
            </a:r>
          </a:p>
        </p:txBody>
      </p:sp>
      <p:cxnSp>
        <p:nvCxnSpPr>
          <p:cNvPr id="5" name="品 11">
            <a:extLst>
              <a:ext uri="{FF2B5EF4-FFF2-40B4-BE49-F238E27FC236}">
                <a16:creationId xmlns:a16="http://schemas.microsoft.com/office/drawing/2014/main" id="{E4FC852F-D2D7-446F-C401-EAAB4D081240}"/>
              </a:ext>
            </a:extLst>
          </p:cNvPr>
          <p:cNvCxnSpPr/>
          <p:nvPr>
            <p:custDataLst>
              <p:tags r:id="rId1"/>
            </p:custDataLst>
          </p:nvPr>
        </p:nvCxnSpPr>
        <p:spPr>
          <a:xfrm>
            <a:off x="3416745" y="1497153"/>
            <a:ext cx="6110515" cy="0"/>
          </a:xfrm>
          <a:prstGeom prst="line">
            <a:avLst/>
          </a:prstGeom>
          <a:noFill/>
          <a:ln w="38100" cap="flat" cmpd="sng" algn="ctr">
            <a:solidFill>
              <a:schemeClr val="accent1">
                <a:lumMod val="75000"/>
              </a:schemeClr>
            </a:solidFill>
            <a:prstDash val="solid"/>
            <a:miter lim="800000"/>
          </a:ln>
          <a:effectLst/>
        </p:spPr>
      </p:cxnSp>
      <p:grpSp>
        <p:nvGrpSpPr>
          <p:cNvPr id="7" name="组合 6">
            <a:extLst>
              <a:ext uri="{FF2B5EF4-FFF2-40B4-BE49-F238E27FC236}">
                <a16:creationId xmlns:a16="http://schemas.microsoft.com/office/drawing/2014/main" id="{CCE186BD-C0E5-E95A-3C0F-9113AED2517E}"/>
              </a:ext>
            </a:extLst>
          </p:cNvPr>
          <p:cNvGrpSpPr/>
          <p:nvPr/>
        </p:nvGrpSpPr>
        <p:grpSpPr>
          <a:xfrm>
            <a:off x="7224202" y="2275910"/>
            <a:ext cx="3464926" cy="538717"/>
            <a:chOff x="5585638" y="2225748"/>
            <a:chExt cx="3090529" cy="538717"/>
          </a:xfrm>
        </p:grpSpPr>
        <p:sp>
          <p:nvSpPr>
            <p:cNvPr id="8" name="剪去对角的矩形 14">
              <a:extLst>
                <a:ext uri="{FF2B5EF4-FFF2-40B4-BE49-F238E27FC236}">
                  <a16:creationId xmlns:a16="http://schemas.microsoft.com/office/drawing/2014/main" id="{E393B9B9-3B7C-4537-621A-94CCD09EA1B9}"/>
                </a:ext>
              </a:extLst>
            </p:cNvPr>
            <p:cNvSpPr/>
            <p:nvPr/>
          </p:nvSpPr>
          <p:spPr>
            <a:xfrm>
              <a:off x="5585638" y="2225748"/>
              <a:ext cx="3090529" cy="538717"/>
            </a:xfrm>
            <a:prstGeom prst="snip2DiagRect">
              <a:avLst/>
            </a:prstGeom>
            <a:noFill/>
            <a:ln w="25400" cap="flat" cmpd="sng" algn="ctr">
              <a:solidFill>
                <a:schemeClr val="accent1">
                  <a:lumMod val="75000"/>
                </a:schemeClr>
              </a:solidFill>
              <a:prstDash val="solid"/>
              <a:miter lim="800000"/>
            </a:ln>
            <a:effectLst/>
          </p:spPr>
          <p:txBody>
            <a:bodyPr rtlCol="0" anchor="ctr"/>
            <a:lstStyle/>
            <a:p>
              <a:pPr marL="0" marR="0" lvl="0" indent="0" algn="ctr" defTabSz="913765"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lumMod val="50000"/>
                  </a:schemeClr>
                </a:solidFill>
                <a:effectLst/>
                <a:uLnTx/>
                <a:uFillTx/>
                <a:latin typeface="Calibri" panose="020F0502020204030204"/>
                <a:ea typeface="宋体" panose="02010600030101010101" pitchFamily="2" charset="-122"/>
                <a:cs typeface="+mn-cs"/>
              </a:endParaRPr>
            </a:p>
          </p:txBody>
        </p:sp>
        <p:sp>
          <p:nvSpPr>
            <p:cNvPr id="9" name="文本框 19">
              <a:extLst>
                <a:ext uri="{FF2B5EF4-FFF2-40B4-BE49-F238E27FC236}">
                  <a16:creationId xmlns:a16="http://schemas.microsoft.com/office/drawing/2014/main" id="{8759489A-A4D5-01E2-0EE0-96D692093109}"/>
                </a:ext>
              </a:extLst>
            </p:cNvPr>
            <p:cNvSpPr txBox="1"/>
            <p:nvPr/>
          </p:nvSpPr>
          <p:spPr>
            <a:xfrm>
              <a:off x="6018028" y="2268304"/>
              <a:ext cx="2225748" cy="461665"/>
            </a:xfrm>
            <a:prstGeom prst="rect">
              <a:avLst/>
            </a:prstGeom>
            <a:noFill/>
          </p:spPr>
          <p:txBody>
            <a:bodyPr wrap="square" rtlCol="0">
              <a:spAutoFit/>
            </a:bodyPr>
            <a:lstStyle/>
            <a:p>
              <a:pPr marL="0" marR="0" lvl="0" indent="0" algn="ctr" defTabSz="913765"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1357AE"/>
                  </a:solidFill>
                  <a:effectLst/>
                  <a:uLnTx/>
                  <a:uFillTx/>
                </a:rPr>
                <a:t>三个方向</a:t>
              </a:r>
            </a:p>
          </p:txBody>
        </p:sp>
      </p:grpSp>
      <p:sp>
        <p:nvSpPr>
          <p:cNvPr id="10" name="文本框 20">
            <a:extLst>
              <a:ext uri="{FF2B5EF4-FFF2-40B4-BE49-F238E27FC236}">
                <a16:creationId xmlns:a16="http://schemas.microsoft.com/office/drawing/2014/main" id="{EA48B353-AB53-BF53-8DE1-D2E7D8D22EFE}"/>
              </a:ext>
            </a:extLst>
          </p:cNvPr>
          <p:cNvSpPr txBox="1"/>
          <p:nvPr/>
        </p:nvSpPr>
        <p:spPr>
          <a:xfrm>
            <a:off x="7333374" y="3130826"/>
            <a:ext cx="3551697" cy="379656"/>
          </a:xfrm>
          <a:prstGeom prst="rect">
            <a:avLst/>
          </a:prstGeom>
          <a:noFill/>
        </p:spPr>
        <p:txBody>
          <a:bodyPr wrap="square" rtlCol="0">
            <a:spAutoFit/>
          </a:bodyPr>
          <a:lstStyle/>
          <a:p>
            <a:pPr marL="381000" marR="0" lvl="0" indent="-381000" defTabSz="913765" eaLnBrk="1" fontAlgn="auto" latinLnBrk="0" hangingPunct="1">
              <a:lnSpc>
                <a:spcPct val="100000"/>
              </a:lnSpc>
              <a:spcBef>
                <a:spcPts val="0"/>
              </a:spcBef>
              <a:spcAft>
                <a:spcPts val="0"/>
              </a:spcAft>
              <a:buClrTx/>
              <a:buSzTx/>
              <a:buFont typeface="Wingdings" panose="05000000000000000000" pitchFamily="2" charset="2"/>
              <a:buChar char="n"/>
              <a:defRPr/>
            </a:pPr>
            <a:r>
              <a:rPr kumimoji="0" lang="zh-CN" altLang="en-US" sz="1865" b="0" i="0" u="none" strike="noStrike" kern="0" cap="none" spc="0" normalizeH="0" baseline="0" noProof="0" dirty="0">
                <a:ln>
                  <a:noFill/>
                </a:ln>
                <a:effectLst/>
                <a:uLnTx/>
                <a:uFillTx/>
              </a:rPr>
              <a:t>合理的配色</a:t>
            </a:r>
          </a:p>
        </p:txBody>
      </p:sp>
      <p:sp>
        <p:nvSpPr>
          <p:cNvPr id="11" name="文本框 21">
            <a:extLst>
              <a:ext uri="{FF2B5EF4-FFF2-40B4-BE49-F238E27FC236}">
                <a16:creationId xmlns:a16="http://schemas.microsoft.com/office/drawing/2014/main" id="{D06D4AFB-CEEA-C6EA-506A-C361BBED30E1}"/>
              </a:ext>
            </a:extLst>
          </p:cNvPr>
          <p:cNvSpPr txBox="1"/>
          <p:nvPr/>
        </p:nvSpPr>
        <p:spPr>
          <a:xfrm>
            <a:off x="7333374" y="3836686"/>
            <a:ext cx="3551697" cy="379656"/>
          </a:xfrm>
          <a:prstGeom prst="rect">
            <a:avLst/>
          </a:prstGeom>
          <a:noFill/>
        </p:spPr>
        <p:txBody>
          <a:bodyPr wrap="square" rtlCol="0">
            <a:spAutoFit/>
          </a:bodyPr>
          <a:lstStyle/>
          <a:p>
            <a:pPr marL="381000" marR="0" lvl="0" indent="-381000" defTabSz="913765" eaLnBrk="1" fontAlgn="auto" latinLnBrk="0" hangingPunct="1">
              <a:lnSpc>
                <a:spcPct val="100000"/>
              </a:lnSpc>
              <a:spcBef>
                <a:spcPts val="0"/>
              </a:spcBef>
              <a:spcAft>
                <a:spcPts val="0"/>
              </a:spcAft>
              <a:buClrTx/>
              <a:buSzTx/>
              <a:buFont typeface="Wingdings" panose="05000000000000000000" pitchFamily="2" charset="2"/>
              <a:buChar char="n"/>
              <a:defRPr/>
            </a:pPr>
            <a:r>
              <a:rPr kumimoji="0" lang="zh-CN" altLang="en-US" sz="1865" b="0" i="0" u="none" strike="noStrike" kern="0" cap="none" spc="0" normalizeH="0" baseline="0" noProof="0" dirty="0">
                <a:ln>
                  <a:noFill/>
                </a:ln>
                <a:effectLst/>
                <a:uLnTx/>
                <a:uFillTx/>
              </a:rPr>
              <a:t>正确的字体</a:t>
            </a:r>
          </a:p>
        </p:txBody>
      </p:sp>
      <p:sp>
        <p:nvSpPr>
          <p:cNvPr id="12" name="文本框 22">
            <a:extLst>
              <a:ext uri="{FF2B5EF4-FFF2-40B4-BE49-F238E27FC236}">
                <a16:creationId xmlns:a16="http://schemas.microsoft.com/office/drawing/2014/main" id="{B33C25E3-8F79-CD39-FAD2-3AAAC8202FC3}"/>
              </a:ext>
            </a:extLst>
          </p:cNvPr>
          <p:cNvSpPr txBox="1"/>
          <p:nvPr/>
        </p:nvSpPr>
        <p:spPr>
          <a:xfrm>
            <a:off x="7333374" y="4542546"/>
            <a:ext cx="3551697" cy="379656"/>
          </a:xfrm>
          <a:prstGeom prst="rect">
            <a:avLst/>
          </a:prstGeom>
          <a:noFill/>
        </p:spPr>
        <p:txBody>
          <a:bodyPr wrap="square" rtlCol="0">
            <a:spAutoFit/>
          </a:bodyPr>
          <a:lstStyle/>
          <a:p>
            <a:pPr marL="381000" marR="0" lvl="0" indent="-381000" defTabSz="913765" eaLnBrk="1" fontAlgn="auto" latinLnBrk="0" hangingPunct="1">
              <a:lnSpc>
                <a:spcPct val="100000"/>
              </a:lnSpc>
              <a:spcBef>
                <a:spcPts val="0"/>
              </a:spcBef>
              <a:spcAft>
                <a:spcPts val="0"/>
              </a:spcAft>
              <a:buClrTx/>
              <a:buSzTx/>
              <a:buFont typeface="Wingdings" panose="05000000000000000000" pitchFamily="2" charset="2"/>
              <a:buChar char="n"/>
              <a:defRPr/>
            </a:pPr>
            <a:r>
              <a:rPr kumimoji="0" lang="zh-CN" altLang="en-US" sz="1865" b="0" i="0" u="none" strike="noStrike" kern="0" cap="none" spc="0" normalizeH="0" baseline="0" noProof="0" dirty="0">
                <a:ln>
                  <a:noFill/>
                </a:ln>
                <a:effectLst/>
                <a:uLnTx/>
                <a:uFillTx/>
              </a:rPr>
              <a:t>图表元素的修饰</a:t>
            </a:r>
          </a:p>
        </p:txBody>
      </p:sp>
      <p:pic>
        <p:nvPicPr>
          <p:cNvPr id="13" name="图片 12" descr="图表, 条形图&#10;&#10;描述已自动生成">
            <a:extLst>
              <a:ext uri="{FF2B5EF4-FFF2-40B4-BE49-F238E27FC236}">
                <a16:creationId xmlns:a16="http://schemas.microsoft.com/office/drawing/2014/main" id="{92B89C75-6A4E-B8D7-FEAE-AC92D12452E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169148" y="2027088"/>
            <a:ext cx="4374113" cy="3158501"/>
          </a:xfrm>
          <a:prstGeom prst="rect">
            <a:avLst/>
          </a:prstGeom>
        </p:spPr>
      </p:pic>
    </p:spTree>
    <p:extLst>
      <p:ext uri="{BB962C8B-B14F-4D97-AF65-F5344CB8AC3E}">
        <p14:creationId xmlns:p14="http://schemas.microsoft.com/office/powerpoint/2010/main" val="8571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50"/>
                                        <p:tgtEl>
                                          <p:spTgt spid="10"/>
                                        </p:tgtEl>
                                      </p:cBhvr>
                                    </p:animEffect>
                                    <p:anim calcmode="lin" valueType="num">
                                      <p:cBhvr>
                                        <p:cTn id="14" dur="250" fill="hold"/>
                                        <p:tgtEl>
                                          <p:spTgt spid="10"/>
                                        </p:tgtEl>
                                        <p:attrNameLst>
                                          <p:attrName>ppt_x</p:attrName>
                                        </p:attrNameLst>
                                      </p:cBhvr>
                                      <p:tavLst>
                                        <p:tav tm="0">
                                          <p:val>
                                            <p:strVal val="#ppt_x"/>
                                          </p:val>
                                        </p:tav>
                                        <p:tav tm="100000">
                                          <p:val>
                                            <p:strVal val="#ppt_x"/>
                                          </p:val>
                                        </p:tav>
                                      </p:tavLst>
                                    </p:anim>
                                    <p:anim calcmode="lin" valueType="num">
                                      <p:cBhvr>
                                        <p:cTn id="15" dur="250" fill="hold"/>
                                        <p:tgtEl>
                                          <p:spTgt spid="10"/>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42"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50"/>
                                        <p:tgtEl>
                                          <p:spTgt spid="11"/>
                                        </p:tgtEl>
                                      </p:cBhvr>
                                    </p:animEffect>
                                    <p:anim calcmode="lin" valueType="num">
                                      <p:cBhvr>
                                        <p:cTn id="20" dur="250" fill="hold"/>
                                        <p:tgtEl>
                                          <p:spTgt spid="11"/>
                                        </p:tgtEl>
                                        <p:attrNameLst>
                                          <p:attrName>ppt_x</p:attrName>
                                        </p:attrNameLst>
                                      </p:cBhvr>
                                      <p:tavLst>
                                        <p:tav tm="0">
                                          <p:val>
                                            <p:strVal val="#ppt_x"/>
                                          </p:val>
                                        </p:tav>
                                        <p:tav tm="100000">
                                          <p:val>
                                            <p:strVal val="#ppt_x"/>
                                          </p:val>
                                        </p:tav>
                                      </p:tavLst>
                                    </p:anim>
                                    <p:anim calcmode="lin" valueType="num">
                                      <p:cBhvr>
                                        <p:cTn id="21" dur="250" fill="hold"/>
                                        <p:tgtEl>
                                          <p:spTgt spid="11"/>
                                        </p:tgtEl>
                                        <p:attrNameLst>
                                          <p:attrName>ppt_y</p:attrName>
                                        </p:attrNameLst>
                                      </p:cBhvr>
                                      <p:tavLst>
                                        <p:tav tm="0">
                                          <p:val>
                                            <p:strVal val="#ppt_y+.1"/>
                                          </p:val>
                                        </p:tav>
                                        <p:tav tm="100000">
                                          <p:val>
                                            <p:strVal val="#ppt_y"/>
                                          </p:val>
                                        </p:tav>
                                      </p:tavLst>
                                    </p:anim>
                                  </p:childTnLst>
                                </p:cTn>
                              </p:par>
                            </p:childTnLst>
                          </p:cTn>
                        </p:par>
                        <p:par>
                          <p:cTn id="22" fill="hold">
                            <p:stCondLst>
                              <p:cond delay="750"/>
                            </p:stCondLst>
                            <p:childTnLst>
                              <p:par>
                                <p:cTn id="23" presetID="42"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50"/>
                                        <p:tgtEl>
                                          <p:spTgt spid="12"/>
                                        </p:tgtEl>
                                      </p:cBhvr>
                                    </p:animEffect>
                                    <p:anim calcmode="lin" valueType="num">
                                      <p:cBhvr>
                                        <p:cTn id="26" dur="250" fill="hold"/>
                                        <p:tgtEl>
                                          <p:spTgt spid="12"/>
                                        </p:tgtEl>
                                        <p:attrNameLst>
                                          <p:attrName>ppt_x</p:attrName>
                                        </p:attrNameLst>
                                      </p:cBhvr>
                                      <p:tavLst>
                                        <p:tav tm="0">
                                          <p:val>
                                            <p:strVal val="#ppt_x"/>
                                          </p:val>
                                        </p:tav>
                                        <p:tav tm="100000">
                                          <p:val>
                                            <p:strVal val="#ppt_x"/>
                                          </p:val>
                                        </p:tav>
                                      </p:tavLst>
                                    </p:anim>
                                    <p:anim calcmode="lin" valueType="num">
                                      <p:cBhvr>
                                        <p:cTn id="27" dur="2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C7559E4-2D07-FAEE-46E2-67F9E0CFF3FE}"/>
              </a:ext>
            </a:extLst>
          </p:cNvPr>
          <p:cNvSpPr>
            <a:spLocks noGrp="1"/>
          </p:cNvSpPr>
          <p:nvPr>
            <p:ph type="body" sz="quarter" idx="12"/>
          </p:nvPr>
        </p:nvSpPr>
        <p:spPr/>
        <p:txBody>
          <a:bodyPr/>
          <a:lstStyle/>
          <a:p>
            <a:r>
              <a:rPr lang="zh-CN" altLang="en-US" dirty="0">
                <a:latin typeface="+mn-lt"/>
                <a:ea typeface="+mn-ea"/>
                <a:cs typeface="+mn-ea"/>
                <a:sym typeface="+mn-lt"/>
              </a:rPr>
              <a:t>配色选择</a:t>
            </a:r>
            <a:endParaRPr lang="zh-CN" altLang="en-US" dirty="0"/>
          </a:p>
        </p:txBody>
      </p:sp>
      <p:cxnSp>
        <p:nvCxnSpPr>
          <p:cNvPr id="5" name="品 11">
            <a:extLst>
              <a:ext uri="{FF2B5EF4-FFF2-40B4-BE49-F238E27FC236}">
                <a16:creationId xmlns:a16="http://schemas.microsoft.com/office/drawing/2014/main" id="{1379F628-116E-9D7B-3B11-FB536472C29B}"/>
              </a:ext>
            </a:extLst>
          </p:cNvPr>
          <p:cNvCxnSpPr/>
          <p:nvPr>
            <p:custDataLst>
              <p:tags r:id="rId1"/>
            </p:custDataLst>
          </p:nvPr>
        </p:nvCxnSpPr>
        <p:spPr>
          <a:xfrm>
            <a:off x="3576030" y="1366525"/>
            <a:ext cx="6110515" cy="0"/>
          </a:xfrm>
          <a:prstGeom prst="line">
            <a:avLst/>
          </a:prstGeom>
          <a:noFill/>
          <a:ln w="38100" cap="flat" cmpd="sng" algn="ctr">
            <a:solidFill>
              <a:schemeClr val="accent1">
                <a:lumMod val="75000"/>
              </a:schemeClr>
            </a:solidFill>
            <a:prstDash val="solid"/>
            <a:miter lim="800000"/>
          </a:ln>
          <a:effectLst/>
        </p:spPr>
      </p:cxnSp>
      <p:grpSp>
        <p:nvGrpSpPr>
          <p:cNvPr id="6" name="组合 5">
            <a:extLst>
              <a:ext uri="{FF2B5EF4-FFF2-40B4-BE49-F238E27FC236}">
                <a16:creationId xmlns:a16="http://schemas.microsoft.com/office/drawing/2014/main" id="{51B037F5-3B14-7698-6157-97D8D278DF68}"/>
              </a:ext>
            </a:extLst>
          </p:cNvPr>
          <p:cNvGrpSpPr/>
          <p:nvPr/>
        </p:nvGrpSpPr>
        <p:grpSpPr>
          <a:xfrm>
            <a:off x="1575707" y="1673682"/>
            <a:ext cx="10131880" cy="1071626"/>
            <a:chOff x="0" y="1252351"/>
            <a:chExt cx="9144000" cy="806823"/>
          </a:xfrm>
        </p:grpSpPr>
        <p:sp>
          <p:nvSpPr>
            <p:cNvPr id="7" name="矩形 6">
              <a:extLst>
                <a:ext uri="{FF2B5EF4-FFF2-40B4-BE49-F238E27FC236}">
                  <a16:creationId xmlns:a16="http://schemas.microsoft.com/office/drawing/2014/main" id="{3A590B05-26E0-B402-472C-50D3FD3CEC04}"/>
                </a:ext>
              </a:extLst>
            </p:cNvPr>
            <p:cNvSpPr/>
            <p:nvPr/>
          </p:nvSpPr>
          <p:spPr>
            <a:xfrm>
              <a:off x="0" y="1252351"/>
              <a:ext cx="9144000" cy="80682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sp>
          <p:nvSpPr>
            <p:cNvPr id="8" name="文本框 14">
              <a:extLst>
                <a:ext uri="{FF2B5EF4-FFF2-40B4-BE49-F238E27FC236}">
                  <a16:creationId xmlns:a16="http://schemas.microsoft.com/office/drawing/2014/main" id="{CE23B2A4-60AA-00F8-F442-056F651BBB8B}"/>
                </a:ext>
              </a:extLst>
            </p:cNvPr>
            <p:cNvSpPr txBox="1"/>
            <p:nvPr/>
          </p:nvSpPr>
          <p:spPr>
            <a:xfrm>
              <a:off x="520185" y="1307821"/>
              <a:ext cx="8151383" cy="669393"/>
            </a:xfrm>
            <a:prstGeom prst="rect">
              <a:avLst/>
            </a:prstGeom>
            <a:noFill/>
          </p:spPr>
          <p:txBody>
            <a:bodyPr wrap="square" rtlCol="0">
              <a:spAutoFit/>
            </a:bodyPr>
            <a:lstStyle/>
            <a:p>
              <a:pPr>
                <a:lnSpc>
                  <a:spcPct val="200000"/>
                </a:lnSpc>
              </a:pPr>
              <a:r>
                <a:rPr lang="zh-CN" altLang="en-US" sz="1400" dirty="0">
                  <a:solidFill>
                    <a:schemeClr val="bg1"/>
                  </a:solidFill>
                  <a:latin typeface="冬青黑体简体中文 W3" pitchFamily="2" charset="-122"/>
                  <a:ea typeface="冬青黑体简体中文 W3" pitchFamily="2" charset="-122"/>
                </a:rPr>
                <a:t>图表配色包括字体颜色和图形颜色。字体颜色要求较为简单，主要避免颜色过于突兀，例如深色背景可采用浅灰色</a:t>
              </a:r>
              <a:r>
                <a:rPr lang="en-US" altLang="zh-CN" sz="1400" dirty="0">
                  <a:solidFill>
                    <a:schemeClr val="bg1"/>
                  </a:solidFill>
                  <a:latin typeface="冬青黑体简体中文 W3" pitchFamily="2" charset="-122"/>
                  <a:ea typeface="冬青黑体简体中文 W3" pitchFamily="2" charset="-122"/>
                </a:rPr>
                <a:t>(242,242,242)</a:t>
              </a:r>
              <a:r>
                <a:rPr lang="zh-CN" altLang="en-US" sz="1400" dirty="0">
                  <a:solidFill>
                    <a:schemeClr val="bg1"/>
                  </a:solidFill>
                  <a:latin typeface="冬青黑体简体中文 W3" pitchFamily="2" charset="-122"/>
                  <a:ea typeface="冬青黑体简体中文 W3" pitchFamily="2" charset="-122"/>
                </a:rPr>
                <a:t>字体，同时尽量保证图表内字体颜色都是一致的，需要突出显示的文本除外。</a:t>
              </a:r>
            </a:p>
          </p:txBody>
        </p:sp>
      </p:grpSp>
      <p:sp>
        <p:nvSpPr>
          <p:cNvPr id="19" name="文本框 18">
            <a:extLst>
              <a:ext uri="{FF2B5EF4-FFF2-40B4-BE49-F238E27FC236}">
                <a16:creationId xmlns:a16="http://schemas.microsoft.com/office/drawing/2014/main" id="{8475457B-C72F-8036-0586-F7F0EB942D14}"/>
              </a:ext>
            </a:extLst>
          </p:cNvPr>
          <p:cNvSpPr txBox="1"/>
          <p:nvPr/>
        </p:nvSpPr>
        <p:spPr>
          <a:xfrm>
            <a:off x="2011293" y="3271557"/>
            <a:ext cx="2916214" cy="1883272"/>
          </a:xfrm>
          <a:prstGeom prst="rect">
            <a:avLst/>
          </a:prstGeom>
          <a:noFill/>
        </p:spPr>
        <p:txBody>
          <a:bodyPr wrap="square">
            <a:spAutoFit/>
          </a:bodyPr>
          <a:lstStyle/>
          <a:p>
            <a:pPr algn="just">
              <a:lnSpc>
                <a:spcPct val="200000"/>
              </a:lnSpc>
            </a:pPr>
            <a:r>
              <a:rPr lang="zh-CN" altLang="en-US" sz="1200" kern="100" dirty="0">
                <a:effectLst/>
                <a:latin typeface="+mn-ea"/>
                <a:cs typeface="Times New Roman" panose="02020603050405020304" pitchFamily="18" charset="0"/>
              </a:rPr>
              <a:t>背景填充主要有深色和浅色之分，取决与主题色，最为方便方式是设置无填充，通过边框区分图表区域，</a:t>
            </a:r>
            <a:r>
              <a:rPr lang="zh-CN" altLang="en-US" sz="1200" kern="100" dirty="0">
                <a:latin typeface="+mn-ea"/>
                <a:cs typeface="Times New Roman" panose="02020603050405020304" pitchFamily="18" charset="0"/>
              </a:rPr>
              <a:t>亦或</a:t>
            </a:r>
            <a:r>
              <a:rPr lang="zh-CN" altLang="en-US" sz="1200" kern="100" dirty="0">
                <a:effectLst/>
                <a:latin typeface="+mn-ea"/>
                <a:cs typeface="Times New Roman" panose="02020603050405020304" pitchFamily="18" charset="0"/>
              </a:rPr>
              <a:t>是使用主题相近的颜色，如纯白色背景可以设置图表背景为浅灰色。</a:t>
            </a:r>
            <a:endParaRPr lang="zh-CN" altLang="zh-CN" sz="1200" kern="100" dirty="0">
              <a:effectLst/>
              <a:latin typeface="+mn-ea"/>
              <a:cs typeface="Times New Roman" panose="02020603050405020304" pitchFamily="18" charset="0"/>
            </a:endParaRPr>
          </a:p>
        </p:txBody>
      </p:sp>
      <p:sp>
        <p:nvSpPr>
          <p:cNvPr id="21" name="文本框 20">
            <a:extLst>
              <a:ext uri="{FF2B5EF4-FFF2-40B4-BE49-F238E27FC236}">
                <a16:creationId xmlns:a16="http://schemas.microsoft.com/office/drawing/2014/main" id="{53A792C9-362E-8AC6-371A-5DC60CED9A0F}"/>
              </a:ext>
            </a:extLst>
          </p:cNvPr>
          <p:cNvSpPr txBox="1"/>
          <p:nvPr/>
        </p:nvSpPr>
        <p:spPr>
          <a:xfrm>
            <a:off x="5325062" y="3271557"/>
            <a:ext cx="3149373" cy="2991268"/>
          </a:xfrm>
          <a:prstGeom prst="rect">
            <a:avLst/>
          </a:prstGeom>
          <a:noFill/>
        </p:spPr>
        <p:txBody>
          <a:bodyPr wrap="square">
            <a:spAutoFit/>
          </a:bodyPr>
          <a:lstStyle/>
          <a:p>
            <a:pPr algn="just">
              <a:lnSpc>
                <a:spcPct val="200000"/>
              </a:lnSpc>
            </a:pPr>
            <a:r>
              <a:rPr lang="zh-CN" altLang="zh-CN" sz="1200" kern="100" dirty="0">
                <a:effectLst/>
                <a:latin typeface="+mn-ea"/>
                <a:cs typeface="Times New Roman" panose="02020603050405020304" pitchFamily="18" charset="0"/>
              </a:rPr>
              <a:t>绘图区数据系列的图形配色是整个图表配色的关键，也决定了图表能否“一眼吸引”受众。首先确定图表的色系，选深色调还是浅色调，选择蓝色还是橙色，保证图表整体的协调。如果需要展示对比关系，优先使用位置关系体现，其次通过对比色体现，但一般建议颜色不超过</a:t>
            </a:r>
            <a:r>
              <a:rPr lang="en-US" altLang="zh-CN" sz="1200" kern="100" dirty="0">
                <a:effectLst/>
                <a:latin typeface="+mn-ea"/>
                <a:cs typeface="Times New Roman" panose="02020603050405020304" pitchFamily="18" charset="0"/>
              </a:rPr>
              <a:t>3</a:t>
            </a:r>
            <a:r>
              <a:rPr lang="zh-CN" altLang="zh-CN" sz="1200" kern="100" dirty="0">
                <a:effectLst/>
                <a:latin typeface="+mn-ea"/>
                <a:cs typeface="Times New Roman" panose="02020603050405020304" pitchFamily="18" charset="0"/>
              </a:rPr>
              <a:t>个，例如圆饼图中分类多时要求颜色也多，显示效果较差。</a:t>
            </a:r>
          </a:p>
        </p:txBody>
      </p:sp>
      <p:sp>
        <p:nvSpPr>
          <p:cNvPr id="22" name="文本框 21">
            <a:extLst>
              <a:ext uri="{FF2B5EF4-FFF2-40B4-BE49-F238E27FC236}">
                <a16:creationId xmlns:a16="http://schemas.microsoft.com/office/drawing/2014/main" id="{1500F982-77E2-F8DD-89B8-5C263985AAE7}"/>
              </a:ext>
            </a:extLst>
          </p:cNvPr>
          <p:cNvSpPr txBox="1"/>
          <p:nvPr/>
        </p:nvSpPr>
        <p:spPr>
          <a:xfrm>
            <a:off x="8859224" y="3276527"/>
            <a:ext cx="2512170" cy="2252604"/>
          </a:xfrm>
          <a:prstGeom prst="rect">
            <a:avLst/>
          </a:prstGeom>
          <a:noFill/>
        </p:spPr>
        <p:txBody>
          <a:bodyPr wrap="square">
            <a:spAutoFit/>
          </a:bodyPr>
          <a:lstStyle/>
          <a:p>
            <a:pPr algn="just">
              <a:lnSpc>
                <a:spcPct val="200000"/>
              </a:lnSpc>
            </a:pPr>
            <a:r>
              <a:rPr lang="zh-CN" altLang="zh-CN" sz="1200" kern="100" dirty="0">
                <a:effectLst/>
                <a:latin typeface="+mn-ea"/>
                <a:cs typeface="Times New Roman" panose="02020603050405020304" pitchFamily="18" charset="0"/>
              </a:rPr>
              <a:t>有些公司有固定的配色标准，直接采用配色标准是最为高效的方法。也可以在日常中将配色较好的案例截图下来，</a:t>
            </a:r>
            <a:r>
              <a:rPr lang="zh-CN" altLang="en-US" sz="1200" kern="100" dirty="0">
                <a:latin typeface="+mn-ea"/>
                <a:cs typeface="Times New Roman" panose="02020603050405020304" pitchFamily="18" charset="0"/>
              </a:rPr>
              <a:t>在</a:t>
            </a:r>
            <a:r>
              <a:rPr lang="en-US" altLang="zh-CN" sz="1200" kern="100" dirty="0">
                <a:latin typeface="+mn-ea"/>
                <a:cs typeface="Times New Roman" panose="02020603050405020304" pitchFamily="18" charset="0"/>
              </a:rPr>
              <a:t>PPT</a:t>
            </a:r>
            <a:r>
              <a:rPr lang="zh-CN" altLang="en-US" sz="1200" kern="100" dirty="0">
                <a:latin typeface="+mn-ea"/>
                <a:cs typeface="Times New Roman" panose="02020603050405020304" pitchFamily="18" charset="0"/>
              </a:rPr>
              <a:t>中颜色设置中可通过取色器功能获取到</a:t>
            </a:r>
            <a:r>
              <a:rPr lang="en-US" altLang="zh-CN" sz="1200" kern="100" dirty="0">
                <a:latin typeface="+mn-ea"/>
                <a:cs typeface="Times New Roman" panose="02020603050405020304" pitchFamily="18" charset="0"/>
              </a:rPr>
              <a:t>PPT</a:t>
            </a:r>
            <a:r>
              <a:rPr lang="zh-CN" altLang="en-US" sz="1200" kern="100" dirty="0">
                <a:latin typeface="+mn-ea"/>
                <a:cs typeface="Times New Roman" panose="02020603050405020304" pitchFamily="18" charset="0"/>
              </a:rPr>
              <a:t>内图片或形状的颜色</a:t>
            </a:r>
            <a:r>
              <a:rPr lang="zh-CN" altLang="zh-CN" sz="1200" kern="100" dirty="0">
                <a:effectLst/>
                <a:latin typeface="+mn-ea"/>
                <a:cs typeface="Times New Roman" panose="02020603050405020304" pitchFamily="18" charset="0"/>
              </a:rPr>
              <a:t>。</a:t>
            </a:r>
          </a:p>
        </p:txBody>
      </p:sp>
      <p:sp>
        <p:nvSpPr>
          <p:cNvPr id="23" name="矩形 22">
            <a:extLst>
              <a:ext uri="{FF2B5EF4-FFF2-40B4-BE49-F238E27FC236}">
                <a16:creationId xmlns:a16="http://schemas.microsoft.com/office/drawing/2014/main" id="{D4546989-C081-6171-A68A-D2B9FD893101}"/>
              </a:ext>
            </a:extLst>
          </p:cNvPr>
          <p:cNvSpPr/>
          <p:nvPr/>
        </p:nvSpPr>
        <p:spPr>
          <a:xfrm>
            <a:off x="5325062" y="2934083"/>
            <a:ext cx="1654642" cy="338554"/>
          </a:xfrm>
          <a:prstGeom prst="rect">
            <a:avLst/>
          </a:prstGeom>
        </p:spPr>
        <p:txBody>
          <a:bodyPr wrap="square">
            <a:spAutoFit/>
          </a:bodyPr>
          <a:lstStyle/>
          <a:p>
            <a:pPr fontAlgn="base"/>
            <a:r>
              <a:rPr lang="zh-CN" altLang="en-US" sz="1600" b="1" dirty="0">
                <a:solidFill>
                  <a:srgbClr val="1357AE"/>
                </a:solidFill>
                <a:latin typeface="Impact" panose="020B0806030902050204" pitchFamily="34" charset="0"/>
                <a:ea typeface="冬青黑体简体中文 W3" pitchFamily="2" charset="-122"/>
              </a:rPr>
              <a:t>图形配色</a:t>
            </a:r>
            <a:endParaRPr lang="en-US" altLang="zh-CN" sz="1600" b="1" dirty="0">
              <a:solidFill>
                <a:srgbClr val="1357AE"/>
              </a:solidFill>
              <a:latin typeface="Impact" panose="020B0806030902050204" pitchFamily="34" charset="0"/>
              <a:ea typeface="冬青黑体简体中文 W3" pitchFamily="2" charset="-122"/>
            </a:endParaRPr>
          </a:p>
        </p:txBody>
      </p:sp>
      <p:sp>
        <p:nvSpPr>
          <p:cNvPr id="24" name="矩形 23">
            <a:extLst>
              <a:ext uri="{FF2B5EF4-FFF2-40B4-BE49-F238E27FC236}">
                <a16:creationId xmlns:a16="http://schemas.microsoft.com/office/drawing/2014/main" id="{9F2B8830-72F8-8FD9-3809-2643B0827061}"/>
              </a:ext>
            </a:extLst>
          </p:cNvPr>
          <p:cNvSpPr/>
          <p:nvPr/>
        </p:nvSpPr>
        <p:spPr>
          <a:xfrm>
            <a:off x="8859224" y="2933003"/>
            <a:ext cx="1654642" cy="338554"/>
          </a:xfrm>
          <a:prstGeom prst="rect">
            <a:avLst/>
          </a:prstGeom>
        </p:spPr>
        <p:txBody>
          <a:bodyPr wrap="square">
            <a:spAutoFit/>
          </a:bodyPr>
          <a:lstStyle/>
          <a:p>
            <a:pPr fontAlgn="base"/>
            <a:r>
              <a:rPr lang="zh-CN" altLang="en-US" sz="1600" b="1" dirty="0">
                <a:solidFill>
                  <a:srgbClr val="1357AE"/>
                </a:solidFill>
                <a:latin typeface="Impact" panose="020B0806030902050204" pitchFamily="34" charset="0"/>
                <a:ea typeface="冬青黑体简体中文 W3" pitchFamily="2" charset="-122"/>
              </a:rPr>
              <a:t>标准配色</a:t>
            </a:r>
            <a:endParaRPr lang="en-US" altLang="zh-CN" sz="1600" b="1" dirty="0">
              <a:solidFill>
                <a:srgbClr val="1357AE"/>
              </a:solidFill>
              <a:latin typeface="Impact" panose="020B0806030902050204" pitchFamily="34" charset="0"/>
              <a:ea typeface="冬青黑体简体中文 W3" pitchFamily="2" charset="-122"/>
            </a:endParaRPr>
          </a:p>
        </p:txBody>
      </p:sp>
      <p:sp>
        <p:nvSpPr>
          <p:cNvPr id="25" name="矩形 24">
            <a:extLst>
              <a:ext uri="{FF2B5EF4-FFF2-40B4-BE49-F238E27FC236}">
                <a16:creationId xmlns:a16="http://schemas.microsoft.com/office/drawing/2014/main" id="{EB24AE21-C263-FDE0-CEA9-BAF5252592CC}"/>
              </a:ext>
            </a:extLst>
          </p:cNvPr>
          <p:cNvSpPr/>
          <p:nvPr/>
        </p:nvSpPr>
        <p:spPr>
          <a:xfrm>
            <a:off x="2011293" y="2933003"/>
            <a:ext cx="2849781" cy="338554"/>
          </a:xfrm>
          <a:prstGeom prst="rect">
            <a:avLst/>
          </a:prstGeom>
        </p:spPr>
        <p:txBody>
          <a:bodyPr wrap="square">
            <a:spAutoFit/>
          </a:bodyPr>
          <a:lstStyle/>
          <a:p>
            <a:pPr fontAlgn="base"/>
            <a:r>
              <a:rPr lang="zh-CN" altLang="en-US" sz="1600" b="1" dirty="0">
                <a:solidFill>
                  <a:srgbClr val="1357AE"/>
                </a:solidFill>
                <a:latin typeface="Impact" panose="020B0806030902050204" pitchFamily="34" charset="0"/>
                <a:ea typeface="冬青黑体简体中文 W3" pitchFamily="2" charset="-122"/>
              </a:rPr>
              <a:t>背景色选择</a:t>
            </a:r>
            <a:endParaRPr lang="en-US" altLang="zh-CN" sz="1600" b="1" dirty="0">
              <a:solidFill>
                <a:srgbClr val="1357AE"/>
              </a:solidFill>
              <a:latin typeface="Impact" panose="020B0806030902050204" pitchFamily="34" charset="0"/>
              <a:ea typeface="冬青黑体简体中文 W3" pitchFamily="2" charset="-122"/>
            </a:endParaRPr>
          </a:p>
        </p:txBody>
      </p:sp>
    </p:spTree>
    <p:extLst>
      <p:ext uri="{BB962C8B-B14F-4D97-AF65-F5344CB8AC3E}">
        <p14:creationId xmlns:p14="http://schemas.microsoft.com/office/powerpoint/2010/main" val="66638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5F062E1-B8A4-625E-0E21-4DBC6A21E7B3}"/>
              </a:ext>
            </a:extLst>
          </p:cNvPr>
          <p:cNvSpPr/>
          <p:nvPr/>
        </p:nvSpPr>
        <p:spPr>
          <a:xfrm>
            <a:off x="1671852" y="893882"/>
            <a:ext cx="10044439" cy="1516309"/>
          </a:xfrm>
          <a:prstGeom prst="rect">
            <a:avLst/>
          </a:prstGeom>
          <a:solidFill>
            <a:srgbClr val="002060">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矩形: 圆角 4">
            <a:extLst>
              <a:ext uri="{FF2B5EF4-FFF2-40B4-BE49-F238E27FC236}">
                <a16:creationId xmlns:a16="http://schemas.microsoft.com/office/drawing/2014/main" id="{A60982B4-8985-1DA2-3E25-58098E1FFE62}"/>
              </a:ext>
            </a:extLst>
          </p:cNvPr>
          <p:cNvSpPr/>
          <p:nvPr/>
        </p:nvSpPr>
        <p:spPr>
          <a:xfrm>
            <a:off x="1893569" y="2870599"/>
            <a:ext cx="2864485" cy="3065658"/>
          </a:xfrm>
          <a:prstGeom prst="roundRect">
            <a:avLst>
              <a:gd name="adj" fmla="val 4505"/>
            </a:avLst>
          </a:pr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矩形: 圆角 10">
            <a:extLst>
              <a:ext uri="{FF2B5EF4-FFF2-40B4-BE49-F238E27FC236}">
                <a16:creationId xmlns:a16="http://schemas.microsoft.com/office/drawing/2014/main" id="{E6F6C7D4-ACA9-C28F-9EA4-3784CD9F3567}"/>
              </a:ext>
            </a:extLst>
          </p:cNvPr>
          <p:cNvSpPr/>
          <p:nvPr/>
        </p:nvSpPr>
        <p:spPr>
          <a:xfrm>
            <a:off x="5271291" y="2862468"/>
            <a:ext cx="2845562" cy="3065659"/>
          </a:xfrm>
          <a:prstGeom prst="roundRect">
            <a:avLst>
              <a:gd name="adj" fmla="val 4505"/>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矩形: 圆角 11">
            <a:extLst>
              <a:ext uri="{FF2B5EF4-FFF2-40B4-BE49-F238E27FC236}">
                <a16:creationId xmlns:a16="http://schemas.microsoft.com/office/drawing/2014/main" id="{C8EDD1ED-D2A7-B0AC-31C7-76A02098E0B4}"/>
              </a:ext>
            </a:extLst>
          </p:cNvPr>
          <p:cNvSpPr/>
          <p:nvPr/>
        </p:nvSpPr>
        <p:spPr>
          <a:xfrm>
            <a:off x="8582974" y="2870598"/>
            <a:ext cx="2941258" cy="3057529"/>
          </a:xfrm>
          <a:prstGeom prst="roundRect">
            <a:avLst>
              <a:gd name="adj" fmla="val 4505"/>
            </a:avLst>
          </a:prstGeom>
          <a:solidFill>
            <a:schemeClr val="accent4">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字体</a:t>
            </a:r>
            <a:endParaRPr lang="en-US" dirty="0">
              <a:latin typeface="+mn-lt"/>
              <a:ea typeface="+mn-ea"/>
              <a:cs typeface="+mn-ea"/>
              <a:sym typeface="+mn-lt"/>
            </a:endParaRPr>
          </a:p>
        </p:txBody>
      </p:sp>
      <p:sp>
        <p:nvSpPr>
          <p:cNvPr id="8" name="文本框 7">
            <a:extLst>
              <a:ext uri="{FF2B5EF4-FFF2-40B4-BE49-F238E27FC236}">
                <a16:creationId xmlns:a16="http://schemas.microsoft.com/office/drawing/2014/main" id="{1500F982-77E2-F8DD-89B8-5C263985AAE7}"/>
              </a:ext>
            </a:extLst>
          </p:cNvPr>
          <p:cNvSpPr txBox="1"/>
          <p:nvPr/>
        </p:nvSpPr>
        <p:spPr>
          <a:xfrm>
            <a:off x="8712107" y="3165442"/>
            <a:ext cx="2682992" cy="3008131"/>
          </a:xfrm>
          <a:prstGeom prst="rect">
            <a:avLst/>
          </a:prstGeom>
          <a:noFill/>
        </p:spPr>
        <p:txBody>
          <a:bodyPr wrap="square">
            <a:spAutoFit/>
          </a:bodyPr>
          <a:lstStyle/>
          <a:p>
            <a:pPr indent="304800" algn="just">
              <a:lnSpc>
                <a:spcPct val="200000"/>
              </a:lnSpc>
            </a:pPr>
            <a:r>
              <a:rPr lang="zh-CN" altLang="zh-CN" sz="1100" kern="100" dirty="0">
                <a:effectLst/>
                <a:latin typeface="+mn-ea"/>
                <a:cs typeface="Times New Roman" panose="02020603050405020304" pitchFamily="18" charset="0"/>
              </a:rPr>
              <a:t>字体的选择主要影响由文本对象组成的图表元素，为使图表元素展示更加清晰，一般选用无衬线字体，还有一些字体相关的注意事项如下：</a:t>
            </a:r>
          </a:p>
          <a:p>
            <a:pPr indent="304800" algn="just">
              <a:lnSpc>
                <a:spcPct val="200000"/>
              </a:lnSpc>
            </a:pPr>
            <a:r>
              <a:rPr lang="en-US" altLang="zh-CN" sz="1100" kern="100" dirty="0">
                <a:effectLst/>
                <a:latin typeface="+mn-ea"/>
                <a:cs typeface="Times New Roman" panose="02020603050405020304" pitchFamily="18" charset="0"/>
              </a:rPr>
              <a:t>1)</a:t>
            </a:r>
            <a:r>
              <a:rPr lang="zh-CN" altLang="zh-CN" sz="1100" kern="100" dirty="0">
                <a:effectLst/>
                <a:latin typeface="+mn-ea"/>
                <a:cs typeface="Times New Roman" panose="02020603050405020304" pitchFamily="18" charset="0"/>
              </a:rPr>
              <a:t>优先使用公司统一字体</a:t>
            </a:r>
            <a:r>
              <a:rPr lang="zh-CN" altLang="en-US" sz="1100" kern="100" dirty="0">
                <a:latin typeface="+mn-ea"/>
                <a:cs typeface="Times New Roman" panose="02020603050405020304" pitchFamily="18" charset="0"/>
              </a:rPr>
              <a:t>或</a:t>
            </a:r>
            <a:r>
              <a:rPr lang="zh-CN" altLang="zh-CN" sz="1100" kern="100" dirty="0">
                <a:effectLst/>
                <a:latin typeface="+mn-ea"/>
                <a:cs typeface="Times New Roman" panose="02020603050405020304" pitchFamily="18" charset="0"/>
              </a:rPr>
              <a:t>数据报告内主字体</a:t>
            </a:r>
          </a:p>
          <a:p>
            <a:pPr indent="304800" algn="just">
              <a:lnSpc>
                <a:spcPct val="200000"/>
              </a:lnSpc>
            </a:pPr>
            <a:r>
              <a:rPr lang="en-US" altLang="zh-CN" sz="1100" kern="100" dirty="0">
                <a:effectLst/>
                <a:latin typeface="+mn-ea"/>
                <a:cs typeface="Times New Roman" panose="02020603050405020304" pitchFamily="18" charset="0"/>
              </a:rPr>
              <a:t>2)</a:t>
            </a:r>
            <a:r>
              <a:rPr lang="zh-CN" altLang="zh-CN" sz="1100" kern="100" dirty="0">
                <a:effectLst/>
                <a:latin typeface="+mn-ea"/>
                <a:cs typeface="Times New Roman" panose="02020603050405020304" pitchFamily="18" charset="0"/>
              </a:rPr>
              <a:t>不要混搭，一个图表内尽量只使用一种字体</a:t>
            </a:r>
          </a:p>
          <a:p>
            <a:pPr indent="304800" algn="just">
              <a:lnSpc>
                <a:spcPct val="150000"/>
              </a:lnSpc>
            </a:pPr>
            <a:endParaRPr lang="zh-CN" altLang="zh-CN" sz="9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29FD629B-0589-B3F0-4012-5C771CBBDD08}"/>
              </a:ext>
            </a:extLst>
          </p:cNvPr>
          <p:cNvPicPr>
            <a:picLocks noChangeAspect="1"/>
          </p:cNvPicPr>
          <p:nvPr/>
        </p:nvPicPr>
        <p:blipFill>
          <a:blip r:embed="rId2"/>
          <a:stretch>
            <a:fillRect/>
          </a:stretch>
        </p:blipFill>
        <p:spPr>
          <a:xfrm>
            <a:off x="5308428" y="923947"/>
            <a:ext cx="2588765" cy="1418627"/>
          </a:xfrm>
          <a:prstGeom prst="rect">
            <a:avLst/>
          </a:prstGeom>
        </p:spPr>
      </p:pic>
      <p:sp>
        <p:nvSpPr>
          <p:cNvPr id="6" name="文本框 5">
            <a:extLst>
              <a:ext uri="{FF2B5EF4-FFF2-40B4-BE49-F238E27FC236}">
                <a16:creationId xmlns:a16="http://schemas.microsoft.com/office/drawing/2014/main" id="{223722AF-5237-C35F-4115-18CC0E54F808}"/>
              </a:ext>
            </a:extLst>
          </p:cNvPr>
          <p:cNvSpPr txBox="1"/>
          <p:nvPr/>
        </p:nvSpPr>
        <p:spPr>
          <a:xfrm>
            <a:off x="2058743" y="2911053"/>
            <a:ext cx="1858465" cy="369332"/>
          </a:xfrm>
          <a:prstGeom prst="rect">
            <a:avLst/>
          </a:prstGeom>
          <a:noFill/>
        </p:spPr>
        <p:txBody>
          <a:bodyPr wrap="square" rtlCol="0">
            <a:spAutoFit/>
          </a:bodyPr>
          <a:lstStyle/>
          <a:p>
            <a:r>
              <a:rPr lang="en-US" altLang="zh-CN" b="1" dirty="0">
                <a:latin typeface="+mn-ea"/>
              </a:rPr>
              <a:t>01 </a:t>
            </a:r>
            <a:r>
              <a:rPr lang="zh-CN" altLang="en-US" b="1" dirty="0">
                <a:latin typeface="+mn-ea"/>
              </a:rPr>
              <a:t>字体分类</a:t>
            </a:r>
          </a:p>
        </p:txBody>
      </p:sp>
      <p:sp>
        <p:nvSpPr>
          <p:cNvPr id="4" name="文本框 3">
            <a:extLst>
              <a:ext uri="{FF2B5EF4-FFF2-40B4-BE49-F238E27FC236}">
                <a16:creationId xmlns:a16="http://schemas.microsoft.com/office/drawing/2014/main" id="{1F1A54E4-80AB-F25E-841B-8B3CB37DFE57}"/>
              </a:ext>
            </a:extLst>
          </p:cNvPr>
          <p:cNvSpPr txBox="1"/>
          <p:nvPr/>
        </p:nvSpPr>
        <p:spPr>
          <a:xfrm>
            <a:off x="2087458" y="3217150"/>
            <a:ext cx="2365879" cy="2252604"/>
          </a:xfrm>
          <a:prstGeom prst="rect">
            <a:avLst/>
          </a:prstGeom>
          <a:noFill/>
        </p:spPr>
        <p:txBody>
          <a:bodyPr wrap="square">
            <a:spAutoFit/>
          </a:bodyPr>
          <a:lstStyle/>
          <a:p>
            <a:pPr indent="304800" algn="just">
              <a:lnSpc>
                <a:spcPct val="200000"/>
              </a:lnSpc>
            </a:pPr>
            <a:r>
              <a:rPr lang="zh-CN" altLang="zh-CN" sz="1200" kern="100" dirty="0">
                <a:effectLst/>
                <a:latin typeface="+mn-ea"/>
                <a:cs typeface="Times New Roman" panose="02020603050405020304" pitchFamily="18" charset="0"/>
              </a:rPr>
              <a:t>字体一般可分为衬线字体和无衬线字体两大类，衬线字体的笔画在首尾有额外的装饰元素且笔画粗细不同。相反，无衬线字体所有笔画粗细一致文字笔画首尾也无修饰元素。</a:t>
            </a:r>
            <a:endParaRPr lang="en-US" altLang="zh-CN" sz="1200" kern="100" dirty="0">
              <a:effectLst/>
              <a:latin typeface="+mn-ea"/>
              <a:cs typeface="Times New Roman" panose="02020603050405020304" pitchFamily="18" charset="0"/>
            </a:endParaRPr>
          </a:p>
        </p:txBody>
      </p:sp>
      <p:sp>
        <p:nvSpPr>
          <p:cNvPr id="10" name="文本框 9">
            <a:extLst>
              <a:ext uri="{FF2B5EF4-FFF2-40B4-BE49-F238E27FC236}">
                <a16:creationId xmlns:a16="http://schemas.microsoft.com/office/drawing/2014/main" id="{EB031D52-C126-1854-DC6D-E48BDF81077A}"/>
              </a:ext>
            </a:extLst>
          </p:cNvPr>
          <p:cNvSpPr txBox="1"/>
          <p:nvPr/>
        </p:nvSpPr>
        <p:spPr>
          <a:xfrm>
            <a:off x="5394620" y="3157589"/>
            <a:ext cx="2502573" cy="2252604"/>
          </a:xfrm>
          <a:prstGeom prst="rect">
            <a:avLst/>
          </a:prstGeom>
          <a:noFill/>
        </p:spPr>
        <p:txBody>
          <a:bodyPr wrap="square">
            <a:spAutoFit/>
          </a:bodyPr>
          <a:lstStyle/>
          <a:p>
            <a:pPr indent="304800" algn="just">
              <a:lnSpc>
                <a:spcPct val="200000"/>
              </a:lnSpc>
            </a:pPr>
            <a:r>
              <a:rPr lang="zh-CN" altLang="zh-CN" sz="1200" kern="100" dirty="0">
                <a:effectLst/>
                <a:latin typeface="+mn-ea"/>
                <a:cs typeface="Times New Roman" panose="02020603050405020304" pitchFamily="18" charset="0"/>
              </a:rPr>
              <a:t>常见的衬线字体的名称中带有“宋”字，如宋体、仿宋、思源宋体等。</a:t>
            </a:r>
            <a:endParaRPr lang="en-US" altLang="zh-CN" sz="1200" kern="100" dirty="0">
              <a:effectLst/>
              <a:latin typeface="+mn-ea"/>
              <a:cs typeface="Times New Roman" panose="02020603050405020304" pitchFamily="18" charset="0"/>
            </a:endParaRPr>
          </a:p>
          <a:p>
            <a:pPr indent="304800" algn="just">
              <a:lnSpc>
                <a:spcPct val="200000"/>
              </a:lnSpc>
            </a:pPr>
            <a:r>
              <a:rPr lang="zh-CN" altLang="zh-CN" sz="1200" kern="100" dirty="0">
                <a:effectLst/>
                <a:latin typeface="+mn-ea"/>
                <a:cs typeface="Times New Roman" panose="02020603050405020304" pitchFamily="18" charset="0"/>
              </a:rPr>
              <a:t>常见的无衬线字体名称中含有“黑”字，如黑体、思源黑体、微软雅黑等。</a:t>
            </a:r>
          </a:p>
        </p:txBody>
      </p:sp>
      <p:sp>
        <p:nvSpPr>
          <p:cNvPr id="13" name="文本框 12">
            <a:extLst>
              <a:ext uri="{FF2B5EF4-FFF2-40B4-BE49-F238E27FC236}">
                <a16:creationId xmlns:a16="http://schemas.microsoft.com/office/drawing/2014/main" id="{ECAE1EAD-23E4-EC2B-000F-6A6B0213341C}"/>
              </a:ext>
            </a:extLst>
          </p:cNvPr>
          <p:cNvSpPr txBox="1"/>
          <p:nvPr/>
        </p:nvSpPr>
        <p:spPr>
          <a:xfrm>
            <a:off x="5438986" y="2911053"/>
            <a:ext cx="1858465" cy="369332"/>
          </a:xfrm>
          <a:prstGeom prst="rect">
            <a:avLst/>
          </a:prstGeom>
          <a:noFill/>
        </p:spPr>
        <p:txBody>
          <a:bodyPr wrap="square" rtlCol="0">
            <a:spAutoFit/>
          </a:bodyPr>
          <a:lstStyle/>
          <a:p>
            <a:r>
              <a:rPr lang="en-US" altLang="zh-CN" b="1" dirty="0">
                <a:latin typeface="+mn-ea"/>
              </a:rPr>
              <a:t>02 </a:t>
            </a:r>
            <a:r>
              <a:rPr lang="zh-CN" altLang="en-US" b="1" dirty="0">
                <a:latin typeface="+mn-ea"/>
              </a:rPr>
              <a:t>衬线</a:t>
            </a:r>
            <a:r>
              <a:rPr lang="en-US" altLang="zh-CN" b="1" dirty="0">
                <a:latin typeface="+mn-ea"/>
              </a:rPr>
              <a:t>/</a:t>
            </a:r>
            <a:r>
              <a:rPr lang="zh-CN" altLang="en-US" b="1" dirty="0">
                <a:latin typeface="+mn-ea"/>
              </a:rPr>
              <a:t>非衬线</a:t>
            </a:r>
          </a:p>
        </p:txBody>
      </p:sp>
      <p:sp>
        <p:nvSpPr>
          <p:cNvPr id="14" name="文本框 13">
            <a:extLst>
              <a:ext uri="{FF2B5EF4-FFF2-40B4-BE49-F238E27FC236}">
                <a16:creationId xmlns:a16="http://schemas.microsoft.com/office/drawing/2014/main" id="{F695F360-A766-35C5-01AB-1EE4F5D75DFB}"/>
              </a:ext>
            </a:extLst>
          </p:cNvPr>
          <p:cNvSpPr txBox="1"/>
          <p:nvPr/>
        </p:nvSpPr>
        <p:spPr>
          <a:xfrm>
            <a:off x="8801101" y="2911053"/>
            <a:ext cx="1858465" cy="369332"/>
          </a:xfrm>
          <a:prstGeom prst="rect">
            <a:avLst/>
          </a:prstGeom>
          <a:noFill/>
        </p:spPr>
        <p:txBody>
          <a:bodyPr wrap="square" rtlCol="0">
            <a:spAutoFit/>
          </a:bodyPr>
          <a:lstStyle/>
          <a:p>
            <a:r>
              <a:rPr lang="en-US" altLang="zh-CN" b="1" dirty="0">
                <a:latin typeface="+mn-ea"/>
              </a:rPr>
              <a:t>03 </a:t>
            </a:r>
            <a:r>
              <a:rPr lang="zh-CN" altLang="en-US" b="1" dirty="0">
                <a:latin typeface="+mn-ea"/>
              </a:rPr>
              <a:t>字体选择</a:t>
            </a:r>
          </a:p>
        </p:txBody>
      </p:sp>
    </p:spTree>
    <p:extLst>
      <p:ext uri="{BB962C8B-B14F-4D97-AF65-F5344CB8AC3E}">
        <p14:creationId xmlns:p14="http://schemas.microsoft.com/office/powerpoint/2010/main" val="618888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剖析图表</a:t>
            </a:r>
            <a:r>
              <a:rPr lang="en-US" altLang="zh-CN" dirty="0">
                <a:latin typeface="+mn-lt"/>
                <a:ea typeface="+mn-ea"/>
                <a:cs typeface="+mn-ea"/>
                <a:sym typeface="+mn-lt"/>
              </a:rPr>
              <a:t>—</a:t>
            </a:r>
            <a:r>
              <a:rPr lang="zh-CN" altLang="en-US" dirty="0">
                <a:latin typeface="+mn-lt"/>
                <a:ea typeface="+mn-ea"/>
                <a:cs typeface="+mn-ea"/>
                <a:sym typeface="+mn-lt"/>
              </a:rPr>
              <a:t>认识图表的本质</a:t>
            </a:r>
            <a:endParaRPr lang="en-US" dirty="0">
              <a:latin typeface="+mn-lt"/>
              <a:ea typeface="+mn-ea"/>
              <a:cs typeface="+mn-ea"/>
              <a:sym typeface="+mn-lt"/>
            </a:endParaRPr>
          </a:p>
        </p:txBody>
      </p:sp>
      <p:graphicFrame>
        <p:nvGraphicFramePr>
          <p:cNvPr id="4" name="表格 3">
            <a:extLst>
              <a:ext uri="{FF2B5EF4-FFF2-40B4-BE49-F238E27FC236}">
                <a16:creationId xmlns:a16="http://schemas.microsoft.com/office/drawing/2014/main" id="{D8D2F209-CFC3-E5B6-1985-C09B69CB74FC}"/>
              </a:ext>
            </a:extLst>
          </p:cNvPr>
          <p:cNvGraphicFramePr>
            <a:graphicFrameLocks noGrp="1"/>
          </p:cNvGraphicFramePr>
          <p:nvPr>
            <p:extLst>
              <p:ext uri="{D42A27DB-BD31-4B8C-83A1-F6EECF244321}">
                <p14:modId xmlns:p14="http://schemas.microsoft.com/office/powerpoint/2010/main" val="2542917356"/>
              </p:ext>
            </p:extLst>
          </p:nvPr>
        </p:nvGraphicFramePr>
        <p:xfrm>
          <a:off x="2369171" y="1694622"/>
          <a:ext cx="8416809" cy="4637314"/>
        </p:xfrm>
        <a:graphic>
          <a:graphicData uri="http://schemas.openxmlformats.org/drawingml/2006/table">
            <a:tbl>
              <a:tblPr firstRow="1" firstCol="1" bandRow="1">
                <a:tableStyleId>{5C22544A-7EE6-4342-B048-85BDC9FD1C3A}</a:tableStyleId>
              </a:tblPr>
              <a:tblGrid>
                <a:gridCol w="1199724">
                  <a:extLst>
                    <a:ext uri="{9D8B030D-6E8A-4147-A177-3AD203B41FA5}">
                      <a16:colId xmlns:a16="http://schemas.microsoft.com/office/drawing/2014/main" val="1921720446"/>
                    </a:ext>
                  </a:extLst>
                </a:gridCol>
                <a:gridCol w="1743347">
                  <a:extLst>
                    <a:ext uri="{9D8B030D-6E8A-4147-A177-3AD203B41FA5}">
                      <a16:colId xmlns:a16="http://schemas.microsoft.com/office/drawing/2014/main" val="4256353433"/>
                    </a:ext>
                  </a:extLst>
                </a:gridCol>
                <a:gridCol w="2035970">
                  <a:extLst>
                    <a:ext uri="{9D8B030D-6E8A-4147-A177-3AD203B41FA5}">
                      <a16:colId xmlns:a16="http://schemas.microsoft.com/office/drawing/2014/main" val="1864721262"/>
                    </a:ext>
                  </a:extLst>
                </a:gridCol>
                <a:gridCol w="3437768">
                  <a:extLst>
                    <a:ext uri="{9D8B030D-6E8A-4147-A177-3AD203B41FA5}">
                      <a16:colId xmlns:a16="http://schemas.microsoft.com/office/drawing/2014/main" val="105332383"/>
                    </a:ext>
                  </a:extLst>
                </a:gridCol>
              </a:tblGrid>
              <a:tr h="318629">
                <a:tc>
                  <a:txBody>
                    <a:bodyPr/>
                    <a:lstStyle/>
                    <a:p>
                      <a:pPr algn="l"/>
                      <a:r>
                        <a:rPr lang="zh-CN" sz="1200" kern="0" dirty="0">
                          <a:effectLst/>
                          <a:latin typeface="+mn-ea"/>
                          <a:ea typeface="+mn-ea"/>
                        </a:rPr>
                        <a:t>组成对象</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1200" kern="0" dirty="0">
                          <a:effectLst/>
                          <a:latin typeface="+mn-ea"/>
                          <a:ea typeface="+mn-ea"/>
                        </a:rPr>
                        <a:t>图表元素</a:t>
                      </a:r>
                      <a:endParaRPr lang="zh-CN" sz="16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1200" kern="0">
                          <a:effectLst/>
                          <a:latin typeface="+mn-ea"/>
                          <a:ea typeface="+mn-ea"/>
                        </a:rPr>
                        <a:t>具体对象</a:t>
                      </a:r>
                      <a:endParaRPr lang="zh-CN" sz="1600" kern="100">
                        <a:effectLst/>
                        <a:latin typeface="+mn-ea"/>
                        <a:ea typeface="+mn-ea"/>
                        <a:cs typeface="Times New Roman" panose="02020603050405020304" pitchFamily="18" charset="0"/>
                      </a:endParaRPr>
                    </a:p>
                  </a:txBody>
                  <a:tcPr marL="68580" marR="68580" marT="0" marB="0" anchor="ctr"/>
                </a:tc>
                <a:tc>
                  <a:txBody>
                    <a:bodyPr/>
                    <a:lstStyle/>
                    <a:p>
                      <a:pPr algn="l"/>
                      <a:r>
                        <a:rPr lang="zh-CN" sz="1200" kern="0" dirty="0">
                          <a:effectLst/>
                          <a:latin typeface="+mn-ea"/>
                          <a:ea typeface="+mn-ea"/>
                        </a:rPr>
                        <a:t>主要修饰方式</a:t>
                      </a:r>
                      <a:endParaRPr lang="zh-CN" sz="16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392213536"/>
                  </a:ext>
                </a:extLst>
              </a:tr>
              <a:tr h="318629">
                <a:tc rowSpan="3">
                  <a:txBody>
                    <a:bodyPr/>
                    <a:lstStyle/>
                    <a:p>
                      <a:pPr algn="ctr"/>
                      <a:r>
                        <a:rPr lang="zh-CN" sz="1100" kern="0">
                          <a:effectLst/>
                          <a:latin typeface="+mn-ea"/>
                          <a:ea typeface="+mn-ea"/>
                        </a:rPr>
                        <a:t>文本</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图表标题</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dirty="0">
                          <a:effectLst/>
                          <a:latin typeface="+mn-ea"/>
                          <a:ea typeface="+mn-ea"/>
                        </a:rPr>
                        <a:t>文本</a:t>
                      </a:r>
                      <a:endParaRPr lang="zh-CN" sz="1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字体</a:t>
                      </a:r>
                      <a:r>
                        <a:rPr lang="en-US" sz="1100" kern="0">
                          <a:effectLst/>
                          <a:latin typeface="+mn-ea"/>
                          <a:ea typeface="+mn-ea"/>
                        </a:rPr>
                        <a:t>/</a:t>
                      </a:r>
                      <a:r>
                        <a:rPr lang="zh-CN" sz="1100" kern="0">
                          <a:effectLst/>
                          <a:latin typeface="+mn-ea"/>
                          <a:ea typeface="+mn-ea"/>
                        </a:rPr>
                        <a:t>颜色</a:t>
                      </a:r>
                      <a:r>
                        <a:rPr lang="en-US" sz="1100" kern="0">
                          <a:effectLst/>
                          <a:latin typeface="+mn-ea"/>
                          <a:ea typeface="+mn-ea"/>
                        </a:rPr>
                        <a:t>/</a:t>
                      </a:r>
                      <a:r>
                        <a:rPr lang="zh-CN" sz="1100" kern="0">
                          <a:effectLst/>
                          <a:latin typeface="+mn-ea"/>
                          <a:ea typeface="+mn-ea"/>
                        </a:rPr>
                        <a:t>字号</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258184321"/>
                  </a:ext>
                </a:extLst>
              </a:tr>
              <a:tr h="318629">
                <a:tc vMerge="1">
                  <a:txBody>
                    <a:bodyPr/>
                    <a:lstStyle/>
                    <a:p>
                      <a:endParaRPr lang="zh-CN" altLang="en-US"/>
                    </a:p>
                  </a:txBody>
                  <a:tcPr/>
                </a:tc>
                <a:tc>
                  <a:txBody>
                    <a:bodyPr/>
                    <a:lstStyle/>
                    <a:p>
                      <a:pPr algn="l"/>
                      <a:r>
                        <a:rPr lang="zh-CN" sz="1100" kern="0">
                          <a:effectLst/>
                          <a:latin typeface="+mn-ea"/>
                          <a:ea typeface="+mn-ea"/>
                        </a:rPr>
                        <a:t>数据标签</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文本</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字体</a:t>
                      </a:r>
                      <a:r>
                        <a:rPr lang="en-US" sz="1100" kern="0">
                          <a:effectLst/>
                          <a:latin typeface="+mn-ea"/>
                          <a:ea typeface="+mn-ea"/>
                        </a:rPr>
                        <a:t>/</a:t>
                      </a:r>
                      <a:r>
                        <a:rPr lang="zh-CN" sz="1100" kern="0">
                          <a:effectLst/>
                          <a:latin typeface="+mn-ea"/>
                          <a:ea typeface="+mn-ea"/>
                        </a:rPr>
                        <a:t>颜色</a:t>
                      </a:r>
                      <a:r>
                        <a:rPr lang="en-US" sz="1100" kern="0">
                          <a:effectLst/>
                          <a:latin typeface="+mn-ea"/>
                          <a:ea typeface="+mn-ea"/>
                        </a:rPr>
                        <a:t>/</a:t>
                      </a:r>
                      <a:r>
                        <a:rPr lang="zh-CN" sz="1100" kern="0">
                          <a:effectLst/>
                          <a:latin typeface="+mn-ea"/>
                          <a:ea typeface="+mn-ea"/>
                        </a:rPr>
                        <a:t>字号</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968826029"/>
                  </a:ext>
                </a:extLst>
              </a:tr>
              <a:tr h="318629">
                <a:tc vMerge="1">
                  <a:txBody>
                    <a:bodyPr/>
                    <a:lstStyle/>
                    <a:p>
                      <a:endParaRPr lang="zh-CN" altLang="en-US"/>
                    </a:p>
                  </a:txBody>
                  <a:tcPr/>
                </a:tc>
                <a:tc>
                  <a:txBody>
                    <a:bodyPr/>
                    <a:lstStyle/>
                    <a:p>
                      <a:pPr algn="l"/>
                      <a:r>
                        <a:rPr lang="zh-CN" sz="1100" kern="0">
                          <a:effectLst/>
                          <a:latin typeface="+mn-ea"/>
                          <a:ea typeface="+mn-ea"/>
                        </a:rPr>
                        <a:t>坐标轴标题</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文本</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字体</a:t>
                      </a:r>
                      <a:r>
                        <a:rPr lang="en-US" sz="1100" kern="0">
                          <a:effectLst/>
                          <a:latin typeface="+mn-ea"/>
                          <a:ea typeface="+mn-ea"/>
                        </a:rPr>
                        <a:t>/</a:t>
                      </a:r>
                      <a:r>
                        <a:rPr lang="zh-CN" sz="1100" kern="0">
                          <a:effectLst/>
                          <a:latin typeface="+mn-ea"/>
                          <a:ea typeface="+mn-ea"/>
                        </a:rPr>
                        <a:t>颜色</a:t>
                      </a:r>
                      <a:r>
                        <a:rPr lang="en-US" sz="1100" kern="0">
                          <a:effectLst/>
                          <a:latin typeface="+mn-ea"/>
                          <a:ea typeface="+mn-ea"/>
                        </a:rPr>
                        <a:t>/</a:t>
                      </a:r>
                      <a:r>
                        <a:rPr lang="zh-CN" sz="1100" kern="0">
                          <a:effectLst/>
                          <a:latin typeface="+mn-ea"/>
                          <a:ea typeface="+mn-ea"/>
                        </a:rPr>
                        <a:t>字号</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750117254"/>
                  </a:ext>
                </a:extLst>
              </a:tr>
              <a:tr h="318629">
                <a:tc rowSpan="8">
                  <a:txBody>
                    <a:bodyPr/>
                    <a:lstStyle/>
                    <a:p>
                      <a:pPr algn="ctr"/>
                      <a:r>
                        <a:rPr lang="zh-CN" sz="1100" kern="0">
                          <a:effectLst/>
                          <a:latin typeface="+mn-ea"/>
                          <a:ea typeface="+mn-ea"/>
                        </a:rPr>
                        <a:t>形状</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图表区</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矩形</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填充色</a:t>
                      </a:r>
                      <a:r>
                        <a:rPr lang="en-US" sz="1100" kern="0">
                          <a:effectLst/>
                          <a:latin typeface="+mn-ea"/>
                          <a:ea typeface="+mn-ea"/>
                        </a:rPr>
                        <a:t>/</a:t>
                      </a:r>
                      <a:r>
                        <a:rPr lang="zh-CN" sz="1100" kern="0">
                          <a:effectLst/>
                          <a:latin typeface="+mn-ea"/>
                          <a:ea typeface="+mn-ea"/>
                        </a:rPr>
                        <a:t>边框</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478856565"/>
                  </a:ext>
                </a:extLst>
              </a:tr>
              <a:tr h="318629">
                <a:tc vMerge="1">
                  <a:txBody>
                    <a:bodyPr/>
                    <a:lstStyle/>
                    <a:p>
                      <a:endParaRPr lang="zh-CN" altLang="en-US"/>
                    </a:p>
                  </a:txBody>
                  <a:tcPr/>
                </a:tc>
                <a:tc>
                  <a:txBody>
                    <a:bodyPr/>
                    <a:lstStyle/>
                    <a:p>
                      <a:pPr algn="l"/>
                      <a:r>
                        <a:rPr lang="zh-CN" sz="1100" kern="0">
                          <a:effectLst/>
                          <a:latin typeface="+mn-ea"/>
                          <a:ea typeface="+mn-ea"/>
                        </a:rPr>
                        <a:t>绘图区</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矩形</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填充色</a:t>
                      </a:r>
                      <a:r>
                        <a:rPr lang="en-US" sz="1100" kern="0">
                          <a:effectLst/>
                          <a:latin typeface="+mn-ea"/>
                          <a:ea typeface="+mn-ea"/>
                        </a:rPr>
                        <a:t>/</a:t>
                      </a:r>
                      <a:r>
                        <a:rPr lang="zh-CN" sz="1100" kern="0">
                          <a:effectLst/>
                          <a:latin typeface="+mn-ea"/>
                          <a:ea typeface="+mn-ea"/>
                        </a:rPr>
                        <a:t>边框</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685967724"/>
                  </a:ext>
                </a:extLst>
              </a:tr>
              <a:tr h="318629">
                <a:tc vMerge="1">
                  <a:txBody>
                    <a:bodyPr/>
                    <a:lstStyle/>
                    <a:p>
                      <a:endParaRPr lang="zh-CN" altLang="en-US"/>
                    </a:p>
                  </a:txBody>
                  <a:tcPr/>
                </a:tc>
                <a:tc>
                  <a:txBody>
                    <a:bodyPr/>
                    <a:lstStyle/>
                    <a:p>
                      <a:pPr algn="l"/>
                      <a:r>
                        <a:rPr lang="zh-CN" sz="1100" kern="0" dirty="0">
                          <a:effectLst/>
                          <a:latin typeface="+mn-ea"/>
                          <a:ea typeface="+mn-ea"/>
                        </a:rPr>
                        <a:t>数据系列</a:t>
                      </a:r>
                      <a:endParaRPr lang="zh-CN" sz="1400" kern="100" dirty="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矩形</a:t>
                      </a:r>
                      <a:r>
                        <a:rPr lang="en-US" sz="1100" kern="0">
                          <a:effectLst/>
                          <a:latin typeface="+mn-ea"/>
                          <a:ea typeface="+mn-ea"/>
                        </a:rPr>
                        <a:t>/</a:t>
                      </a:r>
                      <a:r>
                        <a:rPr lang="zh-CN" sz="1100" kern="0">
                          <a:effectLst/>
                          <a:latin typeface="+mn-ea"/>
                          <a:ea typeface="+mn-ea"/>
                        </a:rPr>
                        <a:t>折线</a:t>
                      </a:r>
                      <a:r>
                        <a:rPr lang="en-US" sz="1100" kern="0">
                          <a:effectLst/>
                          <a:latin typeface="+mn-ea"/>
                          <a:ea typeface="+mn-ea"/>
                        </a:rPr>
                        <a:t>/</a:t>
                      </a:r>
                      <a:r>
                        <a:rPr lang="zh-CN" sz="1100" kern="0">
                          <a:effectLst/>
                          <a:latin typeface="+mn-ea"/>
                          <a:ea typeface="+mn-ea"/>
                        </a:rPr>
                        <a:t>扇形等</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填充色</a:t>
                      </a:r>
                      <a:r>
                        <a:rPr lang="en-US" sz="1100" kern="0">
                          <a:effectLst/>
                          <a:latin typeface="+mn-ea"/>
                          <a:ea typeface="+mn-ea"/>
                        </a:rPr>
                        <a:t>/</a:t>
                      </a:r>
                      <a:r>
                        <a:rPr lang="zh-CN" sz="1100" kern="0">
                          <a:effectLst/>
                          <a:latin typeface="+mn-ea"/>
                          <a:ea typeface="+mn-ea"/>
                        </a:rPr>
                        <a:t>填充形状</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275057090"/>
                  </a:ext>
                </a:extLst>
              </a:tr>
              <a:tr h="318629">
                <a:tc vMerge="1">
                  <a:txBody>
                    <a:bodyPr/>
                    <a:lstStyle/>
                    <a:p>
                      <a:endParaRPr lang="zh-CN" altLang="en-US"/>
                    </a:p>
                  </a:txBody>
                  <a:tcPr/>
                </a:tc>
                <a:tc>
                  <a:txBody>
                    <a:bodyPr/>
                    <a:lstStyle/>
                    <a:p>
                      <a:pPr algn="l"/>
                      <a:r>
                        <a:rPr lang="zh-CN" sz="1100" kern="0">
                          <a:effectLst/>
                          <a:latin typeface="+mn-ea"/>
                          <a:ea typeface="+mn-ea"/>
                        </a:rPr>
                        <a:t>网格线</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线条填充</a:t>
                      </a:r>
                      <a:r>
                        <a:rPr lang="en-US" sz="1100" kern="0">
                          <a:effectLst/>
                          <a:latin typeface="+mn-ea"/>
                          <a:ea typeface="+mn-ea"/>
                        </a:rPr>
                        <a:t>/</a:t>
                      </a:r>
                      <a:r>
                        <a:rPr lang="zh-CN" sz="1100" kern="0">
                          <a:effectLst/>
                          <a:latin typeface="+mn-ea"/>
                          <a:ea typeface="+mn-ea"/>
                        </a:rPr>
                        <a:t>类型</a:t>
                      </a:r>
                      <a:r>
                        <a:rPr lang="en-US" sz="1100" kern="0">
                          <a:effectLst/>
                          <a:latin typeface="+mn-ea"/>
                          <a:ea typeface="+mn-ea"/>
                        </a:rPr>
                        <a:t>/</a:t>
                      </a:r>
                      <a:r>
                        <a:rPr lang="zh-CN" sz="1100" kern="0">
                          <a:effectLst/>
                          <a:latin typeface="+mn-ea"/>
                          <a:ea typeface="+mn-ea"/>
                        </a:rPr>
                        <a:t>透明度</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51509457"/>
                  </a:ext>
                </a:extLst>
              </a:tr>
              <a:tr h="318629">
                <a:tc vMerge="1">
                  <a:txBody>
                    <a:bodyPr/>
                    <a:lstStyle/>
                    <a:p>
                      <a:endParaRPr lang="zh-CN" altLang="en-US"/>
                    </a:p>
                  </a:txBody>
                  <a:tcPr/>
                </a:tc>
                <a:tc>
                  <a:txBody>
                    <a:bodyPr/>
                    <a:lstStyle/>
                    <a:p>
                      <a:pPr algn="l"/>
                      <a:r>
                        <a:rPr lang="zh-CN" sz="1100" kern="0">
                          <a:effectLst/>
                          <a:latin typeface="+mn-ea"/>
                          <a:ea typeface="+mn-ea"/>
                        </a:rPr>
                        <a:t>误差线</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线条填充</a:t>
                      </a:r>
                      <a:r>
                        <a:rPr lang="en-US" sz="1100" kern="0">
                          <a:effectLst/>
                          <a:latin typeface="+mn-ea"/>
                          <a:ea typeface="+mn-ea"/>
                        </a:rPr>
                        <a:t>/</a:t>
                      </a:r>
                      <a:r>
                        <a:rPr lang="zh-CN" sz="1100" kern="0">
                          <a:effectLst/>
                          <a:latin typeface="+mn-ea"/>
                          <a:ea typeface="+mn-ea"/>
                        </a:rPr>
                        <a:t>类型</a:t>
                      </a:r>
                      <a:r>
                        <a:rPr lang="en-US" sz="1100" kern="0">
                          <a:effectLst/>
                          <a:latin typeface="+mn-ea"/>
                          <a:ea typeface="+mn-ea"/>
                        </a:rPr>
                        <a:t>/</a:t>
                      </a:r>
                      <a:r>
                        <a:rPr lang="zh-CN" sz="1100" kern="0">
                          <a:effectLst/>
                          <a:latin typeface="+mn-ea"/>
                          <a:ea typeface="+mn-ea"/>
                        </a:rPr>
                        <a:t>透明度</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615859403"/>
                  </a:ext>
                </a:extLst>
              </a:tr>
              <a:tr h="318629">
                <a:tc vMerge="1">
                  <a:txBody>
                    <a:bodyPr/>
                    <a:lstStyle/>
                    <a:p>
                      <a:endParaRPr lang="zh-CN" altLang="en-US"/>
                    </a:p>
                  </a:txBody>
                  <a:tcPr/>
                </a:tc>
                <a:tc>
                  <a:txBody>
                    <a:bodyPr/>
                    <a:lstStyle/>
                    <a:p>
                      <a:pPr algn="l"/>
                      <a:r>
                        <a:rPr lang="zh-CN" sz="1100" kern="0">
                          <a:effectLst/>
                          <a:latin typeface="+mn-ea"/>
                          <a:ea typeface="+mn-ea"/>
                        </a:rPr>
                        <a:t>线条</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线条填充</a:t>
                      </a:r>
                      <a:r>
                        <a:rPr lang="en-US" sz="1100" kern="0">
                          <a:effectLst/>
                          <a:latin typeface="+mn-ea"/>
                          <a:ea typeface="+mn-ea"/>
                        </a:rPr>
                        <a:t>/</a:t>
                      </a:r>
                      <a:r>
                        <a:rPr lang="zh-CN" sz="1100" kern="0">
                          <a:effectLst/>
                          <a:latin typeface="+mn-ea"/>
                          <a:ea typeface="+mn-ea"/>
                        </a:rPr>
                        <a:t>类型</a:t>
                      </a:r>
                      <a:r>
                        <a:rPr lang="en-US" sz="1100" kern="0">
                          <a:effectLst/>
                          <a:latin typeface="+mn-ea"/>
                          <a:ea typeface="+mn-ea"/>
                        </a:rPr>
                        <a:t>/</a:t>
                      </a:r>
                      <a:r>
                        <a:rPr lang="zh-CN" sz="1100" kern="0">
                          <a:effectLst/>
                          <a:latin typeface="+mn-ea"/>
                          <a:ea typeface="+mn-ea"/>
                        </a:rPr>
                        <a:t>透明度</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446229770"/>
                  </a:ext>
                </a:extLst>
              </a:tr>
              <a:tr h="318629">
                <a:tc vMerge="1">
                  <a:txBody>
                    <a:bodyPr/>
                    <a:lstStyle/>
                    <a:p>
                      <a:endParaRPr lang="zh-CN" altLang="en-US"/>
                    </a:p>
                  </a:txBody>
                  <a:tcPr/>
                </a:tc>
                <a:tc>
                  <a:txBody>
                    <a:bodyPr/>
                    <a:lstStyle/>
                    <a:p>
                      <a:pPr algn="l"/>
                      <a:r>
                        <a:rPr lang="zh-CN" sz="1100" kern="0">
                          <a:effectLst/>
                          <a:latin typeface="+mn-ea"/>
                          <a:ea typeface="+mn-ea"/>
                        </a:rPr>
                        <a:t>趋势线</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线条填充</a:t>
                      </a:r>
                      <a:r>
                        <a:rPr lang="en-US" sz="1100" kern="0">
                          <a:effectLst/>
                          <a:latin typeface="+mn-ea"/>
                          <a:ea typeface="+mn-ea"/>
                        </a:rPr>
                        <a:t>/</a:t>
                      </a:r>
                      <a:r>
                        <a:rPr lang="zh-CN" sz="1100" kern="0">
                          <a:effectLst/>
                          <a:latin typeface="+mn-ea"/>
                          <a:ea typeface="+mn-ea"/>
                        </a:rPr>
                        <a:t>类型</a:t>
                      </a:r>
                      <a:r>
                        <a:rPr lang="en-US" sz="1100" kern="0">
                          <a:effectLst/>
                          <a:latin typeface="+mn-ea"/>
                          <a:ea typeface="+mn-ea"/>
                        </a:rPr>
                        <a:t>/</a:t>
                      </a:r>
                      <a:r>
                        <a:rPr lang="zh-CN" sz="1100" kern="0">
                          <a:effectLst/>
                          <a:latin typeface="+mn-ea"/>
                          <a:ea typeface="+mn-ea"/>
                        </a:rPr>
                        <a:t>透明度</a:t>
                      </a:r>
                      <a:endParaRPr lang="zh-CN" sz="140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875583655"/>
                  </a:ext>
                </a:extLst>
              </a:tr>
              <a:tr h="318629">
                <a:tc vMerge="1">
                  <a:txBody>
                    <a:bodyPr/>
                    <a:lstStyle/>
                    <a:p>
                      <a:endParaRPr lang="zh-CN" altLang="en-US"/>
                    </a:p>
                  </a:txBody>
                  <a:tcPr/>
                </a:tc>
                <a:tc>
                  <a:txBody>
                    <a:bodyPr/>
                    <a:lstStyle/>
                    <a:p>
                      <a:pPr algn="l"/>
                      <a:r>
                        <a:rPr lang="zh-CN" sz="1100" kern="0">
                          <a:effectLst/>
                          <a:latin typeface="+mn-ea"/>
                          <a:ea typeface="+mn-ea"/>
                        </a:rPr>
                        <a:t>涨</a:t>
                      </a:r>
                      <a:r>
                        <a:rPr lang="en-US" sz="1100" kern="0">
                          <a:effectLst/>
                          <a:latin typeface="+mn-ea"/>
                          <a:ea typeface="+mn-ea"/>
                        </a:rPr>
                        <a:t>/</a:t>
                      </a:r>
                      <a:r>
                        <a:rPr lang="zh-CN" sz="1100" kern="0">
                          <a:effectLst/>
                          <a:latin typeface="+mn-ea"/>
                          <a:ea typeface="+mn-ea"/>
                        </a:rPr>
                        <a:t>跌柱线</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dirty="0">
                          <a:effectLst/>
                          <a:latin typeface="+mn-ea"/>
                          <a:ea typeface="+mn-ea"/>
                        </a:rPr>
                        <a:t>线条填充</a:t>
                      </a:r>
                      <a:r>
                        <a:rPr lang="en-US" sz="1100" kern="0" dirty="0">
                          <a:effectLst/>
                          <a:latin typeface="+mn-ea"/>
                          <a:ea typeface="+mn-ea"/>
                        </a:rPr>
                        <a:t>/</a:t>
                      </a:r>
                      <a:r>
                        <a:rPr lang="zh-CN" sz="1100" kern="0" dirty="0">
                          <a:effectLst/>
                          <a:latin typeface="+mn-ea"/>
                          <a:ea typeface="+mn-ea"/>
                        </a:rPr>
                        <a:t>类型</a:t>
                      </a:r>
                      <a:r>
                        <a:rPr lang="en-US" sz="1100" kern="0" dirty="0">
                          <a:effectLst/>
                          <a:latin typeface="+mn-ea"/>
                          <a:ea typeface="+mn-ea"/>
                        </a:rPr>
                        <a:t>/</a:t>
                      </a:r>
                      <a:r>
                        <a:rPr lang="zh-CN" sz="1100" kern="0" dirty="0">
                          <a:effectLst/>
                          <a:latin typeface="+mn-ea"/>
                          <a:ea typeface="+mn-ea"/>
                        </a:rPr>
                        <a:t>透明度</a:t>
                      </a:r>
                      <a:endParaRPr lang="zh-CN" sz="14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818010614"/>
                  </a:ext>
                </a:extLst>
              </a:tr>
              <a:tr h="318629">
                <a:tc rowSpan="2">
                  <a:txBody>
                    <a:bodyPr/>
                    <a:lstStyle/>
                    <a:p>
                      <a:pPr algn="ctr"/>
                      <a:r>
                        <a:rPr lang="zh-CN" sz="1100" kern="0">
                          <a:effectLst/>
                          <a:latin typeface="+mn-ea"/>
                          <a:ea typeface="+mn-ea"/>
                        </a:rPr>
                        <a:t>混合</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图例</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形状</a:t>
                      </a:r>
                      <a:r>
                        <a:rPr lang="en-US" sz="1100" kern="0">
                          <a:effectLst/>
                          <a:latin typeface="+mn-ea"/>
                          <a:ea typeface="+mn-ea"/>
                        </a:rPr>
                        <a:t>+</a:t>
                      </a:r>
                      <a:r>
                        <a:rPr lang="zh-CN" sz="1100" kern="0">
                          <a:effectLst/>
                          <a:latin typeface="+mn-ea"/>
                          <a:ea typeface="+mn-ea"/>
                        </a:rPr>
                        <a:t>文本</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dirty="0">
                          <a:effectLst/>
                          <a:latin typeface="+mn-ea"/>
                          <a:ea typeface="+mn-ea"/>
                        </a:rPr>
                        <a:t>字体</a:t>
                      </a:r>
                      <a:r>
                        <a:rPr lang="en-US" sz="1100" kern="0" dirty="0">
                          <a:effectLst/>
                          <a:latin typeface="+mn-ea"/>
                          <a:ea typeface="+mn-ea"/>
                        </a:rPr>
                        <a:t>/</a:t>
                      </a:r>
                      <a:r>
                        <a:rPr lang="zh-CN" sz="1100" kern="0" dirty="0">
                          <a:effectLst/>
                          <a:latin typeface="+mn-ea"/>
                          <a:ea typeface="+mn-ea"/>
                        </a:rPr>
                        <a:t>颜色</a:t>
                      </a:r>
                      <a:r>
                        <a:rPr lang="en-US" sz="1100" kern="0" dirty="0">
                          <a:effectLst/>
                          <a:latin typeface="+mn-ea"/>
                          <a:ea typeface="+mn-ea"/>
                        </a:rPr>
                        <a:t>/</a:t>
                      </a:r>
                      <a:r>
                        <a:rPr lang="zh-CN" sz="1100" kern="0" dirty="0">
                          <a:effectLst/>
                          <a:latin typeface="+mn-ea"/>
                          <a:ea typeface="+mn-ea"/>
                        </a:rPr>
                        <a:t>字号</a:t>
                      </a:r>
                      <a:endParaRPr lang="zh-CN" sz="14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924428928"/>
                  </a:ext>
                </a:extLst>
              </a:tr>
              <a:tr h="495137">
                <a:tc vMerge="1">
                  <a:txBody>
                    <a:bodyPr/>
                    <a:lstStyle/>
                    <a:p>
                      <a:endParaRPr lang="zh-CN" altLang="en-US"/>
                    </a:p>
                  </a:txBody>
                  <a:tcPr/>
                </a:tc>
                <a:tc>
                  <a:txBody>
                    <a:bodyPr/>
                    <a:lstStyle/>
                    <a:p>
                      <a:pPr algn="l"/>
                      <a:r>
                        <a:rPr lang="zh-CN" sz="1100" kern="0">
                          <a:effectLst/>
                          <a:latin typeface="+mn-ea"/>
                          <a:ea typeface="+mn-ea"/>
                        </a:rPr>
                        <a:t>坐标轴</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a:effectLst/>
                          <a:latin typeface="+mn-ea"/>
                          <a:ea typeface="+mn-ea"/>
                        </a:rPr>
                        <a:t>线条</a:t>
                      </a:r>
                      <a:r>
                        <a:rPr lang="en-US" sz="1100" kern="0">
                          <a:effectLst/>
                          <a:latin typeface="+mn-ea"/>
                          <a:ea typeface="+mn-ea"/>
                        </a:rPr>
                        <a:t>+</a:t>
                      </a:r>
                      <a:r>
                        <a:rPr lang="zh-CN" sz="1100" kern="0">
                          <a:effectLst/>
                          <a:latin typeface="+mn-ea"/>
                          <a:ea typeface="+mn-ea"/>
                        </a:rPr>
                        <a:t>文本</a:t>
                      </a:r>
                      <a:endParaRPr lang="zh-CN" sz="1400" kern="100">
                        <a:effectLst/>
                        <a:latin typeface="+mn-ea"/>
                        <a:ea typeface="+mn-ea"/>
                        <a:cs typeface="Times New Roman" panose="02020603050405020304" pitchFamily="18" charset="0"/>
                      </a:endParaRPr>
                    </a:p>
                  </a:txBody>
                  <a:tcPr marL="68580" marR="68580" marT="0" marB="0" anchor="ctr"/>
                </a:tc>
                <a:tc>
                  <a:txBody>
                    <a:bodyPr/>
                    <a:lstStyle/>
                    <a:p>
                      <a:pPr algn="l"/>
                      <a:r>
                        <a:rPr lang="zh-CN" sz="1100" kern="0" dirty="0">
                          <a:effectLst/>
                          <a:latin typeface="+mn-ea"/>
                          <a:ea typeface="+mn-ea"/>
                        </a:rPr>
                        <a:t>字体</a:t>
                      </a:r>
                      <a:r>
                        <a:rPr lang="en-US" sz="1100" kern="0" dirty="0">
                          <a:effectLst/>
                          <a:latin typeface="+mn-ea"/>
                          <a:ea typeface="+mn-ea"/>
                        </a:rPr>
                        <a:t>/</a:t>
                      </a:r>
                      <a:r>
                        <a:rPr lang="zh-CN" sz="1100" kern="0" dirty="0">
                          <a:effectLst/>
                          <a:latin typeface="+mn-ea"/>
                          <a:ea typeface="+mn-ea"/>
                        </a:rPr>
                        <a:t>颜色</a:t>
                      </a:r>
                      <a:r>
                        <a:rPr lang="en-US" sz="1100" kern="0" dirty="0">
                          <a:effectLst/>
                          <a:latin typeface="+mn-ea"/>
                          <a:ea typeface="+mn-ea"/>
                        </a:rPr>
                        <a:t>/</a:t>
                      </a:r>
                      <a:r>
                        <a:rPr lang="zh-CN" sz="1100" kern="0" dirty="0">
                          <a:effectLst/>
                          <a:latin typeface="+mn-ea"/>
                          <a:ea typeface="+mn-ea"/>
                        </a:rPr>
                        <a:t>字号</a:t>
                      </a:r>
                      <a:r>
                        <a:rPr lang="en-US" sz="1100" kern="0" dirty="0">
                          <a:effectLst/>
                          <a:latin typeface="+mn-ea"/>
                          <a:ea typeface="+mn-ea"/>
                        </a:rPr>
                        <a:t>+</a:t>
                      </a:r>
                      <a:r>
                        <a:rPr lang="zh-CN" sz="1100" kern="0" dirty="0">
                          <a:effectLst/>
                          <a:latin typeface="+mn-ea"/>
                          <a:ea typeface="+mn-ea"/>
                        </a:rPr>
                        <a:t>线条填充</a:t>
                      </a:r>
                      <a:r>
                        <a:rPr lang="en-US" sz="1100" kern="0" dirty="0">
                          <a:effectLst/>
                          <a:latin typeface="+mn-ea"/>
                          <a:ea typeface="+mn-ea"/>
                        </a:rPr>
                        <a:t>/</a:t>
                      </a:r>
                      <a:r>
                        <a:rPr lang="zh-CN" sz="1100" kern="0" dirty="0">
                          <a:effectLst/>
                          <a:latin typeface="+mn-ea"/>
                          <a:ea typeface="+mn-ea"/>
                        </a:rPr>
                        <a:t>透明度</a:t>
                      </a:r>
                      <a:endParaRPr lang="zh-CN" sz="1400" kern="1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6354069"/>
                  </a:ext>
                </a:extLst>
              </a:tr>
            </a:tbl>
          </a:graphicData>
        </a:graphic>
      </p:graphicFrame>
      <p:sp>
        <p:nvSpPr>
          <p:cNvPr id="2" name="文本框 14">
            <a:extLst>
              <a:ext uri="{FF2B5EF4-FFF2-40B4-BE49-F238E27FC236}">
                <a16:creationId xmlns:a16="http://schemas.microsoft.com/office/drawing/2014/main" id="{640BA8F8-BAE8-EF95-E595-DC0A2E905768}"/>
              </a:ext>
            </a:extLst>
          </p:cNvPr>
          <p:cNvSpPr txBox="1"/>
          <p:nvPr/>
        </p:nvSpPr>
        <p:spPr>
          <a:xfrm>
            <a:off x="2369171" y="952227"/>
            <a:ext cx="9259612" cy="510524"/>
          </a:xfrm>
          <a:prstGeom prst="rect">
            <a:avLst/>
          </a:prstGeom>
          <a:noFill/>
        </p:spPr>
        <p:txBody>
          <a:bodyPr wrap="square" rtlCol="0">
            <a:spAutoFit/>
          </a:bodyPr>
          <a:lstStyle/>
          <a:p>
            <a:pPr>
              <a:lnSpc>
                <a:spcPct val="200000"/>
              </a:lnSpc>
            </a:pPr>
            <a:r>
              <a:rPr lang="zh-CN" altLang="en-US" sz="1600" b="1" dirty="0">
                <a:solidFill>
                  <a:schemeClr val="accent1"/>
                </a:solidFill>
                <a:latin typeface="微软雅黑" panose="020B0503020204020204" pitchFamily="34" charset="-122"/>
                <a:ea typeface="微软雅黑" panose="020B0503020204020204" pitchFamily="34" charset="-122"/>
              </a:rPr>
              <a:t>图表元素本质上是文本框和形状的组合，所以掌握这两类元素的修饰就可以明确图表元素的修饰方式</a:t>
            </a:r>
          </a:p>
        </p:txBody>
      </p:sp>
    </p:spTree>
    <p:extLst>
      <p:ext uri="{BB962C8B-B14F-4D97-AF65-F5344CB8AC3E}">
        <p14:creationId xmlns:p14="http://schemas.microsoft.com/office/powerpoint/2010/main" val="2068404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图表基本结构</a:t>
            </a:r>
            <a:endParaRPr lang="en-US" dirty="0">
              <a:latin typeface="+mn-lt"/>
              <a:ea typeface="+mn-ea"/>
              <a:cs typeface="+mn-ea"/>
              <a:sym typeface="+mn-lt"/>
            </a:endParaRPr>
          </a:p>
        </p:txBody>
      </p:sp>
      <p:pic>
        <p:nvPicPr>
          <p:cNvPr id="2" name="图片 1">
            <a:extLst>
              <a:ext uri="{FF2B5EF4-FFF2-40B4-BE49-F238E27FC236}">
                <a16:creationId xmlns:a16="http://schemas.microsoft.com/office/drawing/2014/main" id="{B048C61B-9053-1061-D630-0643F5E7A20A}"/>
              </a:ext>
            </a:extLst>
          </p:cNvPr>
          <p:cNvPicPr>
            <a:picLocks noChangeAspect="1"/>
          </p:cNvPicPr>
          <p:nvPr/>
        </p:nvPicPr>
        <p:blipFill>
          <a:blip r:embed="rId2"/>
          <a:stretch>
            <a:fillRect/>
          </a:stretch>
        </p:blipFill>
        <p:spPr>
          <a:xfrm>
            <a:off x="2026090" y="938530"/>
            <a:ext cx="5274310" cy="2490470"/>
          </a:xfrm>
          <a:prstGeom prst="rect">
            <a:avLst/>
          </a:prstGeom>
        </p:spPr>
      </p:pic>
      <p:sp>
        <p:nvSpPr>
          <p:cNvPr id="5" name="文本框 4">
            <a:extLst>
              <a:ext uri="{FF2B5EF4-FFF2-40B4-BE49-F238E27FC236}">
                <a16:creationId xmlns:a16="http://schemas.microsoft.com/office/drawing/2014/main" id="{F5542135-F486-D0DF-29F1-1B00561BBD52}"/>
              </a:ext>
            </a:extLst>
          </p:cNvPr>
          <p:cNvSpPr txBox="1"/>
          <p:nvPr/>
        </p:nvSpPr>
        <p:spPr>
          <a:xfrm>
            <a:off x="2026090" y="3575568"/>
            <a:ext cx="8802687" cy="2668103"/>
          </a:xfrm>
          <a:prstGeom prst="rect">
            <a:avLst/>
          </a:prstGeom>
          <a:noFill/>
        </p:spPr>
        <p:txBody>
          <a:bodyPr wrap="square">
            <a:spAutoFit/>
          </a:bodyPr>
          <a:lstStyle/>
          <a:p>
            <a:pPr algn="just">
              <a:lnSpc>
                <a:spcPct val="150000"/>
              </a:lnSpc>
            </a:pPr>
            <a:r>
              <a:rPr lang="zh-CN" altLang="zh-CN" sz="1100" b="1" kern="100" dirty="0">
                <a:effectLst/>
                <a:latin typeface="+mn-ea"/>
                <a:cs typeface="Times New Roman" panose="02020603050405020304" pitchFamily="18" charset="0"/>
              </a:rPr>
              <a:t>图表区</a:t>
            </a:r>
            <a:r>
              <a:rPr lang="zh-CN" altLang="zh-CN" sz="1100" kern="100" dirty="0">
                <a:effectLst/>
                <a:latin typeface="+mn-ea"/>
                <a:cs typeface="Times New Roman" panose="02020603050405020304" pitchFamily="18" charset="0"/>
              </a:rPr>
              <a:t>，包含所有图表元素的容器，添加的图表元素都是在图表区内。</a:t>
            </a:r>
            <a:endParaRPr lang="zh-CN" altLang="zh-CN" sz="1000" kern="100" dirty="0">
              <a:effectLst/>
              <a:latin typeface="+mn-ea"/>
              <a:cs typeface="Times New Roman" panose="02020603050405020304" pitchFamily="18" charset="0"/>
            </a:endParaRPr>
          </a:p>
          <a:p>
            <a:pPr algn="just">
              <a:lnSpc>
                <a:spcPct val="150000"/>
              </a:lnSpc>
            </a:pPr>
            <a:r>
              <a:rPr lang="zh-CN" altLang="zh-CN" sz="1100" b="1" kern="100" dirty="0">
                <a:effectLst/>
                <a:latin typeface="+mn-ea"/>
                <a:cs typeface="Times New Roman" panose="02020603050405020304" pitchFamily="18" charset="0"/>
              </a:rPr>
              <a:t>绘图区</a:t>
            </a:r>
            <a:r>
              <a:rPr lang="zh-CN" altLang="zh-CN" sz="1100" kern="100" dirty="0">
                <a:effectLst/>
                <a:latin typeface="+mn-ea"/>
                <a:cs typeface="Times New Roman" panose="02020603050405020304" pitchFamily="18" charset="0"/>
              </a:rPr>
              <a:t>，为图表必备元素，是数据图形</a:t>
            </a:r>
            <a:r>
              <a:rPr lang="en-US" altLang="zh-CN" sz="1100" kern="100" dirty="0">
                <a:effectLst/>
                <a:latin typeface="+mn-ea"/>
                <a:cs typeface="Times New Roman" panose="02020603050405020304" pitchFamily="18" charset="0"/>
              </a:rPr>
              <a:t>(Excel</a:t>
            </a:r>
            <a:r>
              <a:rPr lang="zh-CN" altLang="zh-CN" sz="1100" kern="100" dirty="0">
                <a:effectLst/>
                <a:latin typeface="+mn-ea"/>
                <a:cs typeface="Times New Roman" panose="02020603050405020304" pitchFamily="18" charset="0"/>
              </a:rPr>
              <a:t>中称为数据系列</a:t>
            </a:r>
            <a:r>
              <a:rPr lang="en-US" altLang="zh-CN" sz="1100" kern="100" dirty="0">
                <a:effectLst/>
                <a:latin typeface="+mn-ea"/>
                <a:cs typeface="Times New Roman" panose="02020603050405020304" pitchFamily="18" charset="0"/>
              </a:rPr>
              <a:t>)</a:t>
            </a:r>
            <a:r>
              <a:rPr lang="zh-CN" altLang="zh-CN" sz="1100" kern="100" dirty="0">
                <a:effectLst/>
                <a:latin typeface="+mn-ea"/>
                <a:cs typeface="Times New Roman" panose="02020603050405020304" pitchFamily="18" charset="0"/>
              </a:rPr>
              <a:t>所在区域。绘图区和图表区很容易混淆，绘图区是包含在图表区的，绘图区可以根据需要调整大小和调整位置。</a:t>
            </a:r>
            <a:endParaRPr lang="zh-CN" altLang="zh-CN" sz="1000" kern="100" dirty="0">
              <a:effectLst/>
              <a:latin typeface="+mn-ea"/>
              <a:cs typeface="Times New Roman" panose="02020603050405020304" pitchFamily="18" charset="0"/>
            </a:endParaRPr>
          </a:p>
          <a:p>
            <a:pPr algn="just">
              <a:lnSpc>
                <a:spcPct val="150000"/>
              </a:lnSpc>
            </a:pPr>
            <a:r>
              <a:rPr lang="zh-CN" altLang="zh-CN" sz="1100" b="1" kern="100" dirty="0">
                <a:effectLst/>
                <a:latin typeface="+mn-ea"/>
                <a:cs typeface="Times New Roman" panose="02020603050405020304" pitchFamily="18" charset="0"/>
              </a:rPr>
              <a:t>数据系列</a:t>
            </a:r>
            <a:r>
              <a:rPr lang="zh-CN" altLang="zh-CN" sz="1100" kern="100" dirty="0">
                <a:effectLst/>
                <a:latin typeface="+mn-ea"/>
                <a:cs typeface="Times New Roman" panose="02020603050405020304" pitchFamily="18" charset="0"/>
              </a:rPr>
              <a:t>，根据图表数据绘制出的图形，位于绘图区中，是图表的主要对象</a:t>
            </a:r>
            <a:endParaRPr lang="zh-CN" altLang="zh-CN" sz="1000" kern="100" dirty="0">
              <a:effectLst/>
              <a:latin typeface="+mn-ea"/>
              <a:cs typeface="Times New Roman" panose="02020603050405020304" pitchFamily="18" charset="0"/>
            </a:endParaRPr>
          </a:p>
          <a:p>
            <a:pPr algn="just">
              <a:lnSpc>
                <a:spcPct val="150000"/>
              </a:lnSpc>
            </a:pPr>
            <a:r>
              <a:rPr lang="zh-CN" altLang="zh-CN" sz="1100" b="1" kern="100" dirty="0">
                <a:effectLst/>
                <a:latin typeface="+mn-ea"/>
                <a:cs typeface="Times New Roman" panose="02020603050405020304" pitchFamily="18" charset="0"/>
              </a:rPr>
              <a:t>数据标签</a:t>
            </a:r>
            <a:r>
              <a:rPr lang="zh-CN" altLang="zh-CN" sz="1100" kern="100" dirty="0">
                <a:effectLst/>
                <a:latin typeface="+mn-ea"/>
                <a:cs typeface="Times New Roman" panose="02020603050405020304" pitchFamily="18" charset="0"/>
              </a:rPr>
              <a:t>，显示数据系列对应的数据源中的系列值</a:t>
            </a:r>
            <a:endParaRPr lang="zh-CN" altLang="zh-CN" sz="1000" kern="100" dirty="0">
              <a:effectLst/>
              <a:latin typeface="+mn-ea"/>
              <a:cs typeface="Times New Roman" panose="02020603050405020304" pitchFamily="18" charset="0"/>
            </a:endParaRPr>
          </a:p>
          <a:p>
            <a:pPr algn="just">
              <a:lnSpc>
                <a:spcPct val="150000"/>
              </a:lnSpc>
            </a:pPr>
            <a:r>
              <a:rPr lang="zh-CN" altLang="zh-CN" sz="1100" b="1" kern="100" dirty="0">
                <a:effectLst/>
                <a:latin typeface="+mn-ea"/>
                <a:cs typeface="Times New Roman" panose="02020603050405020304" pitchFamily="18" charset="0"/>
              </a:rPr>
              <a:t>图表标题</a:t>
            </a:r>
            <a:r>
              <a:rPr lang="zh-CN" altLang="zh-CN" sz="1100" kern="100" dirty="0">
                <a:effectLst/>
                <a:latin typeface="+mn-ea"/>
                <a:cs typeface="Times New Roman" panose="02020603050405020304" pitchFamily="18" charset="0"/>
              </a:rPr>
              <a:t>，图表标题是对图表的文字说明，是图表必备元素，</a:t>
            </a:r>
            <a:r>
              <a:rPr lang="en-US" altLang="zh-CN" sz="1100" kern="100" dirty="0">
                <a:effectLst/>
                <a:latin typeface="+mn-ea"/>
                <a:cs typeface="Times New Roman" panose="02020603050405020304" pitchFamily="18" charset="0"/>
              </a:rPr>
              <a:t>Excel</a:t>
            </a:r>
            <a:r>
              <a:rPr lang="zh-CN" altLang="zh-CN" sz="1100" kern="100" dirty="0">
                <a:effectLst/>
                <a:latin typeface="+mn-ea"/>
                <a:cs typeface="Times New Roman" panose="02020603050405020304" pitchFamily="18" charset="0"/>
              </a:rPr>
              <a:t>中默认使用数据源标题作为图表标题。在图表修饰中可以删除图表默认添加的图表标题而使用文本框代替，将标题分为主标题和图表说明，标题对图表的作用和功能进行说明，图表说明对图表内数据进行简要分析。</a:t>
            </a:r>
            <a:endParaRPr lang="zh-CN" altLang="zh-CN" sz="1000" kern="100" dirty="0">
              <a:effectLst/>
              <a:latin typeface="+mn-ea"/>
              <a:cs typeface="Times New Roman" panose="02020603050405020304" pitchFamily="18" charset="0"/>
            </a:endParaRPr>
          </a:p>
          <a:p>
            <a:pPr algn="just">
              <a:lnSpc>
                <a:spcPct val="150000"/>
              </a:lnSpc>
            </a:pPr>
            <a:r>
              <a:rPr lang="zh-CN" altLang="zh-CN" sz="1100" b="1" kern="100" dirty="0">
                <a:effectLst/>
                <a:latin typeface="+mn-ea"/>
                <a:cs typeface="Times New Roman" panose="02020603050405020304" pitchFamily="18" charset="0"/>
              </a:rPr>
              <a:t>图例</a:t>
            </a:r>
            <a:r>
              <a:rPr lang="zh-CN" altLang="zh-CN" sz="1100" kern="100" dirty="0">
                <a:effectLst/>
                <a:latin typeface="+mn-ea"/>
                <a:cs typeface="Times New Roman" panose="02020603050405020304" pitchFamily="18" charset="0"/>
              </a:rPr>
              <a:t>，指示图形代表的数据系列</a:t>
            </a:r>
            <a:endParaRPr lang="zh-CN" altLang="zh-CN" sz="1000" kern="100" dirty="0">
              <a:effectLst/>
              <a:latin typeface="+mn-ea"/>
              <a:cs typeface="Times New Roman" panose="02020603050405020304" pitchFamily="18" charset="0"/>
            </a:endParaRPr>
          </a:p>
          <a:p>
            <a:pPr algn="just">
              <a:lnSpc>
                <a:spcPct val="150000"/>
              </a:lnSpc>
            </a:pPr>
            <a:r>
              <a:rPr lang="zh-CN" altLang="zh-CN" sz="1100" b="1" kern="100" dirty="0">
                <a:effectLst/>
                <a:latin typeface="+mn-ea"/>
                <a:cs typeface="Times New Roman" panose="02020603050405020304" pitchFamily="18" charset="0"/>
              </a:rPr>
              <a:t>坐标轴</a:t>
            </a:r>
            <a:r>
              <a:rPr lang="zh-CN" altLang="zh-CN" sz="1100" kern="100" dirty="0">
                <a:effectLst/>
                <a:latin typeface="+mn-ea"/>
                <a:cs typeface="Times New Roman" panose="02020603050405020304" pitchFamily="18" charset="0"/>
              </a:rPr>
              <a:t>，包括横坐标轴和纵坐标轴，在组合图中有时需要次坐标轴用于体现不同数据量级的数据。</a:t>
            </a:r>
            <a:endParaRPr lang="zh-CN" altLang="zh-CN" sz="1000" kern="100" dirty="0">
              <a:effectLst/>
              <a:latin typeface="+mn-ea"/>
              <a:cs typeface="Times New Roman" panose="02020603050405020304" pitchFamily="18" charset="0"/>
            </a:endParaRPr>
          </a:p>
          <a:p>
            <a:pPr algn="just">
              <a:lnSpc>
                <a:spcPct val="150000"/>
              </a:lnSpc>
            </a:pPr>
            <a:r>
              <a:rPr lang="zh-CN" altLang="zh-CN" sz="1100" b="1" kern="100" dirty="0">
                <a:effectLst/>
                <a:latin typeface="+mn-ea"/>
                <a:cs typeface="Times New Roman" panose="02020603050405020304" pitchFamily="18" charset="0"/>
              </a:rPr>
              <a:t>网格线</a:t>
            </a:r>
            <a:r>
              <a:rPr lang="zh-CN" altLang="zh-CN" sz="1100" kern="100" dirty="0">
                <a:effectLst/>
                <a:latin typeface="+mn-ea"/>
                <a:cs typeface="Times New Roman" panose="02020603050405020304" pitchFamily="18" charset="0"/>
              </a:rPr>
              <a:t>，分为水平和垂直网格线，网格线一般用于图表辅助功能，如不添加数据标签时可使用横线作为数值大小参考线。</a:t>
            </a:r>
            <a:endParaRPr lang="zh-CN" altLang="zh-CN" sz="1000" kern="100" dirty="0">
              <a:effectLst/>
              <a:latin typeface="+mn-ea"/>
              <a:cs typeface="Times New Roman" panose="02020603050405020304" pitchFamily="18" charset="0"/>
            </a:endParaRPr>
          </a:p>
        </p:txBody>
      </p:sp>
    </p:spTree>
    <p:extLst>
      <p:ext uri="{BB962C8B-B14F-4D97-AF65-F5344CB8AC3E}">
        <p14:creationId xmlns:p14="http://schemas.microsoft.com/office/powerpoint/2010/main" val="538790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F5A2055-6255-3BD3-285E-5D4FFE087C91}"/>
              </a:ext>
            </a:extLst>
          </p:cNvPr>
          <p:cNvSpPr>
            <a:spLocks noGrp="1"/>
          </p:cNvSpPr>
          <p:nvPr>
            <p:ph type="body" sz="quarter" idx="12"/>
          </p:nvPr>
        </p:nvSpPr>
        <p:spPr/>
        <p:txBody>
          <a:bodyPr>
            <a:normAutofit/>
          </a:bodyPr>
          <a:lstStyle/>
          <a:p>
            <a:r>
              <a:rPr lang="zh-CN" altLang="en-US" dirty="0"/>
              <a:t>其他图表元素</a:t>
            </a:r>
          </a:p>
        </p:txBody>
      </p:sp>
      <p:sp>
        <p:nvSpPr>
          <p:cNvPr id="4" name="文本框 3">
            <a:extLst>
              <a:ext uri="{FF2B5EF4-FFF2-40B4-BE49-F238E27FC236}">
                <a16:creationId xmlns:a16="http://schemas.microsoft.com/office/drawing/2014/main" id="{18EABB97-7034-7098-60F4-64B2EC628A0A}"/>
              </a:ext>
            </a:extLst>
          </p:cNvPr>
          <p:cNvSpPr txBox="1"/>
          <p:nvPr/>
        </p:nvSpPr>
        <p:spPr>
          <a:xfrm>
            <a:off x="1979508" y="3689868"/>
            <a:ext cx="8630808" cy="1839863"/>
          </a:xfrm>
          <a:prstGeom prst="rect">
            <a:avLst/>
          </a:prstGeom>
          <a:noFill/>
        </p:spPr>
        <p:txBody>
          <a:bodyPr wrap="square">
            <a:spAutoFit/>
          </a:bodyPr>
          <a:lstStyle/>
          <a:p>
            <a:pPr algn="just">
              <a:lnSpc>
                <a:spcPct val="150000"/>
              </a:lnSpc>
            </a:pPr>
            <a:r>
              <a:rPr lang="zh-CN" altLang="zh-CN" sz="1100" b="1" kern="100" dirty="0">
                <a:effectLst/>
                <a:latin typeface="+mn-ea"/>
                <a:cs typeface="Times New Roman" panose="02020603050405020304" pitchFamily="18" charset="0"/>
              </a:rPr>
              <a:t>坐标轴标题</a:t>
            </a:r>
            <a:r>
              <a:rPr lang="zh-CN" altLang="zh-CN" sz="1100" kern="100" dirty="0">
                <a:effectLst/>
                <a:latin typeface="+mn-ea"/>
                <a:cs typeface="Times New Roman" panose="02020603050405020304" pitchFamily="18" charset="0"/>
              </a:rPr>
              <a:t>，坐标轴标题位于坐标轴区域，用于标识坐标轴名称，一般散点图和气泡图需要添加</a:t>
            </a:r>
          </a:p>
          <a:p>
            <a:pPr algn="just">
              <a:lnSpc>
                <a:spcPct val="150000"/>
              </a:lnSpc>
            </a:pPr>
            <a:r>
              <a:rPr lang="zh-CN" altLang="zh-CN" sz="1100" b="1" kern="100" dirty="0">
                <a:effectLst/>
                <a:latin typeface="+mn-ea"/>
                <a:cs typeface="Times New Roman" panose="02020603050405020304" pitchFamily="18" charset="0"/>
              </a:rPr>
              <a:t>数据表</a:t>
            </a:r>
            <a:r>
              <a:rPr lang="zh-CN" altLang="zh-CN" sz="1100" kern="100" dirty="0">
                <a:effectLst/>
                <a:latin typeface="+mn-ea"/>
                <a:cs typeface="Times New Roman" panose="02020603050405020304" pitchFamily="18" charset="0"/>
              </a:rPr>
              <a:t>，数据表在</a:t>
            </a:r>
            <a:r>
              <a:rPr lang="en-US" altLang="zh-CN" sz="1100" kern="100" dirty="0">
                <a:effectLst/>
                <a:latin typeface="+mn-ea"/>
                <a:cs typeface="Times New Roman" panose="02020603050405020304" pitchFamily="18" charset="0"/>
              </a:rPr>
              <a:t>X</a:t>
            </a:r>
            <a:r>
              <a:rPr lang="zh-CN" altLang="zh-CN" sz="1100" kern="100" dirty="0">
                <a:effectLst/>
                <a:latin typeface="+mn-ea"/>
                <a:cs typeface="Times New Roman" panose="02020603050405020304" pitchFamily="18" charset="0"/>
              </a:rPr>
              <a:t>下方新增图表数据表格，因为与数据标签和纵坐标轴信息重叠且占用空间大，一般不添加。</a:t>
            </a:r>
          </a:p>
          <a:p>
            <a:pPr algn="just">
              <a:lnSpc>
                <a:spcPct val="150000"/>
              </a:lnSpc>
            </a:pPr>
            <a:r>
              <a:rPr lang="zh-CN" altLang="zh-CN" sz="1100" kern="100" dirty="0">
                <a:effectLst/>
                <a:latin typeface="+mn-ea"/>
                <a:cs typeface="Times New Roman" panose="02020603050405020304" pitchFamily="18" charset="0"/>
              </a:rPr>
              <a:t>统计类图表元素一般不会出现在默认图表中，如需展示需单独添加</a:t>
            </a:r>
          </a:p>
          <a:p>
            <a:pPr algn="just">
              <a:lnSpc>
                <a:spcPct val="150000"/>
              </a:lnSpc>
            </a:pPr>
            <a:r>
              <a:rPr lang="zh-CN" altLang="zh-CN" sz="1100" b="1" kern="100" dirty="0">
                <a:effectLst/>
                <a:latin typeface="+mn-ea"/>
                <a:cs typeface="Times New Roman" panose="02020603050405020304" pitchFamily="18" charset="0"/>
              </a:rPr>
              <a:t>误差线</a:t>
            </a:r>
            <a:r>
              <a:rPr lang="zh-CN" altLang="zh-CN" sz="1100" kern="100" dirty="0">
                <a:effectLst/>
                <a:latin typeface="+mn-ea"/>
                <a:cs typeface="Times New Roman" panose="02020603050405020304" pitchFamily="18" charset="0"/>
              </a:rPr>
              <a:t>，反映与数据系列中每个数据标记相关的可能误差量的线条。第三章对比条形图使用误差线制作辅助线条。</a:t>
            </a:r>
          </a:p>
          <a:p>
            <a:pPr algn="just">
              <a:lnSpc>
                <a:spcPct val="150000"/>
              </a:lnSpc>
            </a:pPr>
            <a:r>
              <a:rPr lang="zh-CN" altLang="zh-CN" sz="1100" b="1" kern="100" dirty="0">
                <a:effectLst/>
                <a:latin typeface="+mn-ea"/>
                <a:cs typeface="Times New Roman" panose="02020603050405020304" pitchFamily="18" charset="0"/>
              </a:rPr>
              <a:t>线条</a:t>
            </a:r>
            <a:r>
              <a:rPr lang="zh-CN" altLang="zh-CN" sz="1100" kern="100" dirty="0">
                <a:effectLst/>
                <a:latin typeface="+mn-ea"/>
                <a:cs typeface="Times New Roman" panose="02020603050405020304" pitchFamily="18" charset="0"/>
              </a:rPr>
              <a:t>，在折线图和面积图中，可制作数据点和横坐标轴的垂直线或数据点之间的垂直线。第三章使用线条制作菱形走势图。</a:t>
            </a:r>
          </a:p>
          <a:p>
            <a:pPr algn="just">
              <a:lnSpc>
                <a:spcPct val="150000"/>
              </a:lnSpc>
            </a:pPr>
            <a:r>
              <a:rPr lang="zh-CN" altLang="zh-CN" sz="1100" b="1" kern="100" dirty="0">
                <a:effectLst/>
                <a:latin typeface="+mn-ea"/>
                <a:cs typeface="Times New Roman" panose="02020603050405020304" pitchFamily="18" charset="0"/>
              </a:rPr>
              <a:t>趋势线</a:t>
            </a:r>
            <a:r>
              <a:rPr lang="zh-CN" altLang="zh-CN" sz="1100" kern="100" dirty="0">
                <a:effectLst/>
                <a:latin typeface="+mn-ea"/>
                <a:cs typeface="Times New Roman" panose="02020603050405020304" pitchFamily="18" charset="0"/>
              </a:rPr>
              <a:t>，是根据图表数据进行数据拟合按照回归分析的方法添加一条预测线条。常用于统计类分析，可应用于时间序列展示趋势的图表。</a:t>
            </a:r>
          </a:p>
          <a:p>
            <a:pPr algn="just">
              <a:lnSpc>
                <a:spcPct val="150000"/>
              </a:lnSpc>
            </a:pPr>
            <a:r>
              <a:rPr lang="zh-CN" altLang="zh-CN" sz="1100" b="1" kern="100" dirty="0">
                <a:effectLst/>
                <a:latin typeface="+mn-ea"/>
                <a:cs typeface="Times New Roman" panose="02020603050405020304" pitchFamily="18" charset="0"/>
              </a:rPr>
              <a:t>涨</a:t>
            </a:r>
            <a:r>
              <a:rPr lang="en-US" altLang="zh-CN" sz="1100" b="1" kern="100" dirty="0">
                <a:effectLst/>
                <a:latin typeface="+mn-ea"/>
                <a:cs typeface="Times New Roman" panose="02020603050405020304" pitchFamily="18" charset="0"/>
              </a:rPr>
              <a:t>/</a:t>
            </a:r>
            <a:r>
              <a:rPr lang="zh-CN" altLang="zh-CN" sz="1100" b="1" kern="100" dirty="0">
                <a:effectLst/>
                <a:latin typeface="+mn-ea"/>
                <a:cs typeface="Times New Roman" panose="02020603050405020304" pitchFamily="18" charset="0"/>
              </a:rPr>
              <a:t>跌柱线</a:t>
            </a:r>
            <a:r>
              <a:rPr lang="zh-CN" altLang="zh-CN" sz="1100" kern="100" dirty="0">
                <a:effectLst/>
                <a:latin typeface="+mn-ea"/>
                <a:cs typeface="Times New Roman" panose="02020603050405020304" pitchFamily="18" charset="0"/>
              </a:rPr>
              <a:t>，在折线图中，连接两个系列同一轴标签下数据点的柱形，常用于展示股票信息。</a:t>
            </a:r>
          </a:p>
        </p:txBody>
      </p:sp>
      <p:pic>
        <p:nvPicPr>
          <p:cNvPr id="5" name="图片 4">
            <a:extLst>
              <a:ext uri="{FF2B5EF4-FFF2-40B4-BE49-F238E27FC236}">
                <a16:creationId xmlns:a16="http://schemas.microsoft.com/office/drawing/2014/main" id="{0DE23F7D-604B-6FC6-581A-8D7EBF3072EB}"/>
              </a:ext>
            </a:extLst>
          </p:cNvPr>
          <p:cNvPicPr>
            <a:picLocks noChangeAspect="1"/>
          </p:cNvPicPr>
          <p:nvPr/>
        </p:nvPicPr>
        <p:blipFill>
          <a:blip r:embed="rId2"/>
          <a:stretch>
            <a:fillRect/>
          </a:stretch>
        </p:blipFill>
        <p:spPr>
          <a:xfrm>
            <a:off x="1984184" y="938530"/>
            <a:ext cx="5274310" cy="2490470"/>
          </a:xfrm>
          <a:prstGeom prst="rect">
            <a:avLst/>
          </a:prstGeom>
        </p:spPr>
      </p:pic>
    </p:spTree>
    <p:extLst>
      <p:ext uri="{BB962C8B-B14F-4D97-AF65-F5344CB8AC3E}">
        <p14:creationId xmlns:p14="http://schemas.microsoft.com/office/powerpoint/2010/main" val="3500122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ED5B3A8F-B565-814C-91CC-42BD8C4118A6}"/>
              </a:ext>
            </a:extLst>
          </p:cNvPr>
          <p:cNvSpPr txBox="1"/>
          <p:nvPr/>
        </p:nvSpPr>
        <p:spPr>
          <a:xfrm>
            <a:off x="1679646" y="1865270"/>
            <a:ext cx="1146230" cy="1569660"/>
          </a:xfrm>
          <a:prstGeom prst="rect">
            <a:avLst/>
          </a:prstGeom>
          <a:noFill/>
        </p:spPr>
        <p:txBody>
          <a:bodyPr vert="horz" wrap="square" rtlCol="0">
            <a:spAutoFit/>
          </a:bodyPr>
          <a:lstStyle/>
          <a:p>
            <a:pPr lvl="1"/>
            <a:r>
              <a:rPr lang="en-US" altLang="zh-CN" sz="9600" dirty="0">
                <a:solidFill>
                  <a:srgbClr val="1357AE"/>
                </a:solidFill>
                <a:latin typeface="方正兰亭准黑_GBK" panose="02000000000000000000" pitchFamily="2" charset="-122"/>
                <a:ea typeface="方正兰亭准黑_GBK" panose="02000000000000000000" pitchFamily="2" charset="-122"/>
              </a:rPr>
              <a:t>1</a:t>
            </a:r>
            <a:endParaRPr lang="zh-CN" altLang="en-US" sz="9600" dirty="0">
              <a:solidFill>
                <a:srgbClr val="1357AE"/>
              </a:solidFill>
              <a:latin typeface="方正兰亭准黑_GBK" panose="02000000000000000000" pitchFamily="2" charset="-122"/>
              <a:ea typeface="方正兰亭准黑_GBK" panose="02000000000000000000" pitchFamily="2" charset="-122"/>
            </a:endParaRPr>
          </a:p>
        </p:txBody>
      </p:sp>
      <p:sp>
        <p:nvSpPr>
          <p:cNvPr id="22" name="矩形 21">
            <a:extLst>
              <a:ext uri="{FF2B5EF4-FFF2-40B4-BE49-F238E27FC236}">
                <a16:creationId xmlns:a16="http://schemas.microsoft.com/office/drawing/2014/main" id="{89B7465B-A16D-9207-9F13-83BCE0FACA53}"/>
              </a:ext>
            </a:extLst>
          </p:cNvPr>
          <p:cNvSpPr/>
          <p:nvPr/>
        </p:nvSpPr>
        <p:spPr>
          <a:xfrm rot="18420000">
            <a:off x="2052000" y="2712784"/>
            <a:ext cx="1990620" cy="897108"/>
          </a:xfrm>
          <a:prstGeom prst="rect">
            <a:avLst/>
          </a:prstGeom>
          <a:solidFill>
            <a:srgbClr val="F1F1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图表元素的组成与修饰</a:t>
            </a:r>
            <a:endParaRPr lang="en-US" dirty="0">
              <a:latin typeface="+mn-lt"/>
              <a:ea typeface="+mn-ea"/>
              <a:cs typeface="+mn-ea"/>
              <a:sym typeface="+mn-lt"/>
            </a:endParaRPr>
          </a:p>
        </p:txBody>
      </p:sp>
      <p:sp>
        <p:nvSpPr>
          <p:cNvPr id="4" name="文本框 3">
            <a:extLst>
              <a:ext uri="{FF2B5EF4-FFF2-40B4-BE49-F238E27FC236}">
                <a16:creationId xmlns:a16="http://schemas.microsoft.com/office/drawing/2014/main" id="{D05290E2-031F-905D-522D-9DAFDE68388E}"/>
              </a:ext>
            </a:extLst>
          </p:cNvPr>
          <p:cNvSpPr txBox="1"/>
          <p:nvPr/>
        </p:nvSpPr>
        <p:spPr>
          <a:xfrm>
            <a:off x="2922470" y="2817693"/>
            <a:ext cx="550598" cy="2585323"/>
          </a:xfrm>
          <a:prstGeom prst="rect">
            <a:avLst/>
          </a:prstGeom>
          <a:noFill/>
        </p:spPr>
        <p:txBody>
          <a:bodyPr wrap="square" rtlCol="0">
            <a:spAutoFit/>
          </a:bodyPr>
          <a:lstStyle/>
          <a:p>
            <a:r>
              <a:rPr lang="zh-CN" altLang="en-US" dirty="0">
                <a:solidFill>
                  <a:srgbClr val="1357AE"/>
                </a:solidFill>
                <a:latin typeface="+mn-ea"/>
              </a:rPr>
              <a:t>删</a:t>
            </a:r>
            <a:endParaRPr lang="en-US" altLang="zh-CN" dirty="0">
              <a:solidFill>
                <a:srgbClr val="1357AE"/>
              </a:solidFill>
              <a:latin typeface="+mn-ea"/>
            </a:endParaRPr>
          </a:p>
          <a:p>
            <a:r>
              <a:rPr lang="zh-CN" altLang="en-US" dirty="0">
                <a:solidFill>
                  <a:srgbClr val="1357AE"/>
                </a:solidFill>
                <a:latin typeface="+mn-ea"/>
              </a:rPr>
              <a:t>除</a:t>
            </a:r>
            <a:endParaRPr lang="en-US" altLang="zh-CN" dirty="0">
              <a:solidFill>
                <a:srgbClr val="1357AE"/>
              </a:solidFill>
              <a:latin typeface="+mn-ea"/>
            </a:endParaRPr>
          </a:p>
          <a:p>
            <a:r>
              <a:rPr lang="zh-CN" altLang="en-US" dirty="0">
                <a:solidFill>
                  <a:srgbClr val="1357AE"/>
                </a:solidFill>
                <a:latin typeface="+mn-ea"/>
              </a:rPr>
              <a:t>默</a:t>
            </a:r>
            <a:endParaRPr lang="en-US" altLang="zh-CN" dirty="0">
              <a:solidFill>
                <a:srgbClr val="1357AE"/>
              </a:solidFill>
              <a:latin typeface="+mn-ea"/>
            </a:endParaRPr>
          </a:p>
          <a:p>
            <a:r>
              <a:rPr lang="zh-CN" altLang="en-US" dirty="0">
                <a:solidFill>
                  <a:srgbClr val="1357AE"/>
                </a:solidFill>
                <a:latin typeface="+mn-ea"/>
              </a:rPr>
              <a:t>认</a:t>
            </a:r>
            <a:endParaRPr lang="en-US" altLang="zh-CN" dirty="0">
              <a:solidFill>
                <a:srgbClr val="1357AE"/>
              </a:solidFill>
              <a:latin typeface="+mn-ea"/>
            </a:endParaRPr>
          </a:p>
          <a:p>
            <a:r>
              <a:rPr lang="zh-CN" altLang="en-US" dirty="0">
                <a:solidFill>
                  <a:srgbClr val="1357AE"/>
                </a:solidFill>
                <a:latin typeface="+mn-ea"/>
              </a:rPr>
              <a:t>非</a:t>
            </a:r>
            <a:endParaRPr lang="en-US" altLang="zh-CN" dirty="0">
              <a:solidFill>
                <a:srgbClr val="1357AE"/>
              </a:solidFill>
              <a:latin typeface="+mn-ea"/>
            </a:endParaRPr>
          </a:p>
          <a:p>
            <a:r>
              <a:rPr lang="zh-CN" altLang="en-US" dirty="0">
                <a:solidFill>
                  <a:srgbClr val="1357AE"/>
                </a:solidFill>
                <a:latin typeface="+mn-ea"/>
              </a:rPr>
              <a:t>必</a:t>
            </a:r>
            <a:endParaRPr lang="en-US" altLang="zh-CN" dirty="0">
              <a:solidFill>
                <a:srgbClr val="1357AE"/>
              </a:solidFill>
              <a:latin typeface="+mn-ea"/>
            </a:endParaRPr>
          </a:p>
          <a:p>
            <a:r>
              <a:rPr lang="zh-CN" altLang="en-US" dirty="0">
                <a:solidFill>
                  <a:srgbClr val="1357AE"/>
                </a:solidFill>
                <a:latin typeface="+mn-ea"/>
              </a:rPr>
              <a:t>要</a:t>
            </a:r>
            <a:endParaRPr lang="en-US" altLang="zh-CN" dirty="0">
              <a:solidFill>
                <a:srgbClr val="1357AE"/>
              </a:solidFill>
              <a:latin typeface="+mn-ea"/>
            </a:endParaRPr>
          </a:p>
          <a:p>
            <a:r>
              <a:rPr lang="zh-CN" altLang="en-US" dirty="0">
                <a:solidFill>
                  <a:srgbClr val="1357AE"/>
                </a:solidFill>
                <a:latin typeface="+mn-ea"/>
              </a:rPr>
              <a:t>元</a:t>
            </a:r>
            <a:endParaRPr lang="en-US" altLang="zh-CN" dirty="0">
              <a:solidFill>
                <a:srgbClr val="1357AE"/>
              </a:solidFill>
              <a:latin typeface="+mn-ea"/>
            </a:endParaRPr>
          </a:p>
          <a:p>
            <a:r>
              <a:rPr lang="zh-CN" altLang="en-US" dirty="0">
                <a:solidFill>
                  <a:srgbClr val="1357AE"/>
                </a:solidFill>
                <a:latin typeface="+mn-ea"/>
              </a:rPr>
              <a:t>素</a:t>
            </a:r>
            <a:endParaRPr lang="en-US" altLang="zh-CN" dirty="0">
              <a:solidFill>
                <a:srgbClr val="1357AE"/>
              </a:solidFill>
              <a:latin typeface="+mn-ea"/>
            </a:endParaRPr>
          </a:p>
        </p:txBody>
      </p:sp>
      <p:cxnSp>
        <p:nvCxnSpPr>
          <p:cNvPr id="13" name="直接连接符 12">
            <a:extLst>
              <a:ext uri="{FF2B5EF4-FFF2-40B4-BE49-F238E27FC236}">
                <a16:creationId xmlns:a16="http://schemas.microsoft.com/office/drawing/2014/main" id="{26063F24-353E-A1BC-DA09-5B2EEF941EAC}"/>
              </a:ext>
            </a:extLst>
          </p:cNvPr>
          <p:cNvCxnSpPr>
            <a:cxnSpLocks/>
          </p:cNvCxnSpPr>
          <p:nvPr/>
        </p:nvCxnSpPr>
        <p:spPr>
          <a:xfrm flipV="1">
            <a:off x="2409902" y="2212598"/>
            <a:ext cx="784130" cy="1045507"/>
          </a:xfrm>
          <a:prstGeom prst="line">
            <a:avLst/>
          </a:prstGeom>
          <a:ln w="12700">
            <a:solidFill>
              <a:srgbClr val="1357AE"/>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842CC33B-E128-BCA7-7DFA-29C56935A638}"/>
              </a:ext>
            </a:extLst>
          </p:cNvPr>
          <p:cNvSpPr txBox="1"/>
          <p:nvPr/>
        </p:nvSpPr>
        <p:spPr>
          <a:xfrm>
            <a:off x="5254102" y="1845118"/>
            <a:ext cx="1146230" cy="1569660"/>
          </a:xfrm>
          <a:prstGeom prst="rect">
            <a:avLst/>
          </a:prstGeom>
          <a:noFill/>
        </p:spPr>
        <p:txBody>
          <a:bodyPr vert="horz" wrap="square" rtlCol="0">
            <a:spAutoFit/>
          </a:bodyPr>
          <a:lstStyle/>
          <a:p>
            <a:pPr lvl="1"/>
            <a:r>
              <a:rPr lang="en-US" altLang="zh-CN" sz="9600" dirty="0">
                <a:solidFill>
                  <a:srgbClr val="1357AE"/>
                </a:solidFill>
                <a:latin typeface="方正兰亭准黑_GBK" panose="02000000000000000000" pitchFamily="2" charset="-122"/>
                <a:ea typeface="方正兰亭准黑_GBK" panose="02000000000000000000" pitchFamily="2" charset="-122"/>
              </a:rPr>
              <a:t>2</a:t>
            </a:r>
            <a:endParaRPr lang="zh-CN" altLang="en-US" sz="9600" dirty="0">
              <a:solidFill>
                <a:srgbClr val="1357AE"/>
              </a:solidFill>
              <a:latin typeface="方正兰亭准黑_GBK" panose="02000000000000000000" pitchFamily="2" charset="-122"/>
              <a:ea typeface="方正兰亭准黑_GBK" panose="02000000000000000000" pitchFamily="2" charset="-122"/>
            </a:endParaRPr>
          </a:p>
        </p:txBody>
      </p:sp>
      <p:cxnSp>
        <p:nvCxnSpPr>
          <p:cNvPr id="17" name="直接连接符 16">
            <a:extLst>
              <a:ext uri="{FF2B5EF4-FFF2-40B4-BE49-F238E27FC236}">
                <a16:creationId xmlns:a16="http://schemas.microsoft.com/office/drawing/2014/main" id="{4AEF5CFC-2B78-B37D-9736-D3041B9CBE5B}"/>
              </a:ext>
            </a:extLst>
          </p:cNvPr>
          <p:cNvCxnSpPr>
            <a:cxnSpLocks/>
          </p:cNvCxnSpPr>
          <p:nvPr/>
        </p:nvCxnSpPr>
        <p:spPr>
          <a:xfrm flipV="1">
            <a:off x="5775068" y="2192754"/>
            <a:ext cx="784130" cy="1045507"/>
          </a:xfrm>
          <a:prstGeom prst="line">
            <a:avLst/>
          </a:prstGeom>
          <a:ln w="12700">
            <a:solidFill>
              <a:srgbClr val="1357AE"/>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28A7280-B2C6-8A41-9BB3-50A173BD0DFD}"/>
              </a:ext>
            </a:extLst>
          </p:cNvPr>
          <p:cNvSpPr txBox="1"/>
          <p:nvPr/>
        </p:nvSpPr>
        <p:spPr>
          <a:xfrm>
            <a:off x="8578275" y="1755800"/>
            <a:ext cx="1146230" cy="1569660"/>
          </a:xfrm>
          <a:prstGeom prst="rect">
            <a:avLst/>
          </a:prstGeom>
          <a:noFill/>
        </p:spPr>
        <p:txBody>
          <a:bodyPr vert="horz" wrap="square" rtlCol="0">
            <a:spAutoFit/>
          </a:bodyPr>
          <a:lstStyle/>
          <a:p>
            <a:pPr lvl="1"/>
            <a:r>
              <a:rPr lang="en-US" altLang="zh-CN" sz="9600" dirty="0">
                <a:solidFill>
                  <a:srgbClr val="1357AE"/>
                </a:solidFill>
                <a:latin typeface="方正兰亭准黑_GBK" panose="02000000000000000000" pitchFamily="2" charset="-122"/>
                <a:ea typeface="方正兰亭准黑_GBK" panose="02000000000000000000" pitchFamily="2" charset="-122"/>
              </a:rPr>
              <a:t>3</a:t>
            </a:r>
            <a:endParaRPr lang="zh-CN" altLang="en-US" sz="9600" dirty="0">
              <a:solidFill>
                <a:srgbClr val="1357AE"/>
              </a:solidFill>
              <a:latin typeface="方正兰亭准黑_GBK" panose="02000000000000000000" pitchFamily="2" charset="-122"/>
              <a:ea typeface="方正兰亭准黑_GBK" panose="02000000000000000000" pitchFamily="2" charset="-122"/>
            </a:endParaRPr>
          </a:p>
        </p:txBody>
      </p:sp>
      <p:cxnSp>
        <p:nvCxnSpPr>
          <p:cNvPr id="20" name="直接连接符 19">
            <a:extLst>
              <a:ext uri="{FF2B5EF4-FFF2-40B4-BE49-F238E27FC236}">
                <a16:creationId xmlns:a16="http://schemas.microsoft.com/office/drawing/2014/main" id="{B4ECD0B0-3A1F-A07F-2527-A1C0A66D0BFF}"/>
              </a:ext>
            </a:extLst>
          </p:cNvPr>
          <p:cNvCxnSpPr>
            <a:cxnSpLocks/>
          </p:cNvCxnSpPr>
          <p:nvPr/>
        </p:nvCxnSpPr>
        <p:spPr>
          <a:xfrm flipV="1">
            <a:off x="9082314" y="2115830"/>
            <a:ext cx="784130" cy="1045507"/>
          </a:xfrm>
          <a:prstGeom prst="line">
            <a:avLst/>
          </a:prstGeom>
          <a:ln w="12700">
            <a:solidFill>
              <a:srgbClr val="1357AE"/>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5629ECD8-CBCB-7BE5-9300-4DCC71C02696}"/>
              </a:ext>
            </a:extLst>
          </p:cNvPr>
          <p:cNvSpPr/>
          <p:nvPr/>
        </p:nvSpPr>
        <p:spPr>
          <a:xfrm rot="18420000">
            <a:off x="5616204" y="2432071"/>
            <a:ext cx="1990620" cy="897108"/>
          </a:xfrm>
          <a:prstGeom prst="rect">
            <a:avLst/>
          </a:prstGeom>
          <a:solidFill>
            <a:srgbClr val="F1F1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890FF0B3-9084-5653-3170-30937627C0A3}"/>
              </a:ext>
            </a:extLst>
          </p:cNvPr>
          <p:cNvSpPr/>
          <p:nvPr/>
        </p:nvSpPr>
        <p:spPr>
          <a:xfrm rot="18420000">
            <a:off x="8906739" y="2369140"/>
            <a:ext cx="1990620" cy="897108"/>
          </a:xfrm>
          <a:prstGeom prst="rect">
            <a:avLst/>
          </a:prstGeom>
          <a:solidFill>
            <a:srgbClr val="F1F1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255CE1C2-314E-940D-BF62-8601462CBDD3}"/>
              </a:ext>
            </a:extLst>
          </p:cNvPr>
          <p:cNvSpPr txBox="1"/>
          <p:nvPr/>
        </p:nvSpPr>
        <p:spPr>
          <a:xfrm>
            <a:off x="6549027" y="2817693"/>
            <a:ext cx="461665" cy="1477328"/>
          </a:xfrm>
          <a:prstGeom prst="rect">
            <a:avLst/>
          </a:prstGeom>
          <a:noFill/>
        </p:spPr>
        <p:txBody>
          <a:bodyPr vert="eaVert" wrap="none" rtlCol="0">
            <a:spAutoFit/>
          </a:bodyPr>
          <a:lstStyle/>
          <a:p>
            <a:r>
              <a:rPr lang="zh-CN" altLang="en-US" dirty="0">
                <a:solidFill>
                  <a:srgbClr val="1357AE"/>
                </a:solidFill>
                <a:latin typeface="+mn-ea"/>
              </a:rPr>
              <a:t>添加必要元素</a:t>
            </a:r>
          </a:p>
        </p:txBody>
      </p:sp>
      <p:sp>
        <p:nvSpPr>
          <p:cNvPr id="21" name="文本框 20">
            <a:extLst>
              <a:ext uri="{FF2B5EF4-FFF2-40B4-BE49-F238E27FC236}">
                <a16:creationId xmlns:a16="http://schemas.microsoft.com/office/drawing/2014/main" id="{B5305D0D-270D-C8B4-9ABE-A85743289E76}"/>
              </a:ext>
            </a:extLst>
          </p:cNvPr>
          <p:cNvSpPr txBox="1"/>
          <p:nvPr/>
        </p:nvSpPr>
        <p:spPr>
          <a:xfrm>
            <a:off x="9982322" y="2817693"/>
            <a:ext cx="492443" cy="1631216"/>
          </a:xfrm>
          <a:prstGeom prst="rect">
            <a:avLst/>
          </a:prstGeom>
          <a:noFill/>
        </p:spPr>
        <p:txBody>
          <a:bodyPr vert="eaVert" wrap="none" rtlCol="0">
            <a:spAutoFit/>
          </a:bodyPr>
          <a:lstStyle/>
          <a:p>
            <a:r>
              <a:rPr lang="zh-CN" altLang="en-US" sz="2000" dirty="0">
                <a:solidFill>
                  <a:srgbClr val="1357AE"/>
                </a:solidFill>
                <a:latin typeface="+mn-ea"/>
              </a:rPr>
              <a:t>修饰图表元素</a:t>
            </a:r>
          </a:p>
        </p:txBody>
      </p:sp>
    </p:spTree>
    <p:extLst>
      <p:ext uri="{BB962C8B-B14F-4D97-AF65-F5344CB8AC3E}">
        <p14:creationId xmlns:p14="http://schemas.microsoft.com/office/powerpoint/2010/main" val="381848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100"/>
                                        <p:tgtEl>
                                          <p:spTgt spid="13"/>
                                        </p:tgtEl>
                                      </p:cBhvr>
                                    </p:animEffect>
                                  </p:childTnLst>
                                </p:cTn>
                              </p:par>
                            </p:childTnLst>
                          </p:cTn>
                        </p:par>
                        <p:par>
                          <p:cTn id="8" fill="hold">
                            <p:stCondLst>
                              <p:cond delay="100"/>
                            </p:stCondLst>
                            <p:childTnLst>
                              <p:par>
                                <p:cTn id="9" presetID="42"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1000" fill="hold"/>
                                        <p:tgtEl>
                                          <p:spTgt spid="11"/>
                                        </p:tgtEl>
                                        <p:attrNameLst>
                                          <p:attrName>ppt_y</p:attrName>
                                        </p:attrNameLst>
                                      </p:cBhvr>
                                      <p:tavLst>
                                        <p:tav tm="0">
                                          <p:val>
                                            <p:strVal val="#ppt_y+.1"/>
                                          </p:val>
                                        </p:tav>
                                        <p:tav tm="100000">
                                          <p:val>
                                            <p:strVal val="#ppt_y"/>
                                          </p:val>
                                        </p:tav>
                                      </p:tavLst>
                                    </p:anim>
                                  </p:childTnLst>
                                </p:cTn>
                              </p:par>
                            </p:childTnLst>
                          </p:cTn>
                        </p:par>
                        <p:par>
                          <p:cTn id="14" fill="hold">
                            <p:stCondLst>
                              <p:cond delay="1100"/>
                            </p:stCondLst>
                            <p:childTnLst>
                              <p:par>
                                <p:cTn id="15" presetID="22" presetClass="entr" presetSubtype="4"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100"/>
                                        <p:tgtEl>
                                          <p:spTgt spid="17"/>
                                        </p:tgtEl>
                                      </p:cBhvr>
                                    </p:animEffect>
                                  </p:childTnLst>
                                </p:cTn>
                              </p:par>
                            </p:childTnLst>
                          </p:cTn>
                        </p:par>
                        <p:par>
                          <p:cTn id="18" fill="hold">
                            <p:stCondLst>
                              <p:cond delay="1200"/>
                            </p:stCondLst>
                            <p:childTnLst>
                              <p:par>
                                <p:cTn id="19" presetID="42"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par>
                          <p:cTn id="24" fill="hold">
                            <p:stCondLst>
                              <p:cond delay="22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18"/>
                                        </p:tgtEl>
                                        <p:attrNameLst>
                                          <p:attrName>ppt_y</p:attrName>
                                        </p:attrNameLst>
                                      </p:cBhvr>
                                      <p:tavLst>
                                        <p:tav tm="0">
                                          <p:val>
                                            <p:strVal val="#ppt_y"/>
                                          </p:val>
                                        </p:tav>
                                        <p:tav tm="100000">
                                          <p:val>
                                            <p:strVal val="#ppt_y"/>
                                          </p:val>
                                        </p:tav>
                                      </p:tavLst>
                                    </p:anim>
                                    <p:anim calcmode="lin" valueType="num">
                                      <p:cBhvr>
                                        <p:cTn id="29"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18"/>
                                        </p:tgtEl>
                                      </p:cBhvr>
                                    </p:animEffect>
                                  </p:childTnLst>
                                </p:cTn>
                              </p:par>
                            </p:childTnLst>
                          </p:cTn>
                        </p:par>
                        <p:par>
                          <p:cTn id="32" fill="hold">
                            <p:stCondLst>
                              <p:cond delay="2950"/>
                            </p:stCondLst>
                            <p:childTnLst>
                              <p:par>
                                <p:cTn id="33" presetID="2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down)">
                                      <p:cBhvr>
                                        <p:cTn id="35" dur="100"/>
                                        <p:tgtEl>
                                          <p:spTgt spid="20"/>
                                        </p:tgtEl>
                                      </p:cBhvr>
                                    </p:animEffect>
                                  </p:childTnLst>
                                </p:cTn>
                              </p:par>
                            </p:childTnLst>
                          </p:cTn>
                        </p:par>
                        <p:par>
                          <p:cTn id="36" fill="hold">
                            <p:stCondLst>
                              <p:cond delay="3050"/>
                            </p:stCondLst>
                            <p:childTnLst>
                              <p:par>
                                <p:cTn id="37" presetID="42" presetClass="entr" presetSubtype="0"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1000"/>
                                        <p:tgtEl>
                                          <p:spTgt spid="19"/>
                                        </p:tgtEl>
                                      </p:cBhvr>
                                    </p:animEffect>
                                    <p:anim calcmode="lin" valueType="num">
                                      <p:cBhvr>
                                        <p:cTn id="40" dur="1000" fill="hold"/>
                                        <p:tgtEl>
                                          <p:spTgt spid="19"/>
                                        </p:tgtEl>
                                        <p:attrNameLst>
                                          <p:attrName>ppt_x</p:attrName>
                                        </p:attrNameLst>
                                      </p:cBhvr>
                                      <p:tavLst>
                                        <p:tav tm="0">
                                          <p:val>
                                            <p:strVal val="#ppt_x"/>
                                          </p:val>
                                        </p:tav>
                                        <p:tav tm="100000">
                                          <p:val>
                                            <p:strVal val="#ppt_x"/>
                                          </p:val>
                                        </p:tav>
                                      </p:tavLst>
                                    </p:anim>
                                    <p:anim calcmode="lin" valueType="num">
                                      <p:cBhvr>
                                        <p:cTn id="41" dur="1000" fill="hold"/>
                                        <p:tgtEl>
                                          <p:spTgt spid="19"/>
                                        </p:tgtEl>
                                        <p:attrNameLst>
                                          <p:attrName>ppt_y</p:attrName>
                                        </p:attrNameLst>
                                      </p:cBhvr>
                                      <p:tavLst>
                                        <p:tav tm="0">
                                          <p:val>
                                            <p:strVal val="#ppt_y+.1"/>
                                          </p:val>
                                        </p:tav>
                                        <p:tav tm="100000">
                                          <p:val>
                                            <p:strVal val="#ppt_y"/>
                                          </p:val>
                                        </p:tav>
                                      </p:tavLst>
                                    </p:anim>
                                  </p:childTnLst>
                                </p:cTn>
                              </p:par>
                            </p:childTnLst>
                          </p:cTn>
                        </p:par>
                        <p:par>
                          <p:cTn id="42" fill="hold">
                            <p:stCondLst>
                              <p:cond delay="4050"/>
                            </p:stCondLst>
                            <p:childTnLst>
                              <p:par>
                                <p:cTn id="43" presetID="41" presetClass="entr" presetSubtype="0" fill="hold" grpId="0" nodeType="afterEffect">
                                  <p:stCondLst>
                                    <p:cond delay="0"/>
                                  </p:stCondLst>
                                  <p:iterate type="lt">
                                    <p:tmPct val="10000"/>
                                  </p:iterate>
                                  <p:childTnLst>
                                    <p:set>
                                      <p:cBhvr>
                                        <p:cTn id="44" dur="1" fill="hold">
                                          <p:stCondLst>
                                            <p:cond delay="0"/>
                                          </p:stCondLst>
                                        </p:cTn>
                                        <p:tgtEl>
                                          <p:spTgt spid="21"/>
                                        </p:tgtEl>
                                        <p:attrNameLst>
                                          <p:attrName>style.visibility</p:attrName>
                                        </p:attrNameLst>
                                      </p:cBhvr>
                                      <p:to>
                                        <p:strVal val="visible"/>
                                      </p:to>
                                    </p:set>
                                    <p:anim calcmode="lin" valueType="num">
                                      <p:cBhvr>
                                        <p:cTn id="45" dur="5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46" dur="500" fill="hold"/>
                                        <p:tgtEl>
                                          <p:spTgt spid="21"/>
                                        </p:tgtEl>
                                        <p:attrNameLst>
                                          <p:attrName>ppt_y</p:attrName>
                                        </p:attrNameLst>
                                      </p:cBhvr>
                                      <p:tavLst>
                                        <p:tav tm="0">
                                          <p:val>
                                            <p:strVal val="#ppt_y"/>
                                          </p:val>
                                        </p:tav>
                                        <p:tav tm="100000">
                                          <p:val>
                                            <p:strVal val="#ppt_y"/>
                                          </p:val>
                                        </p:tav>
                                      </p:tavLst>
                                    </p:anim>
                                    <p:anim calcmode="lin" valueType="num">
                                      <p:cBhvr>
                                        <p:cTn id="47" dur="5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48" dur="5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49" dur="500" tmFilter="0,0; .5, 1; 1, 1"/>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9" grpId="0"/>
      <p:bldP spid="18"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62502C5-850D-0337-417D-F0B1218DC3EB}"/>
              </a:ext>
            </a:extLst>
          </p:cNvPr>
          <p:cNvSpPr>
            <a:spLocks noGrp="1"/>
          </p:cNvSpPr>
          <p:nvPr>
            <p:ph type="body" sz="quarter" idx="12"/>
          </p:nvPr>
        </p:nvSpPr>
        <p:spPr/>
        <p:txBody>
          <a:bodyPr/>
          <a:lstStyle/>
          <a:p>
            <a:r>
              <a:rPr lang="zh-CN" altLang="en-US" dirty="0"/>
              <a:t>柱形条形图</a:t>
            </a:r>
            <a:r>
              <a:rPr lang="en-US" altLang="zh-CN" dirty="0"/>
              <a:t>/35</a:t>
            </a:r>
            <a:r>
              <a:rPr lang="zh-CN" altLang="en-US" dirty="0"/>
              <a:t>例</a:t>
            </a:r>
          </a:p>
        </p:txBody>
      </p:sp>
      <p:pic>
        <p:nvPicPr>
          <p:cNvPr id="3" name="图片 2">
            <a:extLst>
              <a:ext uri="{FF2B5EF4-FFF2-40B4-BE49-F238E27FC236}">
                <a16:creationId xmlns:a16="http://schemas.microsoft.com/office/drawing/2014/main" id="{3D3A902B-25CF-3F05-9708-E2C1517B53DA}"/>
              </a:ext>
            </a:extLst>
          </p:cNvPr>
          <p:cNvPicPr preferRelativeResize="0">
            <a:picLocks noChangeAspect="1"/>
          </p:cNvPicPr>
          <p:nvPr/>
        </p:nvPicPr>
        <p:blipFill>
          <a:blip r:embed="rId2">
            <a:extLst>
              <a:ext uri="{28A0092B-C50C-407E-A947-70E740481C1C}">
                <a14:useLocalDpi xmlns:a14="http://schemas.microsoft.com/office/drawing/2010/main" val="0"/>
              </a:ext>
            </a:extLst>
          </a:blip>
          <a:srcRect/>
          <a:stretch/>
        </p:blipFill>
        <p:spPr>
          <a:xfrm>
            <a:off x="2345193" y="1128878"/>
            <a:ext cx="1634400" cy="1224000"/>
          </a:xfrm>
          <a:prstGeom prst="roundRect">
            <a:avLst>
              <a:gd name="adj" fmla="val 4588"/>
            </a:avLst>
          </a:prstGeom>
          <a:ln w="3175">
            <a:solidFill>
              <a:schemeClr val="bg1">
                <a:lumMod val="85000"/>
                <a:alpha val="40000"/>
              </a:schemeClr>
            </a:solidFill>
          </a:ln>
        </p:spPr>
      </p:pic>
      <p:pic>
        <p:nvPicPr>
          <p:cNvPr id="4" name="图片 3">
            <a:extLst>
              <a:ext uri="{FF2B5EF4-FFF2-40B4-BE49-F238E27FC236}">
                <a16:creationId xmlns:a16="http://schemas.microsoft.com/office/drawing/2014/main" id="{56A4D634-1CF9-F4A6-BD46-51910ABF2630}"/>
              </a:ext>
            </a:extLst>
          </p:cNvPr>
          <p:cNvPicPr preferRelativeResize="0">
            <a:picLocks noChangeAspect="1"/>
          </p:cNvPicPr>
          <p:nvPr/>
        </p:nvPicPr>
        <p:blipFill>
          <a:blip r:embed="rId3">
            <a:extLst>
              <a:ext uri="{28A0092B-C50C-407E-A947-70E740481C1C}">
                <a14:useLocalDpi xmlns:a14="http://schemas.microsoft.com/office/drawing/2010/main" val="0"/>
              </a:ext>
            </a:extLst>
          </a:blip>
          <a:srcRect t="35" b="35"/>
          <a:stretch/>
        </p:blipFill>
        <p:spPr>
          <a:xfrm>
            <a:off x="4044969" y="1128878"/>
            <a:ext cx="1634400" cy="1224000"/>
          </a:xfrm>
          <a:prstGeom prst="roundRect">
            <a:avLst>
              <a:gd name="adj" fmla="val 4588"/>
            </a:avLst>
          </a:prstGeom>
          <a:ln w="3175">
            <a:solidFill>
              <a:schemeClr val="bg1">
                <a:lumMod val="85000"/>
                <a:alpha val="40000"/>
              </a:schemeClr>
            </a:solidFill>
          </a:ln>
        </p:spPr>
      </p:pic>
      <p:pic>
        <p:nvPicPr>
          <p:cNvPr id="5" name="图片 4">
            <a:extLst>
              <a:ext uri="{FF2B5EF4-FFF2-40B4-BE49-F238E27FC236}">
                <a16:creationId xmlns:a16="http://schemas.microsoft.com/office/drawing/2014/main" id="{F580DDF7-527C-BF51-5E07-64A6698B8726}"/>
              </a:ext>
            </a:extLst>
          </p:cNvPr>
          <p:cNvPicPr preferRelativeResize="0">
            <a:picLocks noChangeAspect="1"/>
          </p:cNvPicPr>
          <p:nvPr/>
        </p:nvPicPr>
        <p:blipFill>
          <a:blip r:embed="rId4">
            <a:extLst>
              <a:ext uri="{28A0092B-C50C-407E-A947-70E740481C1C}">
                <a14:useLocalDpi xmlns:a14="http://schemas.microsoft.com/office/drawing/2010/main" val="0"/>
              </a:ext>
            </a:extLst>
          </a:blip>
          <a:srcRect t="62" b="62"/>
          <a:stretch/>
        </p:blipFill>
        <p:spPr>
          <a:xfrm>
            <a:off x="5744745" y="1128878"/>
            <a:ext cx="1634400" cy="1224000"/>
          </a:xfrm>
          <a:prstGeom prst="roundRect">
            <a:avLst>
              <a:gd name="adj" fmla="val 4588"/>
            </a:avLst>
          </a:prstGeom>
          <a:ln w="3175">
            <a:solidFill>
              <a:schemeClr val="bg1">
                <a:lumMod val="85000"/>
                <a:alpha val="40000"/>
              </a:schemeClr>
            </a:solidFill>
          </a:ln>
        </p:spPr>
      </p:pic>
      <p:pic>
        <p:nvPicPr>
          <p:cNvPr id="6" name="图片 5">
            <a:extLst>
              <a:ext uri="{FF2B5EF4-FFF2-40B4-BE49-F238E27FC236}">
                <a16:creationId xmlns:a16="http://schemas.microsoft.com/office/drawing/2014/main" id="{32A523A4-AF9E-78FE-5015-E717F2667C3A}"/>
              </a:ext>
            </a:extLst>
          </p:cNvPr>
          <p:cNvPicPr preferRelativeResize="0">
            <a:picLocks noChangeAspect="1"/>
          </p:cNvPicPr>
          <p:nvPr/>
        </p:nvPicPr>
        <p:blipFill>
          <a:blip r:embed="rId5">
            <a:extLst>
              <a:ext uri="{28A0092B-C50C-407E-A947-70E740481C1C}">
                <a14:useLocalDpi xmlns:a14="http://schemas.microsoft.com/office/drawing/2010/main" val="0"/>
              </a:ext>
            </a:extLst>
          </a:blip>
          <a:srcRect l="27" r="27"/>
          <a:stretch/>
        </p:blipFill>
        <p:spPr>
          <a:xfrm>
            <a:off x="7444521" y="1128878"/>
            <a:ext cx="1634400" cy="1224000"/>
          </a:xfrm>
          <a:prstGeom prst="roundRect">
            <a:avLst>
              <a:gd name="adj" fmla="val 4588"/>
            </a:avLst>
          </a:prstGeom>
          <a:ln w="3175">
            <a:solidFill>
              <a:schemeClr val="bg1">
                <a:lumMod val="85000"/>
                <a:alpha val="40000"/>
              </a:schemeClr>
            </a:solidFill>
          </a:ln>
        </p:spPr>
      </p:pic>
      <p:pic>
        <p:nvPicPr>
          <p:cNvPr id="7" name="图片 6">
            <a:extLst>
              <a:ext uri="{FF2B5EF4-FFF2-40B4-BE49-F238E27FC236}">
                <a16:creationId xmlns:a16="http://schemas.microsoft.com/office/drawing/2014/main" id="{D4ED8AAE-B116-F24D-7B06-9915F9D189F3}"/>
              </a:ext>
            </a:extLst>
          </p:cNvPr>
          <p:cNvPicPr preferRelativeResize="0">
            <a:picLocks noChangeAspect="1"/>
          </p:cNvPicPr>
          <p:nvPr/>
        </p:nvPicPr>
        <p:blipFill>
          <a:blip r:embed="rId6">
            <a:extLst>
              <a:ext uri="{28A0092B-C50C-407E-A947-70E740481C1C}">
                <a14:useLocalDpi xmlns:a14="http://schemas.microsoft.com/office/drawing/2010/main" val="0"/>
              </a:ext>
            </a:extLst>
          </a:blip>
          <a:srcRect l="35" r="35"/>
          <a:stretch/>
        </p:blipFill>
        <p:spPr>
          <a:xfrm>
            <a:off x="9144297" y="1128878"/>
            <a:ext cx="1634400" cy="1224000"/>
          </a:xfrm>
          <a:prstGeom prst="roundRect">
            <a:avLst>
              <a:gd name="adj" fmla="val 4588"/>
            </a:avLst>
          </a:prstGeom>
          <a:ln w="3175">
            <a:solidFill>
              <a:schemeClr val="bg1">
                <a:lumMod val="85000"/>
                <a:alpha val="40000"/>
              </a:schemeClr>
            </a:solidFill>
          </a:ln>
        </p:spPr>
      </p:pic>
      <p:pic>
        <p:nvPicPr>
          <p:cNvPr id="8" name="图片 7">
            <a:extLst>
              <a:ext uri="{FF2B5EF4-FFF2-40B4-BE49-F238E27FC236}">
                <a16:creationId xmlns:a16="http://schemas.microsoft.com/office/drawing/2014/main" id="{74B84728-D4A9-CF1A-5775-D194C113972E}"/>
              </a:ext>
            </a:extLst>
          </p:cNvPr>
          <p:cNvPicPr preferRelativeResize="0">
            <a:picLocks noChangeAspect="1"/>
          </p:cNvPicPr>
          <p:nvPr/>
        </p:nvPicPr>
        <p:blipFill>
          <a:blip r:embed="rId7">
            <a:extLst>
              <a:ext uri="{28A0092B-C50C-407E-A947-70E740481C1C}">
                <a14:useLocalDpi xmlns:a14="http://schemas.microsoft.com/office/drawing/2010/main" val="0"/>
              </a:ext>
            </a:extLst>
          </a:blip>
          <a:srcRect t="35" b="35"/>
          <a:stretch/>
        </p:blipFill>
        <p:spPr>
          <a:xfrm>
            <a:off x="2345193" y="2401838"/>
            <a:ext cx="1634400" cy="1224000"/>
          </a:xfrm>
          <a:prstGeom prst="roundRect">
            <a:avLst>
              <a:gd name="adj" fmla="val 4588"/>
            </a:avLst>
          </a:prstGeom>
          <a:ln w="3175">
            <a:solidFill>
              <a:schemeClr val="bg1">
                <a:lumMod val="85000"/>
                <a:alpha val="40000"/>
              </a:schemeClr>
            </a:solidFill>
          </a:ln>
        </p:spPr>
      </p:pic>
      <p:pic>
        <p:nvPicPr>
          <p:cNvPr id="9" name="图片 8">
            <a:extLst>
              <a:ext uri="{FF2B5EF4-FFF2-40B4-BE49-F238E27FC236}">
                <a16:creationId xmlns:a16="http://schemas.microsoft.com/office/drawing/2014/main" id="{421AECD2-22BF-6571-BEEA-F093F9B2BEEA}"/>
              </a:ext>
            </a:extLst>
          </p:cNvPr>
          <p:cNvPicPr preferRelativeResize="0">
            <a:picLocks noChangeAspect="1"/>
          </p:cNvPicPr>
          <p:nvPr/>
        </p:nvPicPr>
        <p:blipFill>
          <a:blip r:embed="rId8">
            <a:extLst>
              <a:ext uri="{28A0092B-C50C-407E-A947-70E740481C1C}">
                <a14:useLocalDpi xmlns:a14="http://schemas.microsoft.com/office/drawing/2010/main" val="0"/>
              </a:ext>
            </a:extLst>
          </a:blip>
          <a:srcRect/>
          <a:stretch/>
        </p:blipFill>
        <p:spPr>
          <a:xfrm>
            <a:off x="4044969" y="2401838"/>
            <a:ext cx="1634400" cy="1224000"/>
          </a:xfrm>
          <a:prstGeom prst="roundRect">
            <a:avLst>
              <a:gd name="adj" fmla="val 4588"/>
            </a:avLst>
          </a:prstGeom>
          <a:ln w="3175">
            <a:solidFill>
              <a:schemeClr val="bg1">
                <a:lumMod val="85000"/>
                <a:alpha val="40000"/>
              </a:schemeClr>
            </a:solidFill>
          </a:ln>
        </p:spPr>
      </p:pic>
      <p:pic>
        <p:nvPicPr>
          <p:cNvPr id="10" name="图片 9">
            <a:extLst>
              <a:ext uri="{FF2B5EF4-FFF2-40B4-BE49-F238E27FC236}">
                <a16:creationId xmlns:a16="http://schemas.microsoft.com/office/drawing/2014/main" id="{63BD0C99-272B-35B9-24B1-1FC73C362C44}"/>
              </a:ext>
            </a:extLst>
          </p:cNvPr>
          <p:cNvPicPr preferRelativeResize="0">
            <a:picLocks noChangeAspect="1"/>
          </p:cNvPicPr>
          <p:nvPr/>
        </p:nvPicPr>
        <p:blipFill>
          <a:blip r:embed="rId9">
            <a:extLst>
              <a:ext uri="{28A0092B-C50C-407E-A947-70E740481C1C}">
                <a14:useLocalDpi xmlns:a14="http://schemas.microsoft.com/office/drawing/2010/main" val="0"/>
              </a:ext>
            </a:extLst>
          </a:blip>
          <a:srcRect/>
          <a:stretch/>
        </p:blipFill>
        <p:spPr>
          <a:xfrm>
            <a:off x="5744745" y="2401838"/>
            <a:ext cx="1634400" cy="1224000"/>
          </a:xfrm>
          <a:prstGeom prst="roundRect">
            <a:avLst>
              <a:gd name="adj" fmla="val 4588"/>
            </a:avLst>
          </a:prstGeom>
          <a:ln w="3175">
            <a:solidFill>
              <a:schemeClr val="bg1">
                <a:lumMod val="85000"/>
                <a:alpha val="40000"/>
              </a:schemeClr>
            </a:solidFill>
          </a:ln>
        </p:spPr>
      </p:pic>
      <p:pic>
        <p:nvPicPr>
          <p:cNvPr id="11" name="图片 10">
            <a:extLst>
              <a:ext uri="{FF2B5EF4-FFF2-40B4-BE49-F238E27FC236}">
                <a16:creationId xmlns:a16="http://schemas.microsoft.com/office/drawing/2014/main" id="{754B11E5-C727-B880-AC34-D34DE0539BA6}"/>
              </a:ext>
            </a:extLst>
          </p:cNvPr>
          <p:cNvPicPr preferRelativeResize="0">
            <a:picLocks noChangeAspect="1"/>
          </p:cNvPicPr>
          <p:nvPr/>
        </p:nvPicPr>
        <p:blipFill>
          <a:blip r:embed="rId10">
            <a:extLst>
              <a:ext uri="{28A0092B-C50C-407E-A947-70E740481C1C}">
                <a14:useLocalDpi xmlns:a14="http://schemas.microsoft.com/office/drawing/2010/main" val="0"/>
              </a:ext>
            </a:extLst>
          </a:blip>
          <a:srcRect/>
          <a:stretch/>
        </p:blipFill>
        <p:spPr>
          <a:xfrm>
            <a:off x="7444521" y="2401838"/>
            <a:ext cx="1634400" cy="1224000"/>
          </a:xfrm>
          <a:prstGeom prst="roundRect">
            <a:avLst>
              <a:gd name="adj" fmla="val 4588"/>
            </a:avLst>
          </a:prstGeom>
          <a:ln w="3175">
            <a:solidFill>
              <a:schemeClr val="bg1">
                <a:lumMod val="85000"/>
                <a:alpha val="40000"/>
              </a:schemeClr>
            </a:solidFill>
          </a:ln>
        </p:spPr>
      </p:pic>
      <p:pic>
        <p:nvPicPr>
          <p:cNvPr id="12" name="图片 11">
            <a:extLst>
              <a:ext uri="{FF2B5EF4-FFF2-40B4-BE49-F238E27FC236}">
                <a16:creationId xmlns:a16="http://schemas.microsoft.com/office/drawing/2014/main" id="{CF0F3100-DE63-256C-97FD-587D5E90445B}"/>
              </a:ext>
            </a:extLst>
          </p:cNvPr>
          <p:cNvPicPr preferRelativeResize="0">
            <a:picLocks noChangeAspect="1"/>
          </p:cNvPicPr>
          <p:nvPr/>
        </p:nvPicPr>
        <p:blipFill>
          <a:blip r:embed="rId11">
            <a:extLst>
              <a:ext uri="{28A0092B-C50C-407E-A947-70E740481C1C}">
                <a14:useLocalDpi xmlns:a14="http://schemas.microsoft.com/office/drawing/2010/main" val="0"/>
              </a:ext>
            </a:extLst>
          </a:blip>
          <a:srcRect t="27" b="27"/>
          <a:stretch/>
        </p:blipFill>
        <p:spPr>
          <a:xfrm>
            <a:off x="9144297" y="2401838"/>
            <a:ext cx="1634400" cy="1224000"/>
          </a:xfrm>
          <a:prstGeom prst="roundRect">
            <a:avLst>
              <a:gd name="adj" fmla="val 4588"/>
            </a:avLst>
          </a:prstGeom>
          <a:ln w="3175">
            <a:solidFill>
              <a:schemeClr val="bg1">
                <a:lumMod val="85000"/>
                <a:alpha val="40000"/>
              </a:schemeClr>
            </a:solidFill>
          </a:ln>
        </p:spPr>
      </p:pic>
      <p:pic>
        <p:nvPicPr>
          <p:cNvPr id="13" name="图片 12">
            <a:extLst>
              <a:ext uri="{FF2B5EF4-FFF2-40B4-BE49-F238E27FC236}">
                <a16:creationId xmlns:a16="http://schemas.microsoft.com/office/drawing/2014/main" id="{541F73C8-B624-C68D-6155-3FFE8B93D23C}"/>
              </a:ext>
            </a:extLst>
          </p:cNvPr>
          <p:cNvPicPr preferRelativeResize="0">
            <a:picLocks noChangeAspect="1"/>
          </p:cNvPicPr>
          <p:nvPr/>
        </p:nvPicPr>
        <p:blipFill>
          <a:blip r:embed="rId12">
            <a:extLst>
              <a:ext uri="{28A0092B-C50C-407E-A947-70E740481C1C}">
                <a14:useLocalDpi xmlns:a14="http://schemas.microsoft.com/office/drawing/2010/main" val="0"/>
              </a:ext>
            </a:extLst>
          </a:blip>
          <a:srcRect/>
          <a:stretch/>
        </p:blipFill>
        <p:spPr>
          <a:xfrm>
            <a:off x="2345193" y="3674798"/>
            <a:ext cx="1634400" cy="1224000"/>
          </a:xfrm>
          <a:prstGeom prst="roundRect">
            <a:avLst>
              <a:gd name="adj" fmla="val 4588"/>
            </a:avLst>
          </a:prstGeom>
          <a:ln w="3175">
            <a:solidFill>
              <a:schemeClr val="bg1">
                <a:lumMod val="85000"/>
                <a:alpha val="40000"/>
              </a:schemeClr>
            </a:solidFill>
          </a:ln>
        </p:spPr>
      </p:pic>
      <p:pic>
        <p:nvPicPr>
          <p:cNvPr id="14" name="图片 13">
            <a:extLst>
              <a:ext uri="{FF2B5EF4-FFF2-40B4-BE49-F238E27FC236}">
                <a16:creationId xmlns:a16="http://schemas.microsoft.com/office/drawing/2014/main" id="{CE26C12A-3055-2D55-357B-D68D52306EFC}"/>
              </a:ext>
            </a:extLst>
          </p:cNvPr>
          <p:cNvPicPr preferRelativeResize="0">
            <a:picLocks noChangeAspect="1"/>
          </p:cNvPicPr>
          <p:nvPr/>
        </p:nvPicPr>
        <p:blipFill>
          <a:blip r:embed="rId13">
            <a:extLst>
              <a:ext uri="{28A0092B-C50C-407E-A947-70E740481C1C}">
                <a14:useLocalDpi xmlns:a14="http://schemas.microsoft.com/office/drawing/2010/main" val="0"/>
              </a:ext>
            </a:extLst>
          </a:blip>
          <a:srcRect t="35" b="35"/>
          <a:stretch/>
        </p:blipFill>
        <p:spPr>
          <a:xfrm>
            <a:off x="4044969" y="3674798"/>
            <a:ext cx="1634400" cy="1224000"/>
          </a:xfrm>
          <a:prstGeom prst="roundRect">
            <a:avLst>
              <a:gd name="adj" fmla="val 4588"/>
            </a:avLst>
          </a:prstGeom>
          <a:ln w="3175">
            <a:solidFill>
              <a:schemeClr val="bg1">
                <a:lumMod val="85000"/>
                <a:alpha val="40000"/>
              </a:schemeClr>
            </a:solidFill>
          </a:ln>
        </p:spPr>
      </p:pic>
      <p:pic>
        <p:nvPicPr>
          <p:cNvPr id="15" name="图片 14">
            <a:extLst>
              <a:ext uri="{FF2B5EF4-FFF2-40B4-BE49-F238E27FC236}">
                <a16:creationId xmlns:a16="http://schemas.microsoft.com/office/drawing/2014/main" id="{72D9420C-334A-C7A5-84E2-A7FE494FB48F}"/>
              </a:ext>
            </a:extLst>
          </p:cNvPr>
          <p:cNvPicPr preferRelativeResize="0">
            <a:picLocks noChangeAspect="1"/>
          </p:cNvPicPr>
          <p:nvPr/>
        </p:nvPicPr>
        <p:blipFill>
          <a:blip r:embed="rId14">
            <a:extLst>
              <a:ext uri="{28A0092B-C50C-407E-A947-70E740481C1C}">
                <a14:useLocalDpi xmlns:a14="http://schemas.microsoft.com/office/drawing/2010/main" val="0"/>
              </a:ext>
            </a:extLst>
          </a:blip>
          <a:srcRect t="27" b="27"/>
          <a:stretch/>
        </p:blipFill>
        <p:spPr>
          <a:xfrm>
            <a:off x="5744745" y="3674798"/>
            <a:ext cx="1634400" cy="1224000"/>
          </a:xfrm>
          <a:prstGeom prst="roundRect">
            <a:avLst>
              <a:gd name="adj" fmla="val 4588"/>
            </a:avLst>
          </a:prstGeom>
          <a:ln w="3175">
            <a:solidFill>
              <a:schemeClr val="bg1">
                <a:lumMod val="85000"/>
                <a:alpha val="40000"/>
              </a:schemeClr>
            </a:solidFill>
          </a:ln>
        </p:spPr>
      </p:pic>
      <p:pic>
        <p:nvPicPr>
          <p:cNvPr id="16" name="图片 15">
            <a:extLst>
              <a:ext uri="{FF2B5EF4-FFF2-40B4-BE49-F238E27FC236}">
                <a16:creationId xmlns:a16="http://schemas.microsoft.com/office/drawing/2014/main" id="{3E6FDD30-79E9-68C0-C798-B306072D3FE0}"/>
              </a:ext>
            </a:extLst>
          </p:cNvPr>
          <p:cNvPicPr preferRelativeResize="0">
            <a:picLocks noChangeAspect="1"/>
          </p:cNvPicPr>
          <p:nvPr/>
        </p:nvPicPr>
        <p:blipFill>
          <a:blip r:embed="rId15">
            <a:extLst>
              <a:ext uri="{28A0092B-C50C-407E-A947-70E740481C1C}">
                <a14:useLocalDpi xmlns:a14="http://schemas.microsoft.com/office/drawing/2010/main" val="0"/>
              </a:ext>
            </a:extLst>
          </a:blip>
          <a:srcRect/>
          <a:stretch/>
        </p:blipFill>
        <p:spPr>
          <a:xfrm>
            <a:off x="7444521" y="3674798"/>
            <a:ext cx="1634400" cy="1224000"/>
          </a:xfrm>
          <a:prstGeom prst="roundRect">
            <a:avLst>
              <a:gd name="adj" fmla="val 4588"/>
            </a:avLst>
          </a:prstGeom>
          <a:ln w="3175">
            <a:solidFill>
              <a:schemeClr val="bg1">
                <a:lumMod val="85000"/>
                <a:alpha val="40000"/>
              </a:schemeClr>
            </a:solidFill>
          </a:ln>
        </p:spPr>
      </p:pic>
      <p:pic>
        <p:nvPicPr>
          <p:cNvPr id="17" name="图片 16">
            <a:extLst>
              <a:ext uri="{FF2B5EF4-FFF2-40B4-BE49-F238E27FC236}">
                <a16:creationId xmlns:a16="http://schemas.microsoft.com/office/drawing/2014/main" id="{DCB74AA2-DDA5-CBC5-412E-53CA3952DD82}"/>
              </a:ext>
            </a:extLst>
          </p:cNvPr>
          <p:cNvPicPr preferRelativeResize="0">
            <a:picLocks noChangeAspect="1"/>
          </p:cNvPicPr>
          <p:nvPr/>
        </p:nvPicPr>
        <p:blipFill>
          <a:blip r:embed="rId16">
            <a:extLst>
              <a:ext uri="{28A0092B-C50C-407E-A947-70E740481C1C}">
                <a14:useLocalDpi xmlns:a14="http://schemas.microsoft.com/office/drawing/2010/main" val="0"/>
              </a:ext>
            </a:extLst>
          </a:blip>
          <a:srcRect t="27" b="27"/>
          <a:stretch/>
        </p:blipFill>
        <p:spPr>
          <a:xfrm>
            <a:off x="9144297" y="3674798"/>
            <a:ext cx="1634400" cy="1224000"/>
          </a:xfrm>
          <a:prstGeom prst="roundRect">
            <a:avLst>
              <a:gd name="adj" fmla="val 4588"/>
            </a:avLst>
          </a:prstGeom>
          <a:ln w="3175">
            <a:solidFill>
              <a:schemeClr val="bg1">
                <a:lumMod val="85000"/>
                <a:alpha val="40000"/>
              </a:schemeClr>
            </a:solidFill>
          </a:ln>
        </p:spPr>
      </p:pic>
      <p:pic>
        <p:nvPicPr>
          <p:cNvPr id="18" name="图片 17">
            <a:extLst>
              <a:ext uri="{FF2B5EF4-FFF2-40B4-BE49-F238E27FC236}">
                <a16:creationId xmlns:a16="http://schemas.microsoft.com/office/drawing/2014/main" id="{736516FC-041A-37D0-18C9-509FFA62D1ED}"/>
              </a:ext>
            </a:extLst>
          </p:cNvPr>
          <p:cNvPicPr preferRelativeResize="0">
            <a:picLocks noChangeAspect="1"/>
          </p:cNvPicPr>
          <p:nvPr/>
        </p:nvPicPr>
        <p:blipFill>
          <a:blip r:embed="rId17">
            <a:extLst>
              <a:ext uri="{28A0092B-C50C-407E-A947-70E740481C1C}">
                <a14:useLocalDpi xmlns:a14="http://schemas.microsoft.com/office/drawing/2010/main" val="0"/>
              </a:ext>
            </a:extLst>
          </a:blip>
          <a:srcRect t="35" b="35"/>
          <a:stretch/>
        </p:blipFill>
        <p:spPr>
          <a:xfrm>
            <a:off x="2345193" y="4947758"/>
            <a:ext cx="1634400" cy="1224000"/>
          </a:xfrm>
          <a:prstGeom prst="roundRect">
            <a:avLst>
              <a:gd name="adj" fmla="val 4588"/>
            </a:avLst>
          </a:prstGeom>
          <a:ln w="3175">
            <a:solidFill>
              <a:schemeClr val="bg1">
                <a:lumMod val="85000"/>
                <a:alpha val="40000"/>
              </a:schemeClr>
            </a:solidFill>
          </a:ln>
        </p:spPr>
      </p:pic>
      <p:pic>
        <p:nvPicPr>
          <p:cNvPr id="19" name="图片 18" descr="图形用户界面&#10;&#10;低可信度描述已自动生成">
            <a:extLst>
              <a:ext uri="{FF2B5EF4-FFF2-40B4-BE49-F238E27FC236}">
                <a16:creationId xmlns:a16="http://schemas.microsoft.com/office/drawing/2014/main" id="{ACB43DA9-047C-D730-E65A-AAF7FC7A7E09}"/>
              </a:ext>
            </a:extLst>
          </p:cNvPr>
          <p:cNvPicPr preferRelativeResize="0">
            <a:picLocks noChangeAspect="1"/>
          </p:cNvPicPr>
          <p:nvPr/>
        </p:nvPicPr>
        <p:blipFill>
          <a:blip r:embed="rId18">
            <a:extLst>
              <a:ext uri="{28A0092B-C50C-407E-A947-70E740481C1C}">
                <a14:useLocalDpi xmlns:a14="http://schemas.microsoft.com/office/drawing/2010/main" val="0"/>
              </a:ext>
            </a:extLst>
          </a:blip>
          <a:stretch>
            <a:fillRect/>
          </a:stretch>
        </p:blipFill>
        <p:spPr>
          <a:xfrm>
            <a:off x="4044969" y="4947758"/>
            <a:ext cx="1634400" cy="1224000"/>
          </a:xfrm>
          <a:prstGeom prst="roundRect">
            <a:avLst>
              <a:gd name="adj" fmla="val 4588"/>
            </a:avLst>
          </a:prstGeom>
          <a:ln w="3175">
            <a:solidFill>
              <a:schemeClr val="bg1">
                <a:lumMod val="85000"/>
                <a:alpha val="40000"/>
              </a:schemeClr>
            </a:solidFill>
          </a:ln>
        </p:spPr>
      </p:pic>
      <p:pic>
        <p:nvPicPr>
          <p:cNvPr id="20" name="图片 19" descr="图表, 条形图&#10;&#10;描述已自动生成">
            <a:extLst>
              <a:ext uri="{FF2B5EF4-FFF2-40B4-BE49-F238E27FC236}">
                <a16:creationId xmlns:a16="http://schemas.microsoft.com/office/drawing/2014/main" id="{ABC964F8-BAE6-AE41-18F2-1F143685AD7E}"/>
              </a:ext>
            </a:extLst>
          </p:cNvPr>
          <p:cNvPicPr preferRelativeResize="0">
            <a:picLocks noChangeAspect="1"/>
          </p:cNvPicPr>
          <p:nvPr/>
        </p:nvPicPr>
        <p:blipFill>
          <a:blip r:embed="rId19">
            <a:extLst>
              <a:ext uri="{28A0092B-C50C-407E-A947-70E740481C1C}">
                <a14:useLocalDpi xmlns:a14="http://schemas.microsoft.com/office/drawing/2010/main" val="0"/>
              </a:ext>
            </a:extLst>
          </a:blip>
          <a:stretch>
            <a:fillRect/>
          </a:stretch>
        </p:blipFill>
        <p:spPr>
          <a:xfrm>
            <a:off x="5744745" y="4947758"/>
            <a:ext cx="1634400" cy="1224000"/>
          </a:xfrm>
          <a:prstGeom prst="roundRect">
            <a:avLst>
              <a:gd name="adj" fmla="val 4588"/>
            </a:avLst>
          </a:prstGeom>
          <a:ln w="3175">
            <a:solidFill>
              <a:schemeClr val="bg1">
                <a:lumMod val="85000"/>
                <a:alpha val="40000"/>
              </a:schemeClr>
            </a:solidFill>
          </a:ln>
        </p:spPr>
      </p:pic>
      <p:pic>
        <p:nvPicPr>
          <p:cNvPr id="21" name="图片 20" descr="图表, 条形图&#10;&#10;描述已自动生成">
            <a:extLst>
              <a:ext uri="{FF2B5EF4-FFF2-40B4-BE49-F238E27FC236}">
                <a16:creationId xmlns:a16="http://schemas.microsoft.com/office/drawing/2014/main" id="{6C024579-C0BD-1C94-DE0F-32EABF674D05}"/>
              </a:ext>
            </a:extLst>
          </p:cNvPr>
          <p:cNvPicPr preferRelativeResize="0">
            <a:picLocks noChangeAspect="1"/>
          </p:cNvPicPr>
          <p:nvPr/>
        </p:nvPicPr>
        <p:blipFill>
          <a:blip r:embed="rId20">
            <a:extLst>
              <a:ext uri="{28A0092B-C50C-407E-A947-70E740481C1C}">
                <a14:useLocalDpi xmlns:a14="http://schemas.microsoft.com/office/drawing/2010/main" val="0"/>
              </a:ext>
            </a:extLst>
          </a:blip>
          <a:stretch>
            <a:fillRect/>
          </a:stretch>
        </p:blipFill>
        <p:spPr>
          <a:xfrm>
            <a:off x="7444521" y="4947758"/>
            <a:ext cx="1634400" cy="1224000"/>
          </a:xfrm>
          <a:prstGeom prst="roundRect">
            <a:avLst>
              <a:gd name="adj" fmla="val 4588"/>
            </a:avLst>
          </a:prstGeom>
          <a:ln w="3175">
            <a:solidFill>
              <a:schemeClr val="bg1">
                <a:lumMod val="85000"/>
                <a:alpha val="40000"/>
              </a:schemeClr>
            </a:solidFill>
          </a:ln>
        </p:spPr>
      </p:pic>
      <p:pic>
        <p:nvPicPr>
          <p:cNvPr id="23" name="图片 22" descr="图表&#10;&#10;描述已自动生成">
            <a:extLst>
              <a:ext uri="{FF2B5EF4-FFF2-40B4-BE49-F238E27FC236}">
                <a16:creationId xmlns:a16="http://schemas.microsoft.com/office/drawing/2014/main" id="{8F4409CB-D9AF-3A5A-5E28-421349340841}"/>
              </a:ext>
            </a:extLst>
          </p:cNvPr>
          <p:cNvPicPr preferRelativeResize="0">
            <a:picLocks noChangeAspect="1"/>
          </p:cNvPicPr>
          <p:nvPr/>
        </p:nvPicPr>
        <p:blipFill>
          <a:blip r:embed="rId21">
            <a:extLst>
              <a:ext uri="{28A0092B-C50C-407E-A947-70E740481C1C}">
                <a14:useLocalDpi xmlns:a14="http://schemas.microsoft.com/office/drawing/2010/main" val="0"/>
              </a:ext>
            </a:extLst>
          </a:blip>
          <a:stretch>
            <a:fillRect/>
          </a:stretch>
        </p:blipFill>
        <p:spPr>
          <a:xfrm>
            <a:off x="9144297" y="4947758"/>
            <a:ext cx="1634400" cy="1224000"/>
          </a:xfrm>
          <a:prstGeom prst="roundRect">
            <a:avLst>
              <a:gd name="adj" fmla="val 4588"/>
            </a:avLst>
          </a:prstGeom>
          <a:ln w="3175">
            <a:solidFill>
              <a:schemeClr val="bg1">
                <a:lumMod val="85000"/>
                <a:alpha val="40000"/>
              </a:schemeClr>
            </a:solidFill>
          </a:ln>
        </p:spPr>
      </p:pic>
    </p:spTree>
    <p:extLst>
      <p:ext uri="{BB962C8B-B14F-4D97-AF65-F5344CB8AC3E}">
        <p14:creationId xmlns:p14="http://schemas.microsoft.com/office/powerpoint/2010/main" val="343786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F86F29C-846A-31E5-7336-2D6A73FED12E}"/>
              </a:ext>
            </a:extLst>
          </p:cNvPr>
          <p:cNvSpPr>
            <a:spLocks noGrp="1"/>
          </p:cNvSpPr>
          <p:nvPr>
            <p:ph type="body" sz="quarter" idx="12"/>
          </p:nvPr>
        </p:nvSpPr>
        <p:spPr/>
        <p:txBody>
          <a:bodyPr/>
          <a:lstStyle/>
          <a:p>
            <a:r>
              <a:rPr lang="zh-CN" altLang="en-US" dirty="0"/>
              <a:t>柱形图</a:t>
            </a:r>
            <a:r>
              <a:rPr lang="en-US" altLang="zh-CN" dirty="0"/>
              <a:t>/</a:t>
            </a:r>
            <a:r>
              <a:rPr lang="zh-CN" altLang="en-US" dirty="0"/>
              <a:t>条形图一般修饰方式</a:t>
            </a:r>
          </a:p>
        </p:txBody>
      </p:sp>
      <p:sp>
        <p:nvSpPr>
          <p:cNvPr id="9" name="箭头: 右 8">
            <a:extLst>
              <a:ext uri="{FF2B5EF4-FFF2-40B4-BE49-F238E27FC236}">
                <a16:creationId xmlns:a16="http://schemas.microsoft.com/office/drawing/2014/main" id="{232C76FE-1946-E097-FDA3-1746B131778E}"/>
              </a:ext>
            </a:extLst>
          </p:cNvPr>
          <p:cNvSpPr/>
          <p:nvPr/>
        </p:nvSpPr>
        <p:spPr>
          <a:xfrm>
            <a:off x="6421325" y="4779620"/>
            <a:ext cx="585761" cy="3433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1FC84778-A5EF-357F-9751-2A8948D0A94E}"/>
              </a:ext>
            </a:extLst>
          </p:cNvPr>
          <p:cNvSpPr txBox="1"/>
          <p:nvPr/>
        </p:nvSpPr>
        <p:spPr>
          <a:xfrm>
            <a:off x="1893569" y="942172"/>
            <a:ext cx="2310683" cy="2024208"/>
          </a:xfrm>
          <a:prstGeom prst="rect">
            <a:avLst/>
          </a:prstGeom>
          <a:noFill/>
        </p:spPr>
        <p:txBody>
          <a:bodyPr wrap="square" rtlCol="0">
            <a:spAutoFit/>
          </a:bodyPr>
          <a:lstStyle/>
          <a:p>
            <a:pPr>
              <a:lnSpc>
                <a:spcPct val="150000"/>
              </a:lnSpc>
            </a:pPr>
            <a:r>
              <a:rPr lang="zh-CN" altLang="en-US" sz="1600" b="1" dirty="0">
                <a:solidFill>
                  <a:schemeClr val="accent1"/>
                </a:solidFill>
                <a:latin typeface="+mn-ea"/>
              </a:rPr>
              <a:t>一 删除非必要元素  </a:t>
            </a:r>
            <a:endParaRPr lang="en-US" altLang="zh-CN" sz="1600" b="1" dirty="0">
              <a:solidFill>
                <a:schemeClr val="accent1"/>
              </a:solidFill>
              <a:latin typeface="+mn-ea"/>
            </a:endParaRPr>
          </a:p>
          <a:p>
            <a:pPr>
              <a:lnSpc>
                <a:spcPct val="150000"/>
              </a:lnSpc>
            </a:pPr>
            <a:r>
              <a:rPr lang="zh-CN" altLang="en-US" sz="1400" dirty="0">
                <a:latin typeface="+mn-ea"/>
              </a:rPr>
              <a:t>默认标题</a:t>
            </a:r>
            <a:endParaRPr lang="en-US" altLang="zh-CN" sz="1400" dirty="0">
              <a:latin typeface="+mn-ea"/>
            </a:endParaRPr>
          </a:p>
          <a:p>
            <a:pPr>
              <a:lnSpc>
                <a:spcPct val="150000"/>
              </a:lnSpc>
            </a:pPr>
            <a:r>
              <a:rPr lang="zh-CN" altLang="en-US" sz="1100" dirty="0">
                <a:latin typeface="+mn-ea"/>
              </a:rPr>
              <a:t>一般去掉默认标题，在第二部通过文本框增加一二级标题，有一些图表也需要去掉不必要的图例和横线，纵坐标轴</a:t>
            </a:r>
            <a:r>
              <a:rPr lang="en-US" altLang="zh-CN" sz="1100" dirty="0">
                <a:latin typeface="+mn-ea"/>
              </a:rPr>
              <a:t>(</a:t>
            </a:r>
            <a:r>
              <a:rPr lang="zh-CN" altLang="en-US" sz="1100" dirty="0">
                <a:latin typeface="+mn-ea"/>
              </a:rPr>
              <a:t>有时需要在修饰图表后再去掉</a:t>
            </a:r>
            <a:r>
              <a:rPr lang="en-US" altLang="zh-CN" sz="1100" dirty="0">
                <a:latin typeface="+mn-ea"/>
              </a:rPr>
              <a:t>)</a:t>
            </a:r>
            <a:endParaRPr lang="zh-CN" altLang="en-US" sz="1400" dirty="0"/>
          </a:p>
        </p:txBody>
      </p:sp>
      <p:sp>
        <p:nvSpPr>
          <p:cNvPr id="7" name="文本框 6">
            <a:extLst>
              <a:ext uri="{FF2B5EF4-FFF2-40B4-BE49-F238E27FC236}">
                <a16:creationId xmlns:a16="http://schemas.microsoft.com/office/drawing/2014/main" id="{898238CB-4F25-7FC2-A1EA-D595D3240498}"/>
              </a:ext>
            </a:extLst>
          </p:cNvPr>
          <p:cNvSpPr txBox="1"/>
          <p:nvPr/>
        </p:nvSpPr>
        <p:spPr>
          <a:xfrm>
            <a:off x="4518577" y="942172"/>
            <a:ext cx="3020254" cy="1816779"/>
          </a:xfrm>
          <a:prstGeom prst="rect">
            <a:avLst/>
          </a:prstGeom>
          <a:noFill/>
        </p:spPr>
        <p:txBody>
          <a:bodyPr wrap="square">
            <a:spAutoFit/>
          </a:bodyPr>
          <a:lstStyle/>
          <a:p>
            <a:pPr>
              <a:lnSpc>
                <a:spcPct val="150000"/>
              </a:lnSpc>
            </a:pPr>
            <a:r>
              <a:rPr lang="zh-CN" altLang="en-US" sz="1800" b="1" dirty="0">
                <a:solidFill>
                  <a:schemeClr val="accent1"/>
                </a:solidFill>
                <a:latin typeface="+mn-ea"/>
              </a:rPr>
              <a:t>二 添加必要元素      </a:t>
            </a:r>
            <a:endParaRPr lang="en-US" altLang="zh-CN" sz="1800" b="1" dirty="0">
              <a:solidFill>
                <a:schemeClr val="accent1"/>
              </a:solidFill>
              <a:latin typeface="+mn-ea"/>
            </a:endParaRPr>
          </a:p>
          <a:p>
            <a:pPr>
              <a:lnSpc>
                <a:spcPct val="150000"/>
              </a:lnSpc>
            </a:pPr>
            <a:r>
              <a:rPr lang="zh-CN" altLang="en-US" sz="1400" dirty="0">
                <a:latin typeface="+mn-ea"/>
              </a:rPr>
              <a:t>一级标题</a:t>
            </a:r>
            <a:r>
              <a:rPr lang="en-US" altLang="zh-CN" sz="1400" dirty="0">
                <a:latin typeface="+mn-ea"/>
              </a:rPr>
              <a:t>/</a:t>
            </a:r>
            <a:r>
              <a:rPr lang="zh-CN" altLang="en-US" sz="1400" dirty="0">
                <a:latin typeface="+mn-ea"/>
              </a:rPr>
              <a:t>二级标题</a:t>
            </a:r>
            <a:r>
              <a:rPr lang="en-US" altLang="zh-CN" sz="1400" dirty="0">
                <a:latin typeface="+mn-ea"/>
              </a:rPr>
              <a:t>/</a:t>
            </a:r>
            <a:r>
              <a:rPr lang="zh-CN" altLang="en-US" sz="1400" dirty="0">
                <a:latin typeface="+mn-ea"/>
              </a:rPr>
              <a:t>备注</a:t>
            </a:r>
            <a:endParaRPr lang="en-US" altLang="zh-CN" sz="1400" dirty="0">
              <a:latin typeface="+mn-ea"/>
            </a:endParaRPr>
          </a:p>
          <a:p>
            <a:pPr>
              <a:lnSpc>
                <a:spcPct val="150000"/>
              </a:lnSpc>
            </a:pPr>
            <a:r>
              <a:rPr lang="zh-CN" altLang="en-US" sz="1100" dirty="0">
                <a:latin typeface="+mn-ea"/>
              </a:rPr>
              <a:t>一级标题是图表的主题内容，尽量简要，二级标题是对图表的数据分析，详细叙述制作者对数据的认知和想要表达的内容，备注是图表数据的解释，例如时间范围，数据来源等</a:t>
            </a:r>
            <a:endParaRPr lang="en-US" altLang="zh-CN" sz="1100" dirty="0">
              <a:latin typeface="+mn-ea"/>
            </a:endParaRPr>
          </a:p>
        </p:txBody>
      </p:sp>
      <p:sp>
        <p:nvSpPr>
          <p:cNvPr id="10" name="文本框 9">
            <a:extLst>
              <a:ext uri="{FF2B5EF4-FFF2-40B4-BE49-F238E27FC236}">
                <a16:creationId xmlns:a16="http://schemas.microsoft.com/office/drawing/2014/main" id="{C3CDFDB8-2621-92A6-73A6-E8F3FDEBBCE4}"/>
              </a:ext>
            </a:extLst>
          </p:cNvPr>
          <p:cNvSpPr txBox="1"/>
          <p:nvPr/>
        </p:nvSpPr>
        <p:spPr>
          <a:xfrm>
            <a:off x="8130209" y="942172"/>
            <a:ext cx="3270566" cy="2424253"/>
          </a:xfrm>
          <a:prstGeom prst="rect">
            <a:avLst/>
          </a:prstGeom>
          <a:noFill/>
        </p:spPr>
        <p:txBody>
          <a:bodyPr wrap="square">
            <a:spAutoFit/>
          </a:bodyPr>
          <a:lstStyle/>
          <a:p>
            <a:pPr>
              <a:lnSpc>
                <a:spcPct val="150000"/>
              </a:lnSpc>
            </a:pPr>
            <a:r>
              <a:rPr lang="zh-CN" altLang="en-US" b="1" dirty="0">
                <a:solidFill>
                  <a:schemeClr val="accent1"/>
                </a:solidFill>
                <a:latin typeface="+mn-ea"/>
              </a:rPr>
              <a:t>三 修饰图表元素     </a:t>
            </a:r>
            <a:endParaRPr lang="en-US" altLang="zh-CN" b="1" dirty="0">
              <a:solidFill>
                <a:schemeClr val="accent1"/>
              </a:solidFill>
              <a:latin typeface="+mn-ea"/>
            </a:endParaRPr>
          </a:p>
          <a:p>
            <a:pPr>
              <a:lnSpc>
                <a:spcPct val="150000"/>
              </a:lnSpc>
            </a:pPr>
            <a:r>
              <a:rPr lang="zh-CN" altLang="en-US" sz="1400" dirty="0">
                <a:latin typeface="+mn-ea"/>
              </a:rPr>
              <a:t>修改配色</a:t>
            </a:r>
            <a:r>
              <a:rPr lang="en-US" altLang="zh-CN" sz="1400" dirty="0">
                <a:latin typeface="+mn-ea"/>
              </a:rPr>
              <a:t>/</a:t>
            </a:r>
            <a:r>
              <a:rPr lang="zh-CN" altLang="en-US" sz="1400" dirty="0">
                <a:latin typeface="+mn-ea"/>
              </a:rPr>
              <a:t>修饰横线</a:t>
            </a:r>
            <a:r>
              <a:rPr lang="en-US" altLang="zh-CN" sz="1400" dirty="0">
                <a:latin typeface="+mn-ea"/>
              </a:rPr>
              <a:t>/</a:t>
            </a:r>
            <a:r>
              <a:rPr lang="zh-CN" altLang="en-US" sz="1400" dirty="0">
                <a:latin typeface="+mn-ea"/>
              </a:rPr>
              <a:t>间隙宽度</a:t>
            </a:r>
            <a:endParaRPr lang="en-US" altLang="zh-CN" sz="1400" dirty="0">
              <a:latin typeface="+mn-ea"/>
            </a:endParaRPr>
          </a:p>
          <a:p>
            <a:pPr>
              <a:lnSpc>
                <a:spcPct val="150000"/>
              </a:lnSpc>
            </a:pPr>
            <a:r>
              <a:rPr lang="zh-CN" altLang="en-US" sz="1100" dirty="0">
                <a:latin typeface="+mn-ea"/>
              </a:rPr>
              <a:t>修改柱形</a:t>
            </a:r>
            <a:r>
              <a:rPr lang="en-US" altLang="zh-CN" sz="1100" dirty="0">
                <a:latin typeface="+mn-ea"/>
              </a:rPr>
              <a:t>/</a:t>
            </a:r>
            <a:r>
              <a:rPr lang="zh-CN" altLang="en-US" sz="1100" dirty="0">
                <a:latin typeface="+mn-ea"/>
              </a:rPr>
              <a:t>条形填充色，本例用渐变色</a:t>
            </a:r>
            <a:endParaRPr lang="en-US" altLang="zh-CN" sz="1100" dirty="0">
              <a:latin typeface="+mn-ea"/>
            </a:endParaRPr>
          </a:p>
          <a:p>
            <a:pPr>
              <a:lnSpc>
                <a:spcPct val="150000"/>
              </a:lnSpc>
            </a:pPr>
            <a:r>
              <a:rPr lang="zh-CN" altLang="en-US" sz="1100" dirty="0">
                <a:latin typeface="+mn-ea"/>
              </a:rPr>
              <a:t>单纯柱形太单调，设置横线为虚线和透明度增加充实感</a:t>
            </a:r>
            <a:endParaRPr lang="en-US" altLang="zh-CN" sz="1100" dirty="0">
              <a:latin typeface="+mn-ea"/>
            </a:endParaRPr>
          </a:p>
          <a:p>
            <a:pPr>
              <a:lnSpc>
                <a:spcPct val="150000"/>
              </a:lnSpc>
            </a:pPr>
            <a:r>
              <a:rPr lang="zh-CN" altLang="en-US" sz="1100" dirty="0">
                <a:latin typeface="+mn-ea"/>
              </a:rPr>
              <a:t>合理调整间隙宽度避免类别过多或者过少显得突兀</a:t>
            </a:r>
            <a:endParaRPr lang="en-US" altLang="zh-CN" sz="1100" dirty="0">
              <a:latin typeface="+mn-ea"/>
            </a:endParaRPr>
          </a:p>
          <a:p>
            <a:pPr>
              <a:lnSpc>
                <a:spcPct val="150000"/>
              </a:lnSpc>
            </a:pPr>
            <a:endParaRPr lang="en-US" altLang="zh-CN" sz="1100" dirty="0">
              <a:latin typeface="+mn-ea"/>
            </a:endParaRPr>
          </a:p>
          <a:p>
            <a:pPr>
              <a:lnSpc>
                <a:spcPct val="150000"/>
              </a:lnSpc>
            </a:pPr>
            <a:endParaRPr lang="zh-CN" altLang="en-US" sz="1600" dirty="0"/>
          </a:p>
        </p:txBody>
      </p:sp>
      <p:pic>
        <p:nvPicPr>
          <p:cNvPr id="13" name="图片 12">
            <a:extLst>
              <a:ext uri="{FF2B5EF4-FFF2-40B4-BE49-F238E27FC236}">
                <a16:creationId xmlns:a16="http://schemas.microsoft.com/office/drawing/2014/main" id="{9B717FE0-4F54-CFD6-EF5D-5F2C008CDCDC}"/>
              </a:ext>
            </a:extLst>
          </p:cNvPr>
          <p:cNvPicPr>
            <a:picLocks noChangeAspect="1"/>
          </p:cNvPicPr>
          <p:nvPr/>
        </p:nvPicPr>
        <p:blipFill>
          <a:blip r:embed="rId2"/>
          <a:stretch>
            <a:fillRect/>
          </a:stretch>
        </p:blipFill>
        <p:spPr>
          <a:xfrm>
            <a:off x="7417265" y="3175553"/>
            <a:ext cx="4066384" cy="3170195"/>
          </a:xfrm>
          <a:prstGeom prst="rect">
            <a:avLst/>
          </a:prstGeom>
        </p:spPr>
      </p:pic>
      <p:pic>
        <p:nvPicPr>
          <p:cNvPr id="14" name="图片 13">
            <a:extLst>
              <a:ext uri="{FF2B5EF4-FFF2-40B4-BE49-F238E27FC236}">
                <a16:creationId xmlns:a16="http://schemas.microsoft.com/office/drawing/2014/main" id="{5B58166F-0C77-489A-8610-2BDB4114A119}"/>
              </a:ext>
            </a:extLst>
          </p:cNvPr>
          <p:cNvPicPr>
            <a:picLocks noChangeAspect="1"/>
          </p:cNvPicPr>
          <p:nvPr/>
        </p:nvPicPr>
        <p:blipFill>
          <a:blip r:embed="rId3"/>
          <a:stretch>
            <a:fillRect/>
          </a:stretch>
        </p:blipFill>
        <p:spPr>
          <a:xfrm>
            <a:off x="1849287" y="3116590"/>
            <a:ext cx="4445625" cy="3204000"/>
          </a:xfrm>
          <a:prstGeom prst="rect">
            <a:avLst/>
          </a:prstGeom>
        </p:spPr>
      </p:pic>
    </p:spTree>
    <p:extLst>
      <p:ext uri="{BB962C8B-B14F-4D97-AF65-F5344CB8AC3E}">
        <p14:creationId xmlns:p14="http://schemas.microsoft.com/office/powerpoint/2010/main" val="3547387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F210B9F-EA80-AE94-143D-B82D667BFB96}"/>
              </a:ext>
            </a:extLst>
          </p:cNvPr>
          <p:cNvSpPr>
            <a:spLocks noGrp="1"/>
          </p:cNvSpPr>
          <p:nvPr>
            <p:ph type="body" sz="quarter" idx="12"/>
          </p:nvPr>
        </p:nvSpPr>
        <p:spPr/>
        <p:txBody>
          <a:bodyPr/>
          <a:lstStyle/>
          <a:p>
            <a:r>
              <a:rPr lang="zh-CN" altLang="en-US" dirty="0"/>
              <a:t>圆环圆饼图</a:t>
            </a:r>
            <a:r>
              <a:rPr lang="en-US" altLang="zh-CN" dirty="0"/>
              <a:t>/12</a:t>
            </a:r>
            <a:r>
              <a:rPr lang="zh-CN" altLang="en-US" dirty="0"/>
              <a:t>例</a:t>
            </a:r>
          </a:p>
        </p:txBody>
      </p:sp>
      <p:pic>
        <p:nvPicPr>
          <p:cNvPr id="3" name="图片 2">
            <a:extLst>
              <a:ext uri="{FF2B5EF4-FFF2-40B4-BE49-F238E27FC236}">
                <a16:creationId xmlns:a16="http://schemas.microsoft.com/office/drawing/2014/main" id="{1222EF53-A725-06C3-AE14-2BF5E3C97465}"/>
              </a:ext>
            </a:extLst>
          </p:cNvPr>
          <p:cNvPicPr preferRelativeResize="0">
            <a:picLocks/>
          </p:cNvPicPr>
          <p:nvPr/>
        </p:nvPicPr>
        <p:blipFill>
          <a:blip r:embed="rId2">
            <a:extLst>
              <a:ext uri="{28A0092B-C50C-407E-A947-70E740481C1C}">
                <a14:useLocalDpi xmlns:a14="http://schemas.microsoft.com/office/drawing/2010/main" val="0"/>
              </a:ext>
            </a:extLst>
          </a:blip>
          <a:srcRect/>
          <a:stretch/>
        </p:blipFill>
        <p:spPr>
          <a:xfrm>
            <a:off x="2112004" y="1146173"/>
            <a:ext cx="2167200" cy="1620000"/>
          </a:xfrm>
          <a:prstGeom prst="roundRect">
            <a:avLst>
              <a:gd name="adj" fmla="val 4588"/>
            </a:avLst>
          </a:prstGeom>
          <a:ln w="3175">
            <a:solidFill>
              <a:schemeClr val="bg1">
                <a:lumMod val="85000"/>
                <a:alpha val="40000"/>
              </a:schemeClr>
            </a:solidFill>
          </a:ln>
        </p:spPr>
      </p:pic>
      <p:pic>
        <p:nvPicPr>
          <p:cNvPr id="4" name="图片 3">
            <a:extLst>
              <a:ext uri="{FF2B5EF4-FFF2-40B4-BE49-F238E27FC236}">
                <a16:creationId xmlns:a16="http://schemas.microsoft.com/office/drawing/2014/main" id="{05A5FA53-BF1D-ACFE-ABFD-6D447A72E642}"/>
              </a:ext>
            </a:extLst>
          </p:cNvPr>
          <p:cNvPicPr preferRelativeResize="0">
            <a:picLocks/>
          </p:cNvPicPr>
          <p:nvPr/>
        </p:nvPicPr>
        <p:blipFill>
          <a:blip r:embed="rId3">
            <a:extLst>
              <a:ext uri="{28A0092B-C50C-407E-A947-70E740481C1C}">
                <a14:useLocalDpi xmlns:a14="http://schemas.microsoft.com/office/drawing/2010/main" val="0"/>
              </a:ext>
            </a:extLst>
          </a:blip>
          <a:srcRect/>
          <a:stretch/>
        </p:blipFill>
        <p:spPr>
          <a:xfrm>
            <a:off x="4365892" y="1146173"/>
            <a:ext cx="2167200" cy="1620000"/>
          </a:xfrm>
          <a:prstGeom prst="roundRect">
            <a:avLst>
              <a:gd name="adj" fmla="val 4588"/>
            </a:avLst>
          </a:prstGeom>
          <a:ln w="3175">
            <a:solidFill>
              <a:schemeClr val="bg1">
                <a:lumMod val="85000"/>
                <a:alpha val="40000"/>
              </a:schemeClr>
            </a:solidFill>
          </a:ln>
        </p:spPr>
      </p:pic>
      <p:pic>
        <p:nvPicPr>
          <p:cNvPr id="5" name="图片 4">
            <a:extLst>
              <a:ext uri="{FF2B5EF4-FFF2-40B4-BE49-F238E27FC236}">
                <a16:creationId xmlns:a16="http://schemas.microsoft.com/office/drawing/2014/main" id="{F286C538-F819-6DDC-E412-174DDFA2AB9E}"/>
              </a:ext>
            </a:extLst>
          </p:cNvPr>
          <p:cNvPicPr preferRelativeResize="0">
            <a:picLocks/>
          </p:cNvPicPr>
          <p:nvPr/>
        </p:nvPicPr>
        <p:blipFill>
          <a:blip r:embed="rId4">
            <a:extLst>
              <a:ext uri="{28A0092B-C50C-407E-A947-70E740481C1C}">
                <a14:useLocalDpi xmlns:a14="http://schemas.microsoft.com/office/drawing/2010/main" val="0"/>
              </a:ext>
            </a:extLst>
          </a:blip>
          <a:srcRect t="35" b="35"/>
          <a:stretch/>
        </p:blipFill>
        <p:spPr>
          <a:xfrm>
            <a:off x="6619780" y="1146173"/>
            <a:ext cx="2167200" cy="1620000"/>
          </a:xfrm>
          <a:prstGeom prst="roundRect">
            <a:avLst>
              <a:gd name="adj" fmla="val 4588"/>
            </a:avLst>
          </a:prstGeom>
          <a:ln w="3175">
            <a:solidFill>
              <a:schemeClr val="bg1">
                <a:lumMod val="85000"/>
                <a:alpha val="40000"/>
              </a:schemeClr>
            </a:solidFill>
          </a:ln>
        </p:spPr>
      </p:pic>
      <p:pic>
        <p:nvPicPr>
          <p:cNvPr id="6" name="图片 5">
            <a:extLst>
              <a:ext uri="{FF2B5EF4-FFF2-40B4-BE49-F238E27FC236}">
                <a16:creationId xmlns:a16="http://schemas.microsoft.com/office/drawing/2014/main" id="{5C894855-C0DA-663E-B5EF-6E0112F4BBE6}"/>
              </a:ext>
            </a:extLst>
          </p:cNvPr>
          <p:cNvPicPr preferRelativeResize="0">
            <a:picLocks/>
          </p:cNvPicPr>
          <p:nvPr/>
        </p:nvPicPr>
        <p:blipFill>
          <a:blip r:embed="rId5">
            <a:extLst>
              <a:ext uri="{28A0092B-C50C-407E-A947-70E740481C1C}">
                <a14:useLocalDpi xmlns:a14="http://schemas.microsoft.com/office/drawing/2010/main" val="0"/>
              </a:ext>
            </a:extLst>
          </a:blip>
          <a:srcRect l="27" r="27"/>
          <a:stretch/>
        </p:blipFill>
        <p:spPr>
          <a:xfrm>
            <a:off x="8873668" y="1146173"/>
            <a:ext cx="2167200" cy="1620000"/>
          </a:xfrm>
          <a:prstGeom prst="roundRect">
            <a:avLst>
              <a:gd name="adj" fmla="val 4588"/>
            </a:avLst>
          </a:prstGeom>
          <a:ln w="3175">
            <a:solidFill>
              <a:schemeClr val="bg1">
                <a:lumMod val="85000"/>
                <a:alpha val="40000"/>
              </a:schemeClr>
            </a:solidFill>
          </a:ln>
        </p:spPr>
      </p:pic>
      <p:pic>
        <p:nvPicPr>
          <p:cNvPr id="7" name="图片 6">
            <a:extLst>
              <a:ext uri="{FF2B5EF4-FFF2-40B4-BE49-F238E27FC236}">
                <a16:creationId xmlns:a16="http://schemas.microsoft.com/office/drawing/2014/main" id="{8387D6A4-2157-6D32-0ACC-105AF0752B6C}"/>
              </a:ext>
            </a:extLst>
          </p:cNvPr>
          <p:cNvPicPr preferRelativeResize="0">
            <a:picLocks/>
          </p:cNvPicPr>
          <p:nvPr/>
        </p:nvPicPr>
        <p:blipFill>
          <a:blip r:embed="rId6">
            <a:extLst>
              <a:ext uri="{28A0092B-C50C-407E-A947-70E740481C1C}">
                <a14:useLocalDpi xmlns:a14="http://schemas.microsoft.com/office/drawing/2010/main" val="0"/>
              </a:ext>
            </a:extLst>
          </a:blip>
          <a:srcRect t="9" b="9"/>
          <a:stretch/>
        </p:blipFill>
        <p:spPr>
          <a:xfrm>
            <a:off x="2112004" y="2830973"/>
            <a:ext cx="2167200" cy="1620000"/>
          </a:xfrm>
          <a:prstGeom prst="roundRect">
            <a:avLst>
              <a:gd name="adj" fmla="val 4588"/>
            </a:avLst>
          </a:prstGeom>
          <a:ln w="3175">
            <a:solidFill>
              <a:schemeClr val="bg1">
                <a:lumMod val="85000"/>
                <a:alpha val="40000"/>
              </a:schemeClr>
            </a:solidFill>
          </a:ln>
        </p:spPr>
      </p:pic>
      <p:pic>
        <p:nvPicPr>
          <p:cNvPr id="8" name="图片 7">
            <a:extLst>
              <a:ext uri="{FF2B5EF4-FFF2-40B4-BE49-F238E27FC236}">
                <a16:creationId xmlns:a16="http://schemas.microsoft.com/office/drawing/2014/main" id="{7C5BB9AC-467B-ADF4-580B-957351AE8ECF}"/>
              </a:ext>
            </a:extLst>
          </p:cNvPr>
          <p:cNvPicPr preferRelativeResize="0">
            <a:picLocks/>
          </p:cNvPicPr>
          <p:nvPr/>
        </p:nvPicPr>
        <p:blipFill>
          <a:blip r:embed="rId7">
            <a:extLst>
              <a:ext uri="{28A0092B-C50C-407E-A947-70E740481C1C}">
                <a14:useLocalDpi xmlns:a14="http://schemas.microsoft.com/office/drawing/2010/main" val="0"/>
              </a:ext>
            </a:extLst>
          </a:blip>
          <a:srcRect t="62" b="62"/>
          <a:stretch/>
        </p:blipFill>
        <p:spPr>
          <a:xfrm>
            <a:off x="4365892" y="2830973"/>
            <a:ext cx="2167200" cy="1620000"/>
          </a:xfrm>
          <a:prstGeom prst="roundRect">
            <a:avLst>
              <a:gd name="adj" fmla="val 4588"/>
            </a:avLst>
          </a:prstGeom>
          <a:ln w="3175">
            <a:solidFill>
              <a:schemeClr val="bg1">
                <a:lumMod val="85000"/>
                <a:alpha val="40000"/>
              </a:schemeClr>
            </a:solidFill>
          </a:ln>
        </p:spPr>
      </p:pic>
      <p:pic>
        <p:nvPicPr>
          <p:cNvPr id="9" name="图片 8">
            <a:extLst>
              <a:ext uri="{FF2B5EF4-FFF2-40B4-BE49-F238E27FC236}">
                <a16:creationId xmlns:a16="http://schemas.microsoft.com/office/drawing/2014/main" id="{9A239FC6-B54F-84CC-7B2B-7FDEE9340922}"/>
              </a:ext>
            </a:extLst>
          </p:cNvPr>
          <p:cNvPicPr preferRelativeResize="0">
            <a:picLocks/>
          </p:cNvPicPr>
          <p:nvPr/>
        </p:nvPicPr>
        <p:blipFill>
          <a:blip r:embed="rId8">
            <a:extLst>
              <a:ext uri="{28A0092B-C50C-407E-A947-70E740481C1C}">
                <a14:useLocalDpi xmlns:a14="http://schemas.microsoft.com/office/drawing/2010/main" val="0"/>
              </a:ext>
            </a:extLst>
          </a:blip>
          <a:srcRect t="27" b="27"/>
          <a:stretch/>
        </p:blipFill>
        <p:spPr>
          <a:xfrm>
            <a:off x="6619780" y="2830973"/>
            <a:ext cx="2167200" cy="1620000"/>
          </a:xfrm>
          <a:prstGeom prst="roundRect">
            <a:avLst>
              <a:gd name="adj" fmla="val 4588"/>
            </a:avLst>
          </a:prstGeom>
          <a:ln w="3175">
            <a:solidFill>
              <a:schemeClr val="bg1">
                <a:lumMod val="85000"/>
                <a:alpha val="40000"/>
              </a:schemeClr>
            </a:solidFill>
          </a:ln>
        </p:spPr>
      </p:pic>
      <p:pic>
        <p:nvPicPr>
          <p:cNvPr id="10" name="图片 9">
            <a:extLst>
              <a:ext uri="{FF2B5EF4-FFF2-40B4-BE49-F238E27FC236}">
                <a16:creationId xmlns:a16="http://schemas.microsoft.com/office/drawing/2014/main" id="{ABD749AE-8FD6-0619-A102-58758BE24492}"/>
              </a:ext>
            </a:extLst>
          </p:cNvPr>
          <p:cNvPicPr preferRelativeResize="0">
            <a:picLocks/>
          </p:cNvPicPr>
          <p:nvPr/>
        </p:nvPicPr>
        <p:blipFill>
          <a:blip r:embed="rId9">
            <a:extLst>
              <a:ext uri="{28A0092B-C50C-407E-A947-70E740481C1C}">
                <a14:useLocalDpi xmlns:a14="http://schemas.microsoft.com/office/drawing/2010/main" val="0"/>
              </a:ext>
            </a:extLst>
          </a:blip>
          <a:srcRect t="27" b="27"/>
          <a:stretch/>
        </p:blipFill>
        <p:spPr>
          <a:xfrm>
            <a:off x="8873668" y="2830973"/>
            <a:ext cx="2167200" cy="1620000"/>
          </a:xfrm>
          <a:prstGeom prst="roundRect">
            <a:avLst>
              <a:gd name="adj" fmla="val 4588"/>
            </a:avLst>
          </a:prstGeom>
          <a:ln w="3175">
            <a:solidFill>
              <a:schemeClr val="bg1">
                <a:lumMod val="85000"/>
                <a:alpha val="40000"/>
              </a:schemeClr>
            </a:solidFill>
          </a:ln>
        </p:spPr>
      </p:pic>
      <p:pic>
        <p:nvPicPr>
          <p:cNvPr id="11" name="图片 10">
            <a:extLst>
              <a:ext uri="{FF2B5EF4-FFF2-40B4-BE49-F238E27FC236}">
                <a16:creationId xmlns:a16="http://schemas.microsoft.com/office/drawing/2014/main" id="{1CA0C5A3-5E1E-D6C5-0465-1FDB6274A5CB}"/>
              </a:ext>
            </a:extLst>
          </p:cNvPr>
          <p:cNvPicPr preferRelativeResize="0">
            <a:picLocks/>
          </p:cNvPicPr>
          <p:nvPr/>
        </p:nvPicPr>
        <p:blipFill>
          <a:blip r:embed="rId10">
            <a:extLst>
              <a:ext uri="{28A0092B-C50C-407E-A947-70E740481C1C}">
                <a14:useLocalDpi xmlns:a14="http://schemas.microsoft.com/office/drawing/2010/main" val="0"/>
              </a:ext>
            </a:extLst>
          </a:blip>
          <a:srcRect t="27" b="27"/>
          <a:stretch/>
        </p:blipFill>
        <p:spPr>
          <a:xfrm>
            <a:off x="2112004" y="4515773"/>
            <a:ext cx="2167200" cy="1620000"/>
          </a:xfrm>
          <a:prstGeom prst="roundRect">
            <a:avLst>
              <a:gd name="adj" fmla="val 4588"/>
            </a:avLst>
          </a:prstGeom>
          <a:ln w="3175">
            <a:solidFill>
              <a:schemeClr val="bg1">
                <a:lumMod val="85000"/>
                <a:alpha val="40000"/>
              </a:schemeClr>
            </a:solidFill>
          </a:ln>
        </p:spPr>
      </p:pic>
      <p:pic>
        <p:nvPicPr>
          <p:cNvPr id="12" name="图片 11">
            <a:extLst>
              <a:ext uri="{FF2B5EF4-FFF2-40B4-BE49-F238E27FC236}">
                <a16:creationId xmlns:a16="http://schemas.microsoft.com/office/drawing/2014/main" id="{3A6ABA0E-0FA0-8526-096E-5689AF368163}"/>
              </a:ext>
            </a:extLst>
          </p:cNvPr>
          <p:cNvPicPr preferRelativeResize="0">
            <a:picLocks/>
          </p:cNvPicPr>
          <p:nvPr/>
        </p:nvPicPr>
        <p:blipFill>
          <a:blip r:embed="rId11">
            <a:extLst>
              <a:ext uri="{28A0092B-C50C-407E-A947-70E740481C1C}">
                <a14:useLocalDpi xmlns:a14="http://schemas.microsoft.com/office/drawing/2010/main" val="0"/>
              </a:ext>
            </a:extLst>
          </a:blip>
          <a:srcRect t="3888" b="3888"/>
          <a:stretch/>
        </p:blipFill>
        <p:spPr>
          <a:xfrm>
            <a:off x="4365892" y="4515773"/>
            <a:ext cx="2167200" cy="1620000"/>
          </a:xfrm>
          <a:prstGeom prst="roundRect">
            <a:avLst>
              <a:gd name="adj" fmla="val 4588"/>
            </a:avLst>
          </a:prstGeom>
          <a:ln w="3175">
            <a:solidFill>
              <a:schemeClr val="bg1">
                <a:lumMod val="85000"/>
                <a:alpha val="40000"/>
              </a:schemeClr>
            </a:solidFill>
          </a:ln>
        </p:spPr>
      </p:pic>
      <p:pic>
        <p:nvPicPr>
          <p:cNvPr id="13" name="图片 12">
            <a:extLst>
              <a:ext uri="{FF2B5EF4-FFF2-40B4-BE49-F238E27FC236}">
                <a16:creationId xmlns:a16="http://schemas.microsoft.com/office/drawing/2014/main" id="{08B0B00F-5BD9-2DD8-8F67-82354308B708}"/>
              </a:ext>
            </a:extLst>
          </p:cNvPr>
          <p:cNvPicPr preferRelativeResize="0">
            <a:picLocks/>
          </p:cNvPicPr>
          <p:nvPr/>
        </p:nvPicPr>
        <p:blipFill>
          <a:blip r:embed="rId12">
            <a:extLst>
              <a:ext uri="{28A0092B-C50C-407E-A947-70E740481C1C}">
                <a14:useLocalDpi xmlns:a14="http://schemas.microsoft.com/office/drawing/2010/main" val="0"/>
              </a:ext>
            </a:extLst>
          </a:blip>
          <a:srcRect t="27" b="27"/>
          <a:stretch/>
        </p:blipFill>
        <p:spPr>
          <a:xfrm>
            <a:off x="6619780" y="4515773"/>
            <a:ext cx="2167200" cy="1620000"/>
          </a:xfrm>
          <a:prstGeom prst="roundRect">
            <a:avLst>
              <a:gd name="adj" fmla="val 4588"/>
            </a:avLst>
          </a:prstGeom>
          <a:ln w="3175">
            <a:solidFill>
              <a:schemeClr val="bg1">
                <a:lumMod val="85000"/>
                <a:alpha val="40000"/>
              </a:schemeClr>
            </a:solidFill>
          </a:ln>
        </p:spPr>
      </p:pic>
      <p:pic>
        <p:nvPicPr>
          <p:cNvPr id="14" name="图片 13">
            <a:extLst>
              <a:ext uri="{FF2B5EF4-FFF2-40B4-BE49-F238E27FC236}">
                <a16:creationId xmlns:a16="http://schemas.microsoft.com/office/drawing/2014/main" id="{4E20A1BF-C7A8-0BF5-565C-7D0D63B6C28A}"/>
              </a:ext>
            </a:extLst>
          </p:cNvPr>
          <p:cNvPicPr preferRelativeResize="0">
            <a:picLocks/>
          </p:cNvPicPr>
          <p:nvPr/>
        </p:nvPicPr>
        <p:blipFill>
          <a:blip r:embed="rId8">
            <a:extLst>
              <a:ext uri="{28A0092B-C50C-407E-A947-70E740481C1C}">
                <a14:useLocalDpi xmlns:a14="http://schemas.microsoft.com/office/drawing/2010/main" val="0"/>
              </a:ext>
            </a:extLst>
          </a:blip>
          <a:srcRect t="27" b="27"/>
          <a:stretch/>
        </p:blipFill>
        <p:spPr>
          <a:xfrm>
            <a:off x="8873668" y="4515773"/>
            <a:ext cx="2167200" cy="1620000"/>
          </a:xfrm>
          <a:prstGeom prst="roundRect">
            <a:avLst>
              <a:gd name="adj" fmla="val 4588"/>
            </a:avLst>
          </a:prstGeom>
          <a:ln w="3175">
            <a:solidFill>
              <a:schemeClr val="bg1">
                <a:lumMod val="85000"/>
                <a:alpha val="40000"/>
              </a:schemeClr>
            </a:solidFill>
          </a:ln>
        </p:spPr>
      </p:pic>
    </p:spTree>
    <p:extLst>
      <p:ext uri="{BB962C8B-B14F-4D97-AF65-F5344CB8AC3E}">
        <p14:creationId xmlns:p14="http://schemas.microsoft.com/office/powerpoint/2010/main" val="1023614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F86F29C-846A-31E5-7336-2D6A73FED12E}"/>
              </a:ext>
            </a:extLst>
          </p:cNvPr>
          <p:cNvSpPr>
            <a:spLocks noGrp="1"/>
          </p:cNvSpPr>
          <p:nvPr>
            <p:ph type="body" sz="quarter" idx="12"/>
          </p:nvPr>
        </p:nvSpPr>
        <p:spPr/>
        <p:txBody>
          <a:bodyPr/>
          <a:lstStyle/>
          <a:p>
            <a:r>
              <a:rPr lang="zh-CN" altLang="en-US" dirty="0"/>
              <a:t>圆环图</a:t>
            </a:r>
            <a:r>
              <a:rPr lang="en-US" altLang="zh-CN" dirty="0"/>
              <a:t>/</a:t>
            </a:r>
            <a:r>
              <a:rPr lang="zh-CN" altLang="en-US" dirty="0"/>
              <a:t>圆饼图一般修饰</a:t>
            </a:r>
          </a:p>
        </p:txBody>
      </p:sp>
      <p:sp>
        <p:nvSpPr>
          <p:cNvPr id="9" name="箭头: 右 8">
            <a:extLst>
              <a:ext uri="{FF2B5EF4-FFF2-40B4-BE49-F238E27FC236}">
                <a16:creationId xmlns:a16="http://schemas.microsoft.com/office/drawing/2014/main" id="{232C76FE-1946-E097-FDA3-1746B131778E}"/>
              </a:ext>
            </a:extLst>
          </p:cNvPr>
          <p:cNvSpPr/>
          <p:nvPr/>
        </p:nvSpPr>
        <p:spPr>
          <a:xfrm>
            <a:off x="6358136" y="4346869"/>
            <a:ext cx="755042" cy="3433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08E97F5A-C251-C011-58FD-F79FB11D3A28}"/>
              </a:ext>
            </a:extLst>
          </p:cNvPr>
          <p:cNvPicPr>
            <a:picLocks noChangeAspect="1"/>
          </p:cNvPicPr>
          <p:nvPr/>
        </p:nvPicPr>
        <p:blipFill>
          <a:blip r:embed="rId2"/>
          <a:stretch>
            <a:fillRect/>
          </a:stretch>
        </p:blipFill>
        <p:spPr>
          <a:xfrm>
            <a:off x="1893569" y="3116590"/>
            <a:ext cx="4084674" cy="3176291"/>
          </a:xfrm>
          <a:prstGeom prst="rect">
            <a:avLst/>
          </a:prstGeom>
        </p:spPr>
      </p:pic>
      <p:pic>
        <p:nvPicPr>
          <p:cNvPr id="10" name="图片 9">
            <a:extLst>
              <a:ext uri="{FF2B5EF4-FFF2-40B4-BE49-F238E27FC236}">
                <a16:creationId xmlns:a16="http://schemas.microsoft.com/office/drawing/2014/main" id="{C1C3E398-E61D-5FD7-649D-8005B4188304}"/>
              </a:ext>
            </a:extLst>
          </p:cNvPr>
          <p:cNvPicPr>
            <a:picLocks noChangeAspect="1"/>
          </p:cNvPicPr>
          <p:nvPr/>
        </p:nvPicPr>
        <p:blipFill>
          <a:blip r:embed="rId3"/>
          <a:stretch>
            <a:fillRect/>
          </a:stretch>
        </p:blipFill>
        <p:spPr>
          <a:xfrm>
            <a:off x="7321972" y="3105072"/>
            <a:ext cx="4237087" cy="3170195"/>
          </a:xfrm>
          <a:prstGeom prst="rect">
            <a:avLst/>
          </a:prstGeom>
        </p:spPr>
      </p:pic>
      <p:sp>
        <p:nvSpPr>
          <p:cNvPr id="11" name="文本框 10">
            <a:extLst>
              <a:ext uri="{FF2B5EF4-FFF2-40B4-BE49-F238E27FC236}">
                <a16:creationId xmlns:a16="http://schemas.microsoft.com/office/drawing/2014/main" id="{197A4F6C-B2C4-ABC5-B917-D8D82BA6D829}"/>
              </a:ext>
            </a:extLst>
          </p:cNvPr>
          <p:cNvSpPr txBox="1"/>
          <p:nvPr/>
        </p:nvSpPr>
        <p:spPr>
          <a:xfrm>
            <a:off x="1893569" y="942172"/>
            <a:ext cx="2310683" cy="746743"/>
          </a:xfrm>
          <a:prstGeom prst="rect">
            <a:avLst/>
          </a:prstGeom>
          <a:noFill/>
        </p:spPr>
        <p:txBody>
          <a:bodyPr wrap="square" rtlCol="0">
            <a:spAutoFit/>
          </a:bodyPr>
          <a:lstStyle/>
          <a:p>
            <a:pPr>
              <a:lnSpc>
                <a:spcPct val="150000"/>
              </a:lnSpc>
            </a:pPr>
            <a:r>
              <a:rPr lang="zh-CN" altLang="en-US" sz="1600" b="1" dirty="0">
                <a:solidFill>
                  <a:schemeClr val="accent1"/>
                </a:solidFill>
                <a:latin typeface="+mn-ea"/>
              </a:rPr>
              <a:t>一 删除非必要元素  </a:t>
            </a:r>
            <a:endParaRPr lang="en-US" altLang="zh-CN" sz="1600" b="1" dirty="0">
              <a:solidFill>
                <a:schemeClr val="accent1"/>
              </a:solidFill>
              <a:latin typeface="+mn-ea"/>
            </a:endParaRPr>
          </a:p>
          <a:p>
            <a:pPr>
              <a:lnSpc>
                <a:spcPct val="150000"/>
              </a:lnSpc>
            </a:pPr>
            <a:r>
              <a:rPr lang="zh-CN" altLang="en-US" sz="1400" dirty="0">
                <a:latin typeface="+mn-ea"/>
              </a:rPr>
              <a:t>默认标题</a:t>
            </a:r>
            <a:endParaRPr lang="en-US" altLang="zh-CN" sz="1400" dirty="0">
              <a:latin typeface="+mn-ea"/>
            </a:endParaRPr>
          </a:p>
        </p:txBody>
      </p:sp>
      <p:sp>
        <p:nvSpPr>
          <p:cNvPr id="12" name="文本框 11">
            <a:extLst>
              <a:ext uri="{FF2B5EF4-FFF2-40B4-BE49-F238E27FC236}">
                <a16:creationId xmlns:a16="http://schemas.microsoft.com/office/drawing/2014/main" id="{74AACDEF-4234-8E18-DB06-D15F259D68DE}"/>
              </a:ext>
            </a:extLst>
          </p:cNvPr>
          <p:cNvSpPr txBox="1"/>
          <p:nvPr/>
        </p:nvSpPr>
        <p:spPr>
          <a:xfrm>
            <a:off x="4518577" y="942172"/>
            <a:ext cx="3020254" cy="792909"/>
          </a:xfrm>
          <a:prstGeom prst="rect">
            <a:avLst/>
          </a:prstGeom>
          <a:noFill/>
        </p:spPr>
        <p:txBody>
          <a:bodyPr wrap="square">
            <a:spAutoFit/>
          </a:bodyPr>
          <a:lstStyle/>
          <a:p>
            <a:pPr>
              <a:lnSpc>
                <a:spcPct val="150000"/>
              </a:lnSpc>
            </a:pPr>
            <a:r>
              <a:rPr lang="zh-CN" altLang="en-US" sz="1800" b="1" dirty="0">
                <a:solidFill>
                  <a:schemeClr val="accent1"/>
                </a:solidFill>
                <a:latin typeface="+mn-ea"/>
              </a:rPr>
              <a:t>二 添加必要元素      </a:t>
            </a:r>
            <a:endParaRPr lang="en-US" altLang="zh-CN" sz="1800" b="1" dirty="0">
              <a:solidFill>
                <a:schemeClr val="accent1"/>
              </a:solidFill>
              <a:latin typeface="+mn-ea"/>
            </a:endParaRPr>
          </a:p>
          <a:p>
            <a:pPr>
              <a:lnSpc>
                <a:spcPct val="150000"/>
              </a:lnSpc>
            </a:pPr>
            <a:r>
              <a:rPr lang="zh-CN" altLang="en-US" sz="1400" dirty="0">
                <a:latin typeface="+mn-ea"/>
              </a:rPr>
              <a:t>一级标题</a:t>
            </a:r>
            <a:r>
              <a:rPr lang="en-US" altLang="zh-CN" sz="1400" dirty="0">
                <a:latin typeface="+mn-ea"/>
              </a:rPr>
              <a:t>/</a:t>
            </a:r>
            <a:r>
              <a:rPr lang="zh-CN" altLang="en-US" sz="1400" dirty="0">
                <a:latin typeface="+mn-ea"/>
              </a:rPr>
              <a:t>二级标题</a:t>
            </a:r>
            <a:r>
              <a:rPr lang="en-US" altLang="zh-CN" sz="1400" dirty="0">
                <a:latin typeface="+mn-ea"/>
              </a:rPr>
              <a:t>/</a:t>
            </a:r>
            <a:r>
              <a:rPr lang="zh-CN" altLang="en-US" sz="1400" dirty="0">
                <a:latin typeface="+mn-ea"/>
              </a:rPr>
              <a:t>备注</a:t>
            </a:r>
            <a:endParaRPr lang="en-US" altLang="zh-CN" sz="1400" dirty="0">
              <a:latin typeface="+mn-ea"/>
            </a:endParaRPr>
          </a:p>
        </p:txBody>
      </p:sp>
      <p:sp>
        <p:nvSpPr>
          <p:cNvPr id="13" name="文本框 12">
            <a:extLst>
              <a:ext uri="{FF2B5EF4-FFF2-40B4-BE49-F238E27FC236}">
                <a16:creationId xmlns:a16="http://schemas.microsoft.com/office/drawing/2014/main" id="{F66EB900-9FEA-5E62-0826-8E4AD6E32811}"/>
              </a:ext>
            </a:extLst>
          </p:cNvPr>
          <p:cNvSpPr txBox="1"/>
          <p:nvPr/>
        </p:nvSpPr>
        <p:spPr>
          <a:xfrm>
            <a:off x="7464287" y="942172"/>
            <a:ext cx="3936488" cy="2170338"/>
          </a:xfrm>
          <a:prstGeom prst="rect">
            <a:avLst/>
          </a:prstGeom>
          <a:noFill/>
        </p:spPr>
        <p:txBody>
          <a:bodyPr wrap="square">
            <a:spAutoFit/>
          </a:bodyPr>
          <a:lstStyle/>
          <a:p>
            <a:pPr>
              <a:lnSpc>
                <a:spcPct val="150000"/>
              </a:lnSpc>
            </a:pPr>
            <a:r>
              <a:rPr lang="zh-CN" altLang="en-US" b="1" dirty="0">
                <a:solidFill>
                  <a:schemeClr val="accent1"/>
                </a:solidFill>
                <a:latin typeface="+mn-ea"/>
              </a:rPr>
              <a:t>三 修饰图表元素     </a:t>
            </a:r>
            <a:endParaRPr lang="en-US" altLang="zh-CN" b="1" dirty="0">
              <a:solidFill>
                <a:schemeClr val="accent1"/>
              </a:solidFill>
              <a:latin typeface="+mn-ea"/>
            </a:endParaRPr>
          </a:p>
          <a:p>
            <a:pPr>
              <a:lnSpc>
                <a:spcPct val="150000"/>
              </a:lnSpc>
            </a:pPr>
            <a:r>
              <a:rPr lang="zh-CN" altLang="en-US" sz="1400" dirty="0">
                <a:latin typeface="+mn-ea"/>
              </a:rPr>
              <a:t>复制数据</a:t>
            </a:r>
            <a:r>
              <a:rPr lang="en-US" altLang="zh-CN" sz="1400" dirty="0">
                <a:latin typeface="+mn-ea"/>
              </a:rPr>
              <a:t>/</a:t>
            </a:r>
            <a:r>
              <a:rPr lang="zh-CN" altLang="en-US" sz="1400" dirty="0">
                <a:latin typeface="+mn-ea"/>
              </a:rPr>
              <a:t>设置圆饼填充</a:t>
            </a:r>
            <a:r>
              <a:rPr lang="en-US" altLang="zh-CN" sz="1400" dirty="0">
                <a:latin typeface="+mn-ea"/>
              </a:rPr>
              <a:t>/</a:t>
            </a:r>
            <a:r>
              <a:rPr lang="zh-CN" altLang="en-US" sz="1400" dirty="0">
                <a:latin typeface="+mn-ea"/>
              </a:rPr>
              <a:t>添加数据标签引线</a:t>
            </a:r>
            <a:endParaRPr lang="en-US" altLang="zh-CN" sz="1400" dirty="0">
              <a:latin typeface="+mn-ea"/>
            </a:endParaRPr>
          </a:p>
          <a:p>
            <a:pPr>
              <a:lnSpc>
                <a:spcPct val="150000"/>
              </a:lnSpc>
            </a:pPr>
            <a:r>
              <a:rPr lang="zh-CN" altLang="en-US" sz="1100" dirty="0">
                <a:latin typeface="+mn-ea"/>
              </a:rPr>
              <a:t>南丁格尔玫瑰图每层圆环都是通过复制粘贴过去的</a:t>
            </a:r>
            <a:endParaRPr lang="en-US" altLang="zh-CN" sz="1100" dirty="0">
              <a:latin typeface="+mn-ea"/>
            </a:endParaRPr>
          </a:p>
          <a:p>
            <a:pPr>
              <a:lnSpc>
                <a:spcPct val="150000"/>
              </a:lnSpc>
            </a:pPr>
            <a:r>
              <a:rPr lang="zh-CN" altLang="en-US" sz="1100" dirty="0">
                <a:latin typeface="+mn-ea"/>
              </a:rPr>
              <a:t>从最外层逐层设置圆环颜色以及设置无填充，形成减少效果通过形状添加数据标签引线，也是图表修饰的常用方式，更加灵活美观</a:t>
            </a:r>
            <a:endParaRPr lang="en-US" altLang="zh-CN" sz="1100" dirty="0">
              <a:latin typeface="+mn-ea"/>
            </a:endParaRPr>
          </a:p>
          <a:p>
            <a:pPr>
              <a:lnSpc>
                <a:spcPct val="150000"/>
              </a:lnSpc>
            </a:pPr>
            <a:endParaRPr lang="zh-CN" altLang="en-US" sz="1600" dirty="0"/>
          </a:p>
        </p:txBody>
      </p:sp>
    </p:spTree>
    <p:extLst>
      <p:ext uri="{BB962C8B-B14F-4D97-AF65-F5344CB8AC3E}">
        <p14:creationId xmlns:p14="http://schemas.microsoft.com/office/powerpoint/2010/main" val="2183588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9356D04-5AD7-9327-B349-0EAE199892C1}"/>
              </a:ext>
            </a:extLst>
          </p:cNvPr>
          <p:cNvSpPr>
            <a:spLocks noGrp="1"/>
          </p:cNvSpPr>
          <p:nvPr>
            <p:ph type="body" sz="quarter" idx="12"/>
          </p:nvPr>
        </p:nvSpPr>
        <p:spPr/>
        <p:txBody>
          <a:bodyPr/>
          <a:lstStyle/>
          <a:p>
            <a:r>
              <a:rPr lang="zh-CN" altLang="en-US" dirty="0"/>
              <a:t>折线面积图</a:t>
            </a:r>
            <a:r>
              <a:rPr lang="en-US" altLang="zh-CN" dirty="0"/>
              <a:t>12</a:t>
            </a:r>
            <a:r>
              <a:rPr lang="zh-CN" altLang="en-US" dirty="0"/>
              <a:t>例</a:t>
            </a:r>
          </a:p>
        </p:txBody>
      </p:sp>
      <p:pic>
        <p:nvPicPr>
          <p:cNvPr id="3" name="图片 2">
            <a:extLst>
              <a:ext uri="{FF2B5EF4-FFF2-40B4-BE49-F238E27FC236}">
                <a16:creationId xmlns:a16="http://schemas.microsoft.com/office/drawing/2014/main" id="{DA814FCA-D6B6-03D2-D858-C13F5907F3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13333" y="1134169"/>
            <a:ext cx="2166170" cy="1620000"/>
          </a:xfrm>
          <a:prstGeom prst="roundRect">
            <a:avLst>
              <a:gd name="adj" fmla="val 4588"/>
            </a:avLst>
          </a:prstGeom>
          <a:ln w="3175">
            <a:solidFill>
              <a:schemeClr val="bg1">
                <a:lumMod val="85000"/>
                <a:alpha val="40000"/>
              </a:schemeClr>
            </a:solidFill>
          </a:ln>
        </p:spPr>
      </p:pic>
      <p:pic>
        <p:nvPicPr>
          <p:cNvPr id="4" name="图片 3">
            <a:extLst>
              <a:ext uri="{FF2B5EF4-FFF2-40B4-BE49-F238E27FC236}">
                <a16:creationId xmlns:a16="http://schemas.microsoft.com/office/drawing/2014/main" id="{3A59A69A-618D-8C38-236C-056D96C7C5E6}"/>
              </a:ext>
            </a:extLst>
          </p:cNvPr>
          <p:cNvPicPr>
            <a:picLocks noChangeAspect="1"/>
          </p:cNvPicPr>
          <p:nvPr/>
        </p:nvPicPr>
        <p:blipFill>
          <a:blip r:embed="rId3">
            <a:extLst>
              <a:ext uri="{28A0092B-C50C-407E-A947-70E740481C1C}">
                <a14:useLocalDpi xmlns:a14="http://schemas.microsoft.com/office/drawing/2010/main" val="0"/>
              </a:ext>
            </a:extLst>
          </a:blip>
          <a:srcRect t="27" b="27"/>
          <a:stretch/>
        </p:blipFill>
        <p:spPr>
          <a:xfrm>
            <a:off x="4466149" y="1134169"/>
            <a:ext cx="2166170" cy="1620000"/>
          </a:xfrm>
          <a:prstGeom prst="roundRect">
            <a:avLst>
              <a:gd name="adj" fmla="val 4588"/>
            </a:avLst>
          </a:prstGeom>
          <a:ln w="3175">
            <a:solidFill>
              <a:schemeClr val="bg1">
                <a:lumMod val="85000"/>
                <a:alpha val="40000"/>
              </a:schemeClr>
            </a:solidFill>
          </a:ln>
        </p:spPr>
      </p:pic>
      <p:pic>
        <p:nvPicPr>
          <p:cNvPr id="5" name="图片 4">
            <a:extLst>
              <a:ext uri="{FF2B5EF4-FFF2-40B4-BE49-F238E27FC236}">
                <a16:creationId xmlns:a16="http://schemas.microsoft.com/office/drawing/2014/main" id="{06AA24D2-B4D0-E29E-F80F-15AE9A7951BD}"/>
              </a:ext>
            </a:extLst>
          </p:cNvPr>
          <p:cNvPicPr>
            <a:picLocks noChangeAspect="1"/>
          </p:cNvPicPr>
          <p:nvPr/>
        </p:nvPicPr>
        <p:blipFill>
          <a:blip r:embed="rId4">
            <a:extLst>
              <a:ext uri="{28A0092B-C50C-407E-A947-70E740481C1C}">
                <a14:useLocalDpi xmlns:a14="http://schemas.microsoft.com/office/drawing/2010/main" val="0"/>
              </a:ext>
            </a:extLst>
          </a:blip>
          <a:srcRect t="62" b="62"/>
          <a:stretch/>
        </p:blipFill>
        <p:spPr>
          <a:xfrm>
            <a:off x="6718966" y="1134169"/>
            <a:ext cx="2166170" cy="1620000"/>
          </a:xfrm>
          <a:prstGeom prst="roundRect">
            <a:avLst>
              <a:gd name="adj" fmla="val 4588"/>
            </a:avLst>
          </a:prstGeom>
          <a:ln w="3175">
            <a:solidFill>
              <a:schemeClr val="bg1">
                <a:lumMod val="85000"/>
                <a:alpha val="40000"/>
              </a:schemeClr>
            </a:solidFill>
          </a:ln>
        </p:spPr>
      </p:pic>
      <p:pic>
        <p:nvPicPr>
          <p:cNvPr id="6" name="图片 5">
            <a:extLst>
              <a:ext uri="{FF2B5EF4-FFF2-40B4-BE49-F238E27FC236}">
                <a16:creationId xmlns:a16="http://schemas.microsoft.com/office/drawing/2014/main" id="{C78F2DE4-AE9B-5A8C-B006-B3ED943CDEA0}"/>
              </a:ext>
            </a:extLst>
          </p:cNvPr>
          <p:cNvPicPr>
            <a:picLocks noChangeAspect="1"/>
          </p:cNvPicPr>
          <p:nvPr/>
        </p:nvPicPr>
        <p:blipFill>
          <a:blip r:embed="rId5">
            <a:extLst>
              <a:ext uri="{28A0092B-C50C-407E-A947-70E740481C1C}">
                <a14:useLocalDpi xmlns:a14="http://schemas.microsoft.com/office/drawing/2010/main" val="0"/>
              </a:ext>
            </a:extLst>
          </a:blip>
          <a:srcRect l="27" r="27"/>
          <a:stretch/>
        </p:blipFill>
        <p:spPr>
          <a:xfrm>
            <a:off x="8971783" y="1134169"/>
            <a:ext cx="2166170" cy="1620000"/>
          </a:xfrm>
          <a:prstGeom prst="roundRect">
            <a:avLst>
              <a:gd name="adj" fmla="val 4588"/>
            </a:avLst>
          </a:prstGeom>
          <a:ln w="3175">
            <a:solidFill>
              <a:schemeClr val="bg1">
                <a:lumMod val="85000"/>
                <a:alpha val="40000"/>
              </a:schemeClr>
            </a:solidFill>
          </a:ln>
        </p:spPr>
      </p:pic>
      <p:pic>
        <p:nvPicPr>
          <p:cNvPr id="7" name="图片 6">
            <a:extLst>
              <a:ext uri="{FF2B5EF4-FFF2-40B4-BE49-F238E27FC236}">
                <a16:creationId xmlns:a16="http://schemas.microsoft.com/office/drawing/2014/main" id="{B5DC1439-4A9A-8F36-E989-BA58CC78915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213333" y="2818969"/>
            <a:ext cx="2166170" cy="1620000"/>
          </a:xfrm>
          <a:prstGeom prst="roundRect">
            <a:avLst>
              <a:gd name="adj" fmla="val 4588"/>
            </a:avLst>
          </a:prstGeom>
          <a:ln w="3175">
            <a:solidFill>
              <a:schemeClr val="bg1">
                <a:lumMod val="85000"/>
                <a:alpha val="40000"/>
              </a:schemeClr>
            </a:solidFill>
          </a:ln>
        </p:spPr>
      </p:pic>
      <p:pic>
        <p:nvPicPr>
          <p:cNvPr id="8" name="图片 7">
            <a:extLst>
              <a:ext uri="{FF2B5EF4-FFF2-40B4-BE49-F238E27FC236}">
                <a16:creationId xmlns:a16="http://schemas.microsoft.com/office/drawing/2014/main" id="{1B891D7E-3249-5750-F6DB-07BEB5F87A64}"/>
              </a:ext>
            </a:extLst>
          </p:cNvPr>
          <p:cNvPicPr>
            <a:picLocks noChangeAspect="1"/>
          </p:cNvPicPr>
          <p:nvPr/>
        </p:nvPicPr>
        <p:blipFill>
          <a:blip r:embed="rId7">
            <a:extLst>
              <a:ext uri="{28A0092B-C50C-407E-A947-70E740481C1C}">
                <a14:useLocalDpi xmlns:a14="http://schemas.microsoft.com/office/drawing/2010/main" val="0"/>
              </a:ext>
            </a:extLst>
          </a:blip>
          <a:srcRect t="27" b="27"/>
          <a:stretch/>
        </p:blipFill>
        <p:spPr>
          <a:xfrm>
            <a:off x="4466149" y="2818969"/>
            <a:ext cx="2166170" cy="1620000"/>
          </a:xfrm>
          <a:prstGeom prst="roundRect">
            <a:avLst>
              <a:gd name="adj" fmla="val 4588"/>
            </a:avLst>
          </a:prstGeom>
          <a:ln w="3175">
            <a:solidFill>
              <a:schemeClr val="bg1">
                <a:lumMod val="85000"/>
                <a:alpha val="40000"/>
              </a:schemeClr>
            </a:solidFill>
          </a:ln>
        </p:spPr>
      </p:pic>
      <p:pic>
        <p:nvPicPr>
          <p:cNvPr id="9" name="图片 8">
            <a:extLst>
              <a:ext uri="{FF2B5EF4-FFF2-40B4-BE49-F238E27FC236}">
                <a16:creationId xmlns:a16="http://schemas.microsoft.com/office/drawing/2014/main" id="{25A90E3D-39E2-B495-1F24-938EED36BABB}"/>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718966" y="2818969"/>
            <a:ext cx="2166170" cy="1620000"/>
          </a:xfrm>
          <a:prstGeom prst="roundRect">
            <a:avLst>
              <a:gd name="adj" fmla="val 4588"/>
            </a:avLst>
          </a:prstGeom>
          <a:ln w="3175">
            <a:solidFill>
              <a:schemeClr val="bg1">
                <a:lumMod val="85000"/>
                <a:alpha val="40000"/>
              </a:schemeClr>
            </a:solidFill>
          </a:ln>
        </p:spPr>
      </p:pic>
      <p:pic>
        <p:nvPicPr>
          <p:cNvPr id="10" name="图片 9">
            <a:extLst>
              <a:ext uri="{FF2B5EF4-FFF2-40B4-BE49-F238E27FC236}">
                <a16:creationId xmlns:a16="http://schemas.microsoft.com/office/drawing/2014/main" id="{8271CDA2-BF1E-E5F5-9121-E89FAF665F33}"/>
              </a:ext>
            </a:extLst>
          </p:cNvPr>
          <p:cNvPicPr>
            <a:picLocks noChangeAspect="1"/>
          </p:cNvPicPr>
          <p:nvPr/>
        </p:nvPicPr>
        <p:blipFill>
          <a:blip r:embed="rId9">
            <a:extLst>
              <a:ext uri="{28A0092B-C50C-407E-A947-70E740481C1C}">
                <a14:useLocalDpi xmlns:a14="http://schemas.microsoft.com/office/drawing/2010/main" val="0"/>
              </a:ext>
            </a:extLst>
          </a:blip>
          <a:srcRect l="338" r="338"/>
          <a:stretch/>
        </p:blipFill>
        <p:spPr>
          <a:xfrm>
            <a:off x="8971783" y="2818969"/>
            <a:ext cx="2166170" cy="1620000"/>
          </a:xfrm>
          <a:prstGeom prst="roundRect">
            <a:avLst>
              <a:gd name="adj" fmla="val 4588"/>
            </a:avLst>
          </a:prstGeom>
          <a:ln w="3175">
            <a:solidFill>
              <a:schemeClr val="bg1">
                <a:lumMod val="85000"/>
                <a:alpha val="40000"/>
              </a:schemeClr>
            </a:solidFill>
          </a:ln>
        </p:spPr>
      </p:pic>
      <p:pic>
        <p:nvPicPr>
          <p:cNvPr id="11" name="图片 10">
            <a:extLst>
              <a:ext uri="{FF2B5EF4-FFF2-40B4-BE49-F238E27FC236}">
                <a16:creationId xmlns:a16="http://schemas.microsoft.com/office/drawing/2014/main" id="{C0477314-BD16-E20D-481A-8669BFF229BE}"/>
              </a:ext>
            </a:extLst>
          </p:cNvPr>
          <p:cNvPicPr>
            <a:picLocks noChangeAspect="1"/>
          </p:cNvPicPr>
          <p:nvPr/>
        </p:nvPicPr>
        <p:blipFill>
          <a:blip r:embed="rId10">
            <a:extLst>
              <a:ext uri="{28A0092B-C50C-407E-A947-70E740481C1C}">
                <a14:useLocalDpi xmlns:a14="http://schemas.microsoft.com/office/drawing/2010/main" val="0"/>
              </a:ext>
            </a:extLst>
          </a:blip>
          <a:srcRect l="46" r="46"/>
          <a:stretch/>
        </p:blipFill>
        <p:spPr>
          <a:xfrm>
            <a:off x="2213333" y="4503769"/>
            <a:ext cx="2166170" cy="1620000"/>
          </a:xfrm>
          <a:prstGeom prst="roundRect">
            <a:avLst>
              <a:gd name="adj" fmla="val 4588"/>
            </a:avLst>
          </a:prstGeom>
          <a:ln w="3175">
            <a:solidFill>
              <a:schemeClr val="bg1">
                <a:lumMod val="85000"/>
                <a:alpha val="40000"/>
              </a:schemeClr>
            </a:solidFill>
          </a:ln>
        </p:spPr>
      </p:pic>
      <p:pic>
        <p:nvPicPr>
          <p:cNvPr id="12" name="图片 11">
            <a:extLst>
              <a:ext uri="{FF2B5EF4-FFF2-40B4-BE49-F238E27FC236}">
                <a16:creationId xmlns:a16="http://schemas.microsoft.com/office/drawing/2014/main" id="{E51D5655-1080-F38D-8EC6-FE9291F2D8D3}"/>
              </a:ext>
            </a:extLst>
          </p:cNvPr>
          <p:cNvPicPr>
            <a:picLocks noChangeAspect="1"/>
          </p:cNvPicPr>
          <p:nvPr/>
        </p:nvPicPr>
        <p:blipFill>
          <a:blip r:embed="rId11">
            <a:extLst>
              <a:ext uri="{28A0092B-C50C-407E-A947-70E740481C1C}">
                <a14:useLocalDpi xmlns:a14="http://schemas.microsoft.com/office/drawing/2010/main" val="0"/>
              </a:ext>
            </a:extLst>
          </a:blip>
          <a:srcRect l="444" r="444"/>
          <a:stretch/>
        </p:blipFill>
        <p:spPr>
          <a:xfrm>
            <a:off x="4466149" y="4503769"/>
            <a:ext cx="2166170" cy="1620000"/>
          </a:xfrm>
          <a:prstGeom prst="roundRect">
            <a:avLst>
              <a:gd name="adj" fmla="val 4588"/>
            </a:avLst>
          </a:prstGeom>
          <a:ln w="3175">
            <a:solidFill>
              <a:schemeClr val="bg1">
                <a:lumMod val="85000"/>
                <a:alpha val="40000"/>
              </a:schemeClr>
            </a:solidFill>
          </a:ln>
        </p:spPr>
      </p:pic>
      <p:pic>
        <p:nvPicPr>
          <p:cNvPr id="13" name="图片 12">
            <a:extLst>
              <a:ext uri="{FF2B5EF4-FFF2-40B4-BE49-F238E27FC236}">
                <a16:creationId xmlns:a16="http://schemas.microsoft.com/office/drawing/2014/main" id="{F898EC93-191B-6964-DB78-FF9632D24035}"/>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6718966" y="4503769"/>
            <a:ext cx="2166170" cy="1620000"/>
          </a:xfrm>
          <a:prstGeom prst="roundRect">
            <a:avLst>
              <a:gd name="adj" fmla="val 4588"/>
            </a:avLst>
          </a:prstGeom>
          <a:ln w="3175">
            <a:solidFill>
              <a:schemeClr val="bg1">
                <a:lumMod val="85000"/>
                <a:alpha val="40000"/>
              </a:schemeClr>
            </a:solidFill>
          </a:ln>
        </p:spPr>
      </p:pic>
      <p:pic>
        <p:nvPicPr>
          <p:cNvPr id="14" name="图片 13">
            <a:extLst>
              <a:ext uri="{FF2B5EF4-FFF2-40B4-BE49-F238E27FC236}">
                <a16:creationId xmlns:a16="http://schemas.microsoft.com/office/drawing/2014/main" id="{6BC51370-B282-B7C8-0D9D-9339A7B2E396}"/>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8971783" y="4503769"/>
            <a:ext cx="2166170" cy="1620000"/>
          </a:xfrm>
          <a:prstGeom prst="roundRect">
            <a:avLst>
              <a:gd name="adj" fmla="val 4588"/>
            </a:avLst>
          </a:prstGeom>
          <a:ln w="3175">
            <a:solidFill>
              <a:schemeClr val="bg1">
                <a:lumMod val="85000"/>
                <a:alpha val="40000"/>
              </a:schemeClr>
            </a:solidFill>
          </a:ln>
        </p:spPr>
      </p:pic>
    </p:spTree>
    <p:extLst>
      <p:ext uri="{BB962C8B-B14F-4D97-AF65-F5344CB8AC3E}">
        <p14:creationId xmlns:p14="http://schemas.microsoft.com/office/powerpoint/2010/main" val="1502748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F86F29C-846A-31E5-7336-2D6A73FED12E}"/>
              </a:ext>
            </a:extLst>
          </p:cNvPr>
          <p:cNvSpPr>
            <a:spLocks noGrp="1"/>
          </p:cNvSpPr>
          <p:nvPr>
            <p:ph type="body" sz="quarter" idx="12"/>
          </p:nvPr>
        </p:nvSpPr>
        <p:spPr/>
        <p:txBody>
          <a:bodyPr/>
          <a:lstStyle/>
          <a:p>
            <a:r>
              <a:rPr lang="zh-CN" altLang="en-US" dirty="0"/>
              <a:t>折线图一般修饰</a:t>
            </a:r>
          </a:p>
        </p:txBody>
      </p:sp>
      <p:sp>
        <p:nvSpPr>
          <p:cNvPr id="9" name="箭头: 右 8">
            <a:extLst>
              <a:ext uri="{FF2B5EF4-FFF2-40B4-BE49-F238E27FC236}">
                <a16:creationId xmlns:a16="http://schemas.microsoft.com/office/drawing/2014/main" id="{232C76FE-1946-E097-FDA3-1746B131778E}"/>
              </a:ext>
            </a:extLst>
          </p:cNvPr>
          <p:cNvSpPr/>
          <p:nvPr/>
        </p:nvSpPr>
        <p:spPr>
          <a:xfrm>
            <a:off x="6094928" y="4446469"/>
            <a:ext cx="755042" cy="34330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BC36E0CA-C646-9CAE-72D0-87F2CDE58B37}"/>
              </a:ext>
            </a:extLst>
          </p:cNvPr>
          <p:cNvSpPr txBox="1"/>
          <p:nvPr/>
        </p:nvSpPr>
        <p:spPr>
          <a:xfrm>
            <a:off x="1893569" y="988338"/>
            <a:ext cx="2310683" cy="746743"/>
          </a:xfrm>
          <a:prstGeom prst="rect">
            <a:avLst/>
          </a:prstGeom>
          <a:noFill/>
        </p:spPr>
        <p:txBody>
          <a:bodyPr wrap="square" rtlCol="0">
            <a:spAutoFit/>
          </a:bodyPr>
          <a:lstStyle/>
          <a:p>
            <a:pPr>
              <a:lnSpc>
                <a:spcPct val="150000"/>
              </a:lnSpc>
            </a:pPr>
            <a:r>
              <a:rPr lang="zh-CN" altLang="en-US" sz="1600" b="1" dirty="0">
                <a:solidFill>
                  <a:schemeClr val="accent1"/>
                </a:solidFill>
                <a:latin typeface="+mn-ea"/>
              </a:rPr>
              <a:t>一 删除非必要元素  </a:t>
            </a:r>
            <a:endParaRPr lang="en-US" altLang="zh-CN" sz="1600" b="1" dirty="0">
              <a:solidFill>
                <a:schemeClr val="accent1"/>
              </a:solidFill>
              <a:latin typeface="+mn-ea"/>
            </a:endParaRPr>
          </a:p>
          <a:p>
            <a:pPr>
              <a:lnSpc>
                <a:spcPct val="150000"/>
              </a:lnSpc>
            </a:pPr>
            <a:r>
              <a:rPr lang="zh-CN" altLang="en-US" sz="1400" dirty="0">
                <a:latin typeface="+mn-ea"/>
              </a:rPr>
              <a:t>默认标题</a:t>
            </a:r>
            <a:endParaRPr lang="en-US" altLang="zh-CN" sz="1400" dirty="0">
              <a:latin typeface="+mn-ea"/>
            </a:endParaRPr>
          </a:p>
        </p:txBody>
      </p:sp>
      <p:sp>
        <p:nvSpPr>
          <p:cNvPr id="7" name="文本框 6">
            <a:extLst>
              <a:ext uri="{FF2B5EF4-FFF2-40B4-BE49-F238E27FC236}">
                <a16:creationId xmlns:a16="http://schemas.microsoft.com/office/drawing/2014/main" id="{135A026A-7DBB-02F4-4F1A-9AE8AAA653D6}"/>
              </a:ext>
            </a:extLst>
          </p:cNvPr>
          <p:cNvSpPr txBox="1"/>
          <p:nvPr/>
        </p:nvSpPr>
        <p:spPr>
          <a:xfrm>
            <a:off x="4518577" y="942172"/>
            <a:ext cx="3020254" cy="792909"/>
          </a:xfrm>
          <a:prstGeom prst="rect">
            <a:avLst/>
          </a:prstGeom>
          <a:noFill/>
        </p:spPr>
        <p:txBody>
          <a:bodyPr wrap="square">
            <a:spAutoFit/>
          </a:bodyPr>
          <a:lstStyle/>
          <a:p>
            <a:pPr>
              <a:lnSpc>
                <a:spcPct val="150000"/>
              </a:lnSpc>
            </a:pPr>
            <a:r>
              <a:rPr lang="zh-CN" altLang="en-US" sz="1800" b="1" dirty="0">
                <a:solidFill>
                  <a:schemeClr val="accent1"/>
                </a:solidFill>
                <a:latin typeface="+mn-ea"/>
              </a:rPr>
              <a:t>二 添加必要元素      </a:t>
            </a:r>
            <a:endParaRPr lang="en-US" altLang="zh-CN" sz="1800" b="1" dirty="0">
              <a:solidFill>
                <a:schemeClr val="accent1"/>
              </a:solidFill>
              <a:latin typeface="+mn-ea"/>
            </a:endParaRPr>
          </a:p>
          <a:p>
            <a:pPr>
              <a:lnSpc>
                <a:spcPct val="150000"/>
              </a:lnSpc>
            </a:pPr>
            <a:r>
              <a:rPr lang="zh-CN" altLang="en-US" sz="1400" dirty="0">
                <a:latin typeface="+mn-ea"/>
              </a:rPr>
              <a:t>一级标题</a:t>
            </a:r>
            <a:r>
              <a:rPr lang="en-US" altLang="zh-CN" sz="1400" dirty="0">
                <a:latin typeface="+mn-ea"/>
              </a:rPr>
              <a:t>/</a:t>
            </a:r>
            <a:r>
              <a:rPr lang="zh-CN" altLang="en-US" sz="1400" dirty="0">
                <a:latin typeface="+mn-ea"/>
              </a:rPr>
              <a:t>二级标题</a:t>
            </a:r>
            <a:r>
              <a:rPr lang="en-US" altLang="zh-CN" sz="1400" dirty="0">
                <a:latin typeface="+mn-ea"/>
              </a:rPr>
              <a:t>/</a:t>
            </a:r>
            <a:r>
              <a:rPr lang="zh-CN" altLang="en-US" sz="1400" dirty="0">
                <a:latin typeface="+mn-ea"/>
              </a:rPr>
              <a:t>备注</a:t>
            </a:r>
            <a:endParaRPr lang="en-US" altLang="zh-CN" sz="1400" dirty="0">
              <a:latin typeface="+mn-ea"/>
            </a:endParaRPr>
          </a:p>
        </p:txBody>
      </p:sp>
      <p:sp>
        <p:nvSpPr>
          <p:cNvPr id="8" name="文本框 7">
            <a:extLst>
              <a:ext uri="{FF2B5EF4-FFF2-40B4-BE49-F238E27FC236}">
                <a16:creationId xmlns:a16="http://schemas.microsoft.com/office/drawing/2014/main" id="{68F235E9-A23F-38C8-6656-A50D6274B976}"/>
              </a:ext>
            </a:extLst>
          </p:cNvPr>
          <p:cNvSpPr txBox="1"/>
          <p:nvPr/>
        </p:nvSpPr>
        <p:spPr>
          <a:xfrm>
            <a:off x="8110331" y="988338"/>
            <a:ext cx="3270566" cy="1816459"/>
          </a:xfrm>
          <a:prstGeom prst="rect">
            <a:avLst/>
          </a:prstGeom>
          <a:noFill/>
        </p:spPr>
        <p:txBody>
          <a:bodyPr wrap="square">
            <a:spAutoFit/>
          </a:bodyPr>
          <a:lstStyle/>
          <a:p>
            <a:pPr>
              <a:lnSpc>
                <a:spcPct val="150000"/>
              </a:lnSpc>
            </a:pPr>
            <a:r>
              <a:rPr lang="zh-CN" altLang="en-US" b="1" dirty="0">
                <a:solidFill>
                  <a:schemeClr val="accent1"/>
                </a:solidFill>
                <a:latin typeface="+mn-ea"/>
              </a:rPr>
              <a:t>三 修饰图表元素     </a:t>
            </a:r>
            <a:endParaRPr lang="en-US" altLang="zh-CN" b="1" dirty="0">
              <a:solidFill>
                <a:schemeClr val="accent1"/>
              </a:solidFill>
              <a:latin typeface="+mn-ea"/>
            </a:endParaRPr>
          </a:p>
          <a:p>
            <a:pPr>
              <a:lnSpc>
                <a:spcPct val="150000"/>
              </a:lnSpc>
            </a:pPr>
            <a:r>
              <a:rPr lang="zh-CN" altLang="en-US" sz="1400" dirty="0">
                <a:latin typeface="+mn-ea"/>
              </a:rPr>
              <a:t>添加和修饰数据标记</a:t>
            </a:r>
            <a:endParaRPr lang="en-US" altLang="zh-CN" sz="1400" dirty="0">
              <a:latin typeface="+mn-ea"/>
            </a:endParaRPr>
          </a:p>
          <a:p>
            <a:pPr>
              <a:lnSpc>
                <a:spcPct val="150000"/>
              </a:lnSpc>
            </a:pPr>
            <a:r>
              <a:rPr lang="zh-CN" altLang="en-US" sz="1100" dirty="0">
                <a:latin typeface="+mn-ea"/>
              </a:rPr>
              <a:t>数据标记是折线图和散点图独有的图表元素，数据标记可以设置样式也可以插入图片，是折线图经常使用的功能，如果将折线隐藏也可以实现很多较为复杂的图表样式</a:t>
            </a:r>
            <a:endParaRPr lang="zh-CN" altLang="en-US" sz="1600" dirty="0"/>
          </a:p>
        </p:txBody>
      </p:sp>
      <p:pic>
        <p:nvPicPr>
          <p:cNvPr id="12" name="图片 11">
            <a:extLst>
              <a:ext uri="{FF2B5EF4-FFF2-40B4-BE49-F238E27FC236}">
                <a16:creationId xmlns:a16="http://schemas.microsoft.com/office/drawing/2014/main" id="{07EEE707-E251-9251-D656-B8EA9F633A2D}"/>
              </a:ext>
            </a:extLst>
          </p:cNvPr>
          <p:cNvPicPr>
            <a:picLocks noChangeAspect="1"/>
          </p:cNvPicPr>
          <p:nvPr/>
        </p:nvPicPr>
        <p:blipFill>
          <a:blip r:embed="rId2"/>
          <a:stretch>
            <a:fillRect/>
          </a:stretch>
        </p:blipFill>
        <p:spPr>
          <a:xfrm>
            <a:off x="7176730" y="3149771"/>
            <a:ext cx="4249280" cy="3182388"/>
          </a:xfrm>
          <a:prstGeom prst="rect">
            <a:avLst/>
          </a:prstGeom>
        </p:spPr>
      </p:pic>
      <p:pic>
        <p:nvPicPr>
          <p:cNvPr id="13" name="图片 12">
            <a:extLst>
              <a:ext uri="{FF2B5EF4-FFF2-40B4-BE49-F238E27FC236}">
                <a16:creationId xmlns:a16="http://schemas.microsoft.com/office/drawing/2014/main" id="{4A3772DC-3949-1BA5-29C5-87ADD52B7B65}"/>
              </a:ext>
            </a:extLst>
          </p:cNvPr>
          <p:cNvPicPr>
            <a:picLocks noChangeAspect="1"/>
          </p:cNvPicPr>
          <p:nvPr/>
        </p:nvPicPr>
        <p:blipFill>
          <a:blip r:embed="rId3"/>
          <a:stretch>
            <a:fillRect/>
          </a:stretch>
        </p:blipFill>
        <p:spPr>
          <a:xfrm>
            <a:off x="1962320" y="3033021"/>
            <a:ext cx="4066384" cy="3170195"/>
          </a:xfrm>
          <a:prstGeom prst="rect">
            <a:avLst/>
          </a:prstGeom>
        </p:spPr>
      </p:pic>
    </p:spTree>
    <p:extLst>
      <p:ext uri="{BB962C8B-B14F-4D97-AF65-F5344CB8AC3E}">
        <p14:creationId xmlns:p14="http://schemas.microsoft.com/office/powerpoint/2010/main" val="1718315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4BD0CDE-C905-4EFE-40C4-0AAF0DA91928}"/>
              </a:ext>
            </a:extLst>
          </p:cNvPr>
          <p:cNvSpPr>
            <a:spLocks noGrp="1"/>
          </p:cNvSpPr>
          <p:nvPr>
            <p:ph type="body" sz="quarter" idx="12"/>
          </p:nvPr>
        </p:nvSpPr>
        <p:spPr/>
        <p:txBody>
          <a:bodyPr/>
          <a:lstStyle/>
          <a:p>
            <a:r>
              <a:rPr lang="zh-CN" altLang="en-US" dirty="0"/>
              <a:t>组合图</a:t>
            </a:r>
            <a:r>
              <a:rPr lang="en-US" altLang="zh-CN" dirty="0"/>
              <a:t>13</a:t>
            </a:r>
            <a:r>
              <a:rPr lang="zh-CN" altLang="en-US" dirty="0"/>
              <a:t>例</a:t>
            </a:r>
          </a:p>
        </p:txBody>
      </p:sp>
      <p:pic>
        <p:nvPicPr>
          <p:cNvPr id="3" name="图片 2">
            <a:extLst>
              <a:ext uri="{FF2B5EF4-FFF2-40B4-BE49-F238E27FC236}">
                <a16:creationId xmlns:a16="http://schemas.microsoft.com/office/drawing/2014/main" id="{2A73702A-F550-02C0-6703-73679A63D7E9}"/>
              </a:ext>
            </a:extLst>
          </p:cNvPr>
          <p:cNvPicPr preferRelativeResize="0">
            <a:picLocks/>
          </p:cNvPicPr>
          <p:nvPr/>
        </p:nvPicPr>
        <p:blipFill>
          <a:blip r:embed="rId2">
            <a:extLst>
              <a:ext uri="{28A0092B-C50C-407E-A947-70E740481C1C}">
                <a14:useLocalDpi xmlns:a14="http://schemas.microsoft.com/office/drawing/2010/main" val="0"/>
              </a:ext>
            </a:extLst>
          </a:blip>
          <a:srcRect/>
          <a:stretch/>
        </p:blipFill>
        <p:spPr>
          <a:xfrm>
            <a:off x="2019105" y="1084082"/>
            <a:ext cx="2167200" cy="1620000"/>
          </a:xfrm>
          <a:prstGeom prst="roundRect">
            <a:avLst>
              <a:gd name="adj" fmla="val 4588"/>
            </a:avLst>
          </a:prstGeom>
          <a:ln w="3175">
            <a:solidFill>
              <a:schemeClr val="bg1">
                <a:lumMod val="85000"/>
                <a:alpha val="40000"/>
              </a:schemeClr>
            </a:solidFill>
          </a:ln>
        </p:spPr>
      </p:pic>
      <p:pic>
        <p:nvPicPr>
          <p:cNvPr id="4" name="图片 3">
            <a:extLst>
              <a:ext uri="{FF2B5EF4-FFF2-40B4-BE49-F238E27FC236}">
                <a16:creationId xmlns:a16="http://schemas.microsoft.com/office/drawing/2014/main" id="{FB8C7C52-AC96-6C2C-3030-EA5C04C4D55D}"/>
              </a:ext>
            </a:extLst>
          </p:cNvPr>
          <p:cNvPicPr preferRelativeResize="0">
            <a:picLocks/>
          </p:cNvPicPr>
          <p:nvPr/>
        </p:nvPicPr>
        <p:blipFill>
          <a:blip r:embed="rId3">
            <a:extLst>
              <a:ext uri="{28A0092B-C50C-407E-A947-70E740481C1C}">
                <a14:useLocalDpi xmlns:a14="http://schemas.microsoft.com/office/drawing/2010/main" val="0"/>
              </a:ext>
            </a:extLst>
          </a:blip>
          <a:srcRect/>
          <a:stretch/>
        </p:blipFill>
        <p:spPr>
          <a:xfrm>
            <a:off x="4272993" y="1084082"/>
            <a:ext cx="2167200" cy="1620000"/>
          </a:xfrm>
          <a:prstGeom prst="roundRect">
            <a:avLst>
              <a:gd name="adj" fmla="val 4588"/>
            </a:avLst>
          </a:prstGeom>
          <a:ln w="3175">
            <a:solidFill>
              <a:schemeClr val="bg1">
                <a:lumMod val="85000"/>
                <a:alpha val="40000"/>
              </a:schemeClr>
            </a:solidFill>
          </a:ln>
        </p:spPr>
      </p:pic>
      <p:pic>
        <p:nvPicPr>
          <p:cNvPr id="5" name="图片 4">
            <a:extLst>
              <a:ext uri="{FF2B5EF4-FFF2-40B4-BE49-F238E27FC236}">
                <a16:creationId xmlns:a16="http://schemas.microsoft.com/office/drawing/2014/main" id="{FDE255FD-4DE7-9E73-E700-1EACC4C23D85}"/>
              </a:ext>
            </a:extLst>
          </p:cNvPr>
          <p:cNvPicPr preferRelativeResize="0">
            <a:picLocks/>
          </p:cNvPicPr>
          <p:nvPr/>
        </p:nvPicPr>
        <p:blipFill>
          <a:blip r:embed="rId4">
            <a:extLst>
              <a:ext uri="{28A0092B-C50C-407E-A947-70E740481C1C}">
                <a14:useLocalDpi xmlns:a14="http://schemas.microsoft.com/office/drawing/2010/main" val="0"/>
              </a:ext>
            </a:extLst>
          </a:blip>
          <a:srcRect/>
          <a:stretch/>
        </p:blipFill>
        <p:spPr>
          <a:xfrm>
            <a:off x="6526881" y="1084082"/>
            <a:ext cx="2167200" cy="1620000"/>
          </a:xfrm>
          <a:prstGeom prst="roundRect">
            <a:avLst>
              <a:gd name="adj" fmla="val 4588"/>
            </a:avLst>
          </a:prstGeom>
          <a:ln w="3175">
            <a:solidFill>
              <a:schemeClr val="bg1">
                <a:lumMod val="85000"/>
                <a:alpha val="40000"/>
              </a:schemeClr>
            </a:solidFill>
          </a:ln>
        </p:spPr>
      </p:pic>
      <p:pic>
        <p:nvPicPr>
          <p:cNvPr id="6" name="图片 5">
            <a:extLst>
              <a:ext uri="{FF2B5EF4-FFF2-40B4-BE49-F238E27FC236}">
                <a16:creationId xmlns:a16="http://schemas.microsoft.com/office/drawing/2014/main" id="{79736980-710E-615B-7D67-1FB718B84268}"/>
              </a:ext>
            </a:extLst>
          </p:cNvPr>
          <p:cNvPicPr preferRelativeResize="0">
            <a:picLocks/>
          </p:cNvPicPr>
          <p:nvPr/>
        </p:nvPicPr>
        <p:blipFill>
          <a:blip r:embed="rId5">
            <a:extLst>
              <a:ext uri="{28A0092B-C50C-407E-A947-70E740481C1C}">
                <a14:useLocalDpi xmlns:a14="http://schemas.microsoft.com/office/drawing/2010/main" val="0"/>
              </a:ext>
            </a:extLst>
          </a:blip>
          <a:srcRect/>
          <a:stretch/>
        </p:blipFill>
        <p:spPr>
          <a:xfrm>
            <a:off x="8780769" y="1084082"/>
            <a:ext cx="2167200" cy="1620000"/>
          </a:xfrm>
          <a:prstGeom prst="roundRect">
            <a:avLst>
              <a:gd name="adj" fmla="val 4588"/>
            </a:avLst>
          </a:prstGeom>
          <a:ln w="3175">
            <a:solidFill>
              <a:schemeClr val="bg1">
                <a:lumMod val="85000"/>
                <a:alpha val="40000"/>
              </a:schemeClr>
            </a:solidFill>
          </a:ln>
        </p:spPr>
      </p:pic>
      <p:pic>
        <p:nvPicPr>
          <p:cNvPr id="7" name="图片 6">
            <a:extLst>
              <a:ext uri="{FF2B5EF4-FFF2-40B4-BE49-F238E27FC236}">
                <a16:creationId xmlns:a16="http://schemas.microsoft.com/office/drawing/2014/main" id="{DEFB33CC-E588-CE87-F015-E42CA187BDF4}"/>
              </a:ext>
            </a:extLst>
          </p:cNvPr>
          <p:cNvPicPr preferRelativeResize="0">
            <a:picLocks/>
          </p:cNvPicPr>
          <p:nvPr/>
        </p:nvPicPr>
        <p:blipFill>
          <a:blip r:embed="rId6">
            <a:extLst>
              <a:ext uri="{28A0092B-C50C-407E-A947-70E740481C1C}">
                <a14:useLocalDpi xmlns:a14="http://schemas.microsoft.com/office/drawing/2010/main" val="0"/>
              </a:ext>
            </a:extLst>
          </a:blip>
          <a:srcRect/>
          <a:stretch/>
        </p:blipFill>
        <p:spPr>
          <a:xfrm>
            <a:off x="2019105" y="2768882"/>
            <a:ext cx="2167200" cy="1620000"/>
          </a:xfrm>
          <a:prstGeom prst="roundRect">
            <a:avLst>
              <a:gd name="adj" fmla="val 4588"/>
            </a:avLst>
          </a:prstGeom>
          <a:ln w="3175">
            <a:solidFill>
              <a:schemeClr val="bg1">
                <a:lumMod val="85000"/>
                <a:alpha val="40000"/>
              </a:schemeClr>
            </a:solidFill>
          </a:ln>
        </p:spPr>
      </p:pic>
      <p:pic>
        <p:nvPicPr>
          <p:cNvPr id="8" name="图片 7">
            <a:extLst>
              <a:ext uri="{FF2B5EF4-FFF2-40B4-BE49-F238E27FC236}">
                <a16:creationId xmlns:a16="http://schemas.microsoft.com/office/drawing/2014/main" id="{53D5A2C7-20C4-4CF4-F42D-37E9ED09A478}"/>
              </a:ext>
            </a:extLst>
          </p:cNvPr>
          <p:cNvPicPr preferRelativeResize="0">
            <a:picLocks/>
          </p:cNvPicPr>
          <p:nvPr/>
        </p:nvPicPr>
        <p:blipFill>
          <a:blip r:embed="rId7">
            <a:extLst>
              <a:ext uri="{28A0092B-C50C-407E-A947-70E740481C1C}">
                <a14:useLocalDpi xmlns:a14="http://schemas.microsoft.com/office/drawing/2010/main" val="0"/>
              </a:ext>
            </a:extLst>
          </a:blip>
          <a:srcRect t="27" b="27"/>
          <a:stretch/>
        </p:blipFill>
        <p:spPr>
          <a:xfrm>
            <a:off x="4272993" y="2768882"/>
            <a:ext cx="2167200" cy="1620000"/>
          </a:xfrm>
          <a:prstGeom prst="roundRect">
            <a:avLst>
              <a:gd name="adj" fmla="val 4588"/>
            </a:avLst>
          </a:prstGeom>
          <a:ln w="3175">
            <a:solidFill>
              <a:schemeClr val="bg1">
                <a:lumMod val="85000"/>
                <a:alpha val="40000"/>
              </a:schemeClr>
            </a:solidFill>
          </a:ln>
        </p:spPr>
      </p:pic>
      <p:pic>
        <p:nvPicPr>
          <p:cNvPr id="9" name="图片 8">
            <a:extLst>
              <a:ext uri="{FF2B5EF4-FFF2-40B4-BE49-F238E27FC236}">
                <a16:creationId xmlns:a16="http://schemas.microsoft.com/office/drawing/2014/main" id="{A4D7748B-CD3C-BBD2-AA69-2B8A4F0ECC0F}"/>
              </a:ext>
            </a:extLst>
          </p:cNvPr>
          <p:cNvPicPr preferRelativeResize="0">
            <a:picLocks/>
          </p:cNvPicPr>
          <p:nvPr/>
        </p:nvPicPr>
        <p:blipFill>
          <a:blip r:embed="rId8">
            <a:extLst>
              <a:ext uri="{28A0092B-C50C-407E-A947-70E740481C1C}">
                <a14:useLocalDpi xmlns:a14="http://schemas.microsoft.com/office/drawing/2010/main" val="0"/>
              </a:ext>
            </a:extLst>
          </a:blip>
          <a:srcRect l="27" r="27"/>
          <a:stretch/>
        </p:blipFill>
        <p:spPr>
          <a:xfrm>
            <a:off x="6526881" y="2768882"/>
            <a:ext cx="2167200" cy="1620000"/>
          </a:xfrm>
          <a:prstGeom prst="roundRect">
            <a:avLst>
              <a:gd name="adj" fmla="val 4588"/>
            </a:avLst>
          </a:prstGeom>
          <a:ln w="3175">
            <a:solidFill>
              <a:schemeClr val="bg1">
                <a:lumMod val="85000"/>
                <a:alpha val="40000"/>
              </a:schemeClr>
            </a:solidFill>
          </a:ln>
        </p:spPr>
      </p:pic>
      <p:pic>
        <p:nvPicPr>
          <p:cNvPr id="10" name="图片 9">
            <a:extLst>
              <a:ext uri="{FF2B5EF4-FFF2-40B4-BE49-F238E27FC236}">
                <a16:creationId xmlns:a16="http://schemas.microsoft.com/office/drawing/2014/main" id="{802BD905-3173-2287-FEC9-5C4D37FFDDBC}"/>
              </a:ext>
            </a:extLst>
          </p:cNvPr>
          <p:cNvPicPr preferRelativeResize="0">
            <a:picLocks/>
          </p:cNvPicPr>
          <p:nvPr/>
        </p:nvPicPr>
        <p:blipFill>
          <a:blip r:embed="rId9">
            <a:extLst>
              <a:ext uri="{28A0092B-C50C-407E-A947-70E740481C1C}">
                <a14:useLocalDpi xmlns:a14="http://schemas.microsoft.com/office/drawing/2010/main" val="0"/>
              </a:ext>
            </a:extLst>
          </a:blip>
          <a:srcRect l="35" r="35"/>
          <a:stretch/>
        </p:blipFill>
        <p:spPr>
          <a:xfrm>
            <a:off x="8780769" y="2768882"/>
            <a:ext cx="2167200" cy="1620000"/>
          </a:xfrm>
          <a:prstGeom prst="roundRect">
            <a:avLst>
              <a:gd name="adj" fmla="val 4588"/>
            </a:avLst>
          </a:prstGeom>
          <a:ln w="3175">
            <a:solidFill>
              <a:schemeClr val="bg1">
                <a:lumMod val="85000"/>
                <a:alpha val="40000"/>
              </a:schemeClr>
            </a:solidFill>
          </a:ln>
        </p:spPr>
      </p:pic>
      <p:pic>
        <p:nvPicPr>
          <p:cNvPr id="11" name="图片 10">
            <a:extLst>
              <a:ext uri="{FF2B5EF4-FFF2-40B4-BE49-F238E27FC236}">
                <a16:creationId xmlns:a16="http://schemas.microsoft.com/office/drawing/2014/main" id="{76B00450-6293-C8DF-9B67-0FF7AAEF211D}"/>
              </a:ext>
            </a:extLst>
          </p:cNvPr>
          <p:cNvPicPr preferRelativeResize="0">
            <a:picLocks/>
          </p:cNvPicPr>
          <p:nvPr/>
        </p:nvPicPr>
        <p:blipFill>
          <a:blip r:embed="rId10">
            <a:extLst>
              <a:ext uri="{28A0092B-C50C-407E-A947-70E740481C1C}">
                <a14:useLocalDpi xmlns:a14="http://schemas.microsoft.com/office/drawing/2010/main" val="0"/>
              </a:ext>
            </a:extLst>
          </a:blip>
          <a:srcRect t="62" b="62"/>
          <a:stretch/>
        </p:blipFill>
        <p:spPr>
          <a:xfrm>
            <a:off x="2019105" y="4453682"/>
            <a:ext cx="2167200" cy="1620000"/>
          </a:xfrm>
          <a:prstGeom prst="roundRect">
            <a:avLst>
              <a:gd name="adj" fmla="val 4588"/>
            </a:avLst>
          </a:prstGeom>
          <a:ln w="3175">
            <a:solidFill>
              <a:schemeClr val="bg1">
                <a:lumMod val="85000"/>
                <a:alpha val="40000"/>
              </a:schemeClr>
            </a:solidFill>
          </a:ln>
        </p:spPr>
      </p:pic>
      <p:pic>
        <p:nvPicPr>
          <p:cNvPr id="12" name="图片 11">
            <a:extLst>
              <a:ext uri="{FF2B5EF4-FFF2-40B4-BE49-F238E27FC236}">
                <a16:creationId xmlns:a16="http://schemas.microsoft.com/office/drawing/2014/main" id="{666C63B7-B727-D4D8-8028-DC8506CE0105}"/>
              </a:ext>
            </a:extLst>
          </p:cNvPr>
          <p:cNvPicPr preferRelativeResize="0">
            <a:picLocks/>
          </p:cNvPicPr>
          <p:nvPr/>
        </p:nvPicPr>
        <p:blipFill>
          <a:blip r:embed="rId11">
            <a:extLst>
              <a:ext uri="{28A0092B-C50C-407E-A947-70E740481C1C}">
                <a14:useLocalDpi xmlns:a14="http://schemas.microsoft.com/office/drawing/2010/main" val="0"/>
              </a:ext>
            </a:extLst>
          </a:blip>
          <a:srcRect/>
          <a:stretch/>
        </p:blipFill>
        <p:spPr>
          <a:xfrm>
            <a:off x="4272993" y="4453682"/>
            <a:ext cx="2167200" cy="1620000"/>
          </a:xfrm>
          <a:prstGeom prst="roundRect">
            <a:avLst>
              <a:gd name="adj" fmla="val 4588"/>
            </a:avLst>
          </a:prstGeom>
          <a:ln w="3175">
            <a:solidFill>
              <a:schemeClr val="bg1">
                <a:lumMod val="85000"/>
                <a:alpha val="40000"/>
              </a:schemeClr>
            </a:solidFill>
          </a:ln>
        </p:spPr>
      </p:pic>
      <p:pic>
        <p:nvPicPr>
          <p:cNvPr id="13" name="图片 12">
            <a:extLst>
              <a:ext uri="{FF2B5EF4-FFF2-40B4-BE49-F238E27FC236}">
                <a16:creationId xmlns:a16="http://schemas.microsoft.com/office/drawing/2014/main" id="{0D83DB0C-A39D-D64B-3048-CB2650A3D7BB}"/>
              </a:ext>
            </a:extLst>
          </p:cNvPr>
          <p:cNvPicPr preferRelativeResize="0">
            <a:picLocks/>
          </p:cNvPicPr>
          <p:nvPr/>
        </p:nvPicPr>
        <p:blipFill>
          <a:blip r:embed="rId12">
            <a:extLst>
              <a:ext uri="{28A0092B-C50C-407E-A947-70E740481C1C}">
                <a14:useLocalDpi xmlns:a14="http://schemas.microsoft.com/office/drawing/2010/main" val="0"/>
              </a:ext>
            </a:extLst>
          </a:blip>
          <a:srcRect/>
          <a:stretch/>
        </p:blipFill>
        <p:spPr>
          <a:xfrm>
            <a:off x="6526881" y="4453682"/>
            <a:ext cx="2167200" cy="1620000"/>
          </a:xfrm>
          <a:prstGeom prst="roundRect">
            <a:avLst>
              <a:gd name="adj" fmla="val 4588"/>
            </a:avLst>
          </a:prstGeom>
          <a:ln w="3175">
            <a:solidFill>
              <a:schemeClr val="bg1">
                <a:lumMod val="85000"/>
                <a:alpha val="40000"/>
              </a:schemeClr>
            </a:solidFill>
          </a:ln>
        </p:spPr>
      </p:pic>
      <p:pic>
        <p:nvPicPr>
          <p:cNvPr id="14" name="图片 13">
            <a:extLst>
              <a:ext uri="{FF2B5EF4-FFF2-40B4-BE49-F238E27FC236}">
                <a16:creationId xmlns:a16="http://schemas.microsoft.com/office/drawing/2014/main" id="{74FECC18-6715-99BC-4FA6-6595322E0A84}"/>
              </a:ext>
            </a:extLst>
          </p:cNvPr>
          <p:cNvPicPr preferRelativeResize="0">
            <a:picLocks/>
          </p:cNvPicPr>
          <p:nvPr/>
        </p:nvPicPr>
        <p:blipFill>
          <a:blip r:embed="rId13">
            <a:extLst>
              <a:ext uri="{28A0092B-C50C-407E-A947-70E740481C1C}">
                <a14:useLocalDpi xmlns:a14="http://schemas.microsoft.com/office/drawing/2010/main" val="0"/>
              </a:ext>
            </a:extLst>
          </a:blip>
          <a:srcRect/>
          <a:stretch/>
        </p:blipFill>
        <p:spPr>
          <a:xfrm>
            <a:off x="8780769" y="4453682"/>
            <a:ext cx="2167200" cy="1620000"/>
          </a:xfrm>
          <a:prstGeom prst="roundRect">
            <a:avLst>
              <a:gd name="adj" fmla="val 4588"/>
            </a:avLst>
          </a:prstGeom>
          <a:ln w="3175">
            <a:solidFill>
              <a:schemeClr val="bg1">
                <a:lumMod val="85000"/>
                <a:alpha val="40000"/>
              </a:schemeClr>
            </a:solidFill>
          </a:ln>
        </p:spPr>
      </p:pic>
    </p:spTree>
    <p:extLst>
      <p:ext uri="{BB962C8B-B14F-4D97-AF65-F5344CB8AC3E}">
        <p14:creationId xmlns:p14="http://schemas.microsoft.com/office/powerpoint/2010/main" val="3880383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14">
            <a:extLst>
              <a:ext uri="{FF2B5EF4-FFF2-40B4-BE49-F238E27FC236}">
                <a16:creationId xmlns:a16="http://schemas.microsoft.com/office/drawing/2014/main" id="{3442DA94-D7F4-2AC5-2AA4-5D116BC95CC2}"/>
              </a:ext>
            </a:extLst>
          </p:cNvPr>
          <p:cNvPicPr>
            <a:picLocks noChangeAspect="1"/>
          </p:cNvPicPr>
          <p:nvPr/>
        </p:nvPicPr>
        <p:blipFill>
          <a:blip r:embed="rId2">
            <a:extLst>
              <a:ext uri="{28A0092B-C50C-407E-A947-70E740481C1C}">
                <a14:useLocalDpi xmlns:a14="http://schemas.microsoft.com/office/drawing/2010/main" val="0"/>
              </a:ext>
            </a:extLst>
          </a:blip>
          <a:srcRect t="28917" b="28917"/>
          <a:stretch>
            <a:fillRect/>
          </a:stretch>
        </p:blipFill>
        <p:spPr>
          <a:xfrm>
            <a:off x="1893569" y="1094936"/>
            <a:ext cx="9674317" cy="2720902"/>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p:spPr>
      </p:pic>
      <p:sp>
        <p:nvSpPr>
          <p:cNvPr id="5" name="矩形: 圆角 4">
            <a:extLst>
              <a:ext uri="{FF2B5EF4-FFF2-40B4-BE49-F238E27FC236}">
                <a16:creationId xmlns:a16="http://schemas.microsoft.com/office/drawing/2014/main" id="{DD6C97D4-80D6-5E27-5902-755A5A86D229}"/>
              </a:ext>
            </a:extLst>
          </p:cNvPr>
          <p:cNvSpPr/>
          <p:nvPr/>
        </p:nvSpPr>
        <p:spPr>
          <a:xfrm>
            <a:off x="1940685" y="2484934"/>
            <a:ext cx="2864485" cy="3443194"/>
          </a:xfrm>
          <a:prstGeom prst="roundRect">
            <a:avLst>
              <a:gd name="adj" fmla="val 450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矩形: 圆角 5">
            <a:extLst>
              <a:ext uri="{FF2B5EF4-FFF2-40B4-BE49-F238E27FC236}">
                <a16:creationId xmlns:a16="http://schemas.microsoft.com/office/drawing/2014/main" id="{6107E449-B04E-525B-A859-F5F329E2C51E}"/>
              </a:ext>
            </a:extLst>
          </p:cNvPr>
          <p:cNvSpPr/>
          <p:nvPr/>
        </p:nvSpPr>
        <p:spPr>
          <a:xfrm>
            <a:off x="5271291" y="2484934"/>
            <a:ext cx="2845562" cy="3443194"/>
          </a:xfrm>
          <a:prstGeom prst="roundRect">
            <a:avLst>
              <a:gd name="adj" fmla="val 450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矩形: 圆角 6">
            <a:extLst>
              <a:ext uri="{FF2B5EF4-FFF2-40B4-BE49-F238E27FC236}">
                <a16:creationId xmlns:a16="http://schemas.microsoft.com/office/drawing/2014/main" id="{2AB411F7-F73C-B96F-49AC-56B1E03C4FAC}"/>
              </a:ext>
            </a:extLst>
          </p:cNvPr>
          <p:cNvSpPr/>
          <p:nvPr/>
        </p:nvSpPr>
        <p:spPr>
          <a:xfrm>
            <a:off x="8582974" y="2484934"/>
            <a:ext cx="2941258" cy="3443194"/>
          </a:xfrm>
          <a:prstGeom prst="roundRect">
            <a:avLst>
              <a:gd name="adj" fmla="val 450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文本框 7">
            <a:extLst>
              <a:ext uri="{FF2B5EF4-FFF2-40B4-BE49-F238E27FC236}">
                <a16:creationId xmlns:a16="http://schemas.microsoft.com/office/drawing/2014/main" id="{6099AEF3-F3FE-AF26-EF76-83CCB032E2AF}"/>
              </a:ext>
            </a:extLst>
          </p:cNvPr>
          <p:cNvSpPr txBox="1"/>
          <p:nvPr/>
        </p:nvSpPr>
        <p:spPr>
          <a:xfrm>
            <a:off x="8712107" y="3078466"/>
            <a:ext cx="2682992" cy="2256130"/>
          </a:xfrm>
          <a:prstGeom prst="rect">
            <a:avLst/>
          </a:prstGeom>
          <a:noFill/>
        </p:spPr>
        <p:txBody>
          <a:bodyPr wrap="square">
            <a:spAutoFit/>
          </a:bodyPr>
          <a:lstStyle/>
          <a:p>
            <a:pPr algn="just">
              <a:lnSpc>
                <a:spcPct val="200000"/>
              </a:lnSpc>
            </a:pPr>
            <a:r>
              <a:rPr lang="zh-CN" altLang="en-US" sz="1200" kern="100" dirty="0">
                <a:effectLst/>
                <a:latin typeface="+mn-ea"/>
                <a:cs typeface="Times New Roman" panose="02020603050405020304" pitchFamily="18" charset="0"/>
              </a:rPr>
              <a:t>使用图表展示数据的目的是让用户可以更加直观的通过汇报看到数据的变化，趋势以以及关系，选择合适的图表是前提，通过简单的形状也可能达到同样的效果，避免只局限于数据图表。</a:t>
            </a:r>
            <a:endParaRPr lang="zh-CN" altLang="zh-CN" sz="1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A880BE50-7A25-8AE7-23F0-23C30C18BB95}"/>
              </a:ext>
            </a:extLst>
          </p:cNvPr>
          <p:cNvSpPr txBox="1"/>
          <p:nvPr/>
        </p:nvSpPr>
        <p:spPr>
          <a:xfrm>
            <a:off x="2134091" y="2643466"/>
            <a:ext cx="1858465" cy="369332"/>
          </a:xfrm>
          <a:prstGeom prst="rect">
            <a:avLst/>
          </a:prstGeom>
          <a:noFill/>
        </p:spPr>
        <p:txBody>
          <a:bodyPr wrap="square" rtlCol="0">
            <a:spAutoFit/>
          </a:bodyPr>
          <a:lstStyle/>
          <a:p>
            <a:r>
              <a:rPr lang="en-US" altLang="zh-CN" b="1" dirty="0">
                <a:solidFill>
                  <a:schemeClr val="bg1"/>
                </a:solidFill>
                <a:latin typeface="+mn-ea"/>
              </a:rPr>
              <a:t>01 </a:t>
            </a:r>
            <a:r>
              <a:rPr lang="zh-CN" altLang="en-US" b="1" dirty="0">
                <a:solidFill>
                  <a:schemeClr val="bg1"/>
                </a:solidFill>
                <a:latin typeface="+mn-ea"/>
              </a:rPr>
              <a:t>合理配色</a:t>
            </a:r>
          </a:p>
        </p:txBody>
      </p:sp>
      <p:sp>
        <p:nvSpPr>
          <p:cNvPr id="10" name="文本框 9">
            <a:extLst>
              <a:ext uri="{FF2B5EF4-FFF2-40B4-BE49-F238E27FC236}">
                <a16:creationId xmlns:a16="http://schemas.microsoft.com/office/drawing/2014/main" id="{677B02E5-8FF1-5339-5160-DA99E4328F12}"/>
              </a:ext>
            </a:extLst>
          </p:cNvPr>
          <p:cNvSpPr txBox="1"/>
          <p:nvPr/>
        </p:nvSpPr>
        <p:spPr>
          <a:xfrm>
            <a:off x="2117595" y="3157589"/>
            <a:ext cx="2365879" cy="1883272"/>
          </a:xfrm>
          <a:prstGeom prst="rect">
            <a:avLst/>
          </a:prstGeom>
          <a:noFill/>
        </p:spPr>
        <p:txBody>
          <a:bodyPr wrap="square">
            <a:spAutoFit/>
          </a:bodyPr>
          <a:lstStyle/>
          <a:p>
            <a:pPr algn="just">
              <a:lnSpc>
                <a:spcPct val="200000"/>
              </a:lnSpc>
            </a:pPr>
            <a:r>
              <a:rPr lang="zh-CN" altLang="en-US" sz="1200" kern="100" dirty="0">
                <a:effectLst/>
                <a:latin typeface="+mn-ea"/>
                <a:cs typeface="Times New Roman" panose="02020603050405020304" pitchFamily="18" charset="0"/>
              </a:rPr>
              <a:t>配色是图给人的第一印象，一般报告中都会有报告的主题色，制作图表过程中也需要参考同样的配色，可以使用相近色或者渐变色来展示不同的类别。</a:t>
            </a:r>
            <a:endParaRPr lang="en-US" altLang="zh-CN" sz="1200" kern="100" dirty="0">
              <a:effectLst/>
              <a:latin typeface="+mn-ea"/>
              <a:cs typeface="Times New Roman" panose="02020603050405020304" pitchFamily="18" charset="0"/>
            </a:endParaRPr>
          </a:p>
        </p:txBody>
      </p:sp>
      <p:sp>
        <p:nvSpPr>
          <p:cNvPr id="11" name="文本框 10">
            <a:extLst>
              <a:ext uri="{FF2B5EF4-FFF2-40B4-BE49-F238E27FC236}">
                <a16:creationId xmlns:a16="http://schemas.microsoft.com/office/drawing/2014/main" id="{75EF7B68-1F0B-8D07-31FE-DDC0373F6C0B}"/>
              </a:ext>
            </a:extLst>
          </p:cNvPr>
          <p:cNvSpPr txBox="1"/>
          <p:nvPr/>
        </p:nvSpPr>
        <p:spPr>
          <a:xfrm>
            <a:off x="5394620" y="3157589"/>
            <a:ext cx="2502573" cy="2252604"/>
          </a:xfrm>
          <a:prstGeom prst="rect">
            <a:avLst/>
          </a:prstGeom>
          <a:noFill/>
        </p:spPr>
        <p:txBody>
          <a:bodyPr wrap="square">
            <a:spAutoFit/>
          </a:bodyPr>
          <a:lstStyle/>
          <a:p>
            <a:pPr algn="just">
              <a:lnSpc>
                <a:spcPct val="200000"/>
              </a:lnSpc>
            </a:pPr>
            <a:r>
              <a:rPr lang="zh-CN" altLang="en-US" sz="1200" kern="100" dirty="0">
                <a:effectLst/>
                <a:latin typeface="+mn-ea"/>
                <a:cs typeface="Times New Roman" panose="02020603050405020304" pitchFamily="18" charset="0"/>
              </a:rPr>
              <a:t>图表并非越复杂越好，图表属于报告中的一部分，在制作报告过程中需要考虑受众，如果受众对数据敏感，熟悉常用图表，可以根据需要将更多信息通过图表展示，否则图表只要保证基本功能即可。</a:t>
            </a:r>
            <a:endParaRPr lang="zh-CN" altLang="zh-CN" sz="1200" kern="100" dirty="0">
              <a:effectLst/>
              <a:latin typeface="+mn-ea"/>
              <a:cs typeface="Times New Roman" panose="02020603050405020304" pitchFamily="18" charset="0"/>
            </a:endParaRPr>
          </a:p>
        </p:txBody>
      </p:sp>
      <p:sp>
        <p:nvSpPr>
          <p:cNvPr id="12" name="文本框 11">
            <a:extLst>
              <a:ext uri="{FF2B5EF4-FFF2-40B4-BE49-F238E27FC236}">
                <a16:creationId xmlns:a16="http://schemas.microsoft.com/office/drawing/2014/main" id="{D170A158-BAFB-D77F-7D97-6583E579744B}"/>
              </a:ext>
            </a:extLst>
          </p:cNvPr>
          <p:cNvSpPr txBox="1"/>
          <p:nvPr/>
        </p:nvSpPr>
        <p:spPr>
          <a:xfrm>
            <a:off x="5472181" y="2616919"/>
            <a:ext cx="1858465" cy="369332"/>
          </a:xfrm>
          <a:prstGeom prst="rect">
            <a:avLst/>
          </a:prstGeom>
          <a:noFill/>
        </p:spPr>
        <p:txBody>
          <a:bodyPr wrap="square" rtlCol="0">
            <a:spAutoFit/>
          </a:bodyPr>
          <a:lstStyle/>
          <a:p>
            <a:r>
              <a:rPr lang="en-US" altLang="zh-CN" b="1" dirty="0">
                <a:solidFill>
                  <a:schemeClr val="bg1"/>
                </a:solidFill>
                <a:latin typeface="+mn-ea"/>
              </a:rPr>
              <a:t>02 </a:t>
            </a:r>
            <a:r>
              <a:rPr lang="zh-CN" altLang="en-US" b="1" dirty="0">
                <a:solidFill>
                  <a:schemeClr val="bg1"/>
                </a:solidFill>
                <a:latin typeface="+mn-ea"/>
              </a:rPr>
              <a:t>简约图表</a:t>
            </a:r>
          </a:p>
        </p:txBody>
      </p:sp>
      <p:sp>
        <p:nvSpPr>
          <p:cNvPr id="13" name="文本框 12">
            <a:extLst>
              <a:ext uri="{FF2B5EF4-FFF2-40B4-BE49-F238E27FC236}">
                <a16:creationId xmlns:a16="http://schemas.microsoft.com/office/drawing/2014/main" id="{575685C4-6620-8E27-76E2-5204D136B25B}"/>
              </a:ext>
            </a:extLst>
          </p:cNvPr>
          <p:cNvSpPr txBox="1"/>
          <p:nvPr/>
        </p:nvSpPr>
        <p:spPr>
          <a:xfrm>
            <a:off x="8837791" y="2625152"/>
            <a:ext cx="1858465" cy="369332"/>
          </a:xfrm>
          <a:prstGeom prst="rect">
            <a:avLst/>
          </a:prstGeom>
          <a:noFill/>
        </p:spPr>
        <p:txBody>
          <a:bodyPr wrap="square" rtlCol="0">
            <a:spAutoFit/>
          </a:bodyPr>
          <a:lstStyle/>
          <a:p>
            <a:r>
              <a:rPr lang="en-US" altLang="zh-CN" b="1" dirty="0">
                <a:solidFill>
                  <a:schemeClr val="bg1"/>
                </a:solidFill>
                <a:latin typeface="+mn-ea"/>
              </a:rPr>
              <a:t>03 </a:t>
            </a:r>
            <a:r>
              <a:rPr lang="zh-CN" altLang="en-US" b="1" dirty="0">
                <a:solidFill>
                  <a:schemeClr val="bg1"/>
                </a:solidFill>
                <a:latin typeface="+mn-ea"/>
              </a:rPr>
              <a:t>传递信息</a:t>
            </a:r>
          </a:p>
        </p:txBody>
      </p:sp>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正确的设计图表</a:t>
            </a:r>
            <a:endParaRPr lang="en-US" dirty="0">
              <a:latin typeface="+mn-lt"/>
              <a:ea typeface="+mn-ea"/>
              <a:cs typeface="+mn-ea"/>
              <a:sym typeface="+mn-lt"/>
            </a:endParaRPr>
          </a:p>
        </p:txBody>
      </p:sp>
    </p:spTree>
    <p:extLst>
      <p:ext uri="{BB962C8B-B14F-4D97-AF65-F5344CB8AC3E}">
        <p14:creationId xmlns:p14="http://schemas.microsoft.com/office/powerpoint/2010/main" val="234721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C502458-7C72-E99E-AF31-4CA8ED350AE5}"/>
              </a:ext>
            </a:extLst>
          </p:cNvPr>
          <p:cNvSpPr>
            <a:spLocks noGrp="1"/>
          </p:cNvSpPr>
          <p:nvPr>
            <p:ph type="body" sz="quarter" idx="12"/>
          </p:nvPr>
        </p:nvSpPr>
        <p:spPr/>
        <p:txBody>
          <a:bodyPr/>
          <a:lstStyle/>
          <a:p>
            <a:r>
              <a:rPr lang="zh-CN" altLang="en-US" dirty="0">
                <a:latin typeface="+mn-lt"/>
                <a:ea typeface="+mn-ea"/>
                <a:cs typeface="+mn-ea"/>
                <a:sym typeface="+mn-lt"/>
              </a:rPr>
              <a:t>正确的设计图表</a:t>
            </a:r>
            <a:endParaRPr lang="en-US" dirty="0">
              <a:latin typeface="+mn-lt"/>
              <a:ea typeface="+mn-ea"/>
              <a:cs typeface="+mn-ea"/>
              <a:sym typeface="+mn-lt"/>
            </a:endParaRPr>
          </a:p>
        </p:txBody>
      </p:sp>
      <p:sp>
        <p:nvSpPr>
          <p:cNvPr id="4" name="文本框 13">
            <a:extLst>
              <a:ext uri="{FF2B5EF4-FFF2-40B4-BE49-F238E27FC236}">
                <a16:creationId xmlns:a16="http://schemas.microsoft.com/office/drawing/2014/main" id="{028E435A-B864-CA72-37DB-6B32BCAFD99E}"/>
              </a:ext>
            </a:extLst>
          </p:cNvPr>
          <p:cNvSpPr txBox="1">
            <a:spLocks noChangeArrowheads="1"/>
          </p:cNvSpPr>
          <p:nvPr/>
        </p:nvSpPr>
        <p:spPr bwMode="auto">
          <a:xfrm>
            <a:off x="4324350" y="2640436"/>
            <a:ext cx="3962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dirty="0">
                <a:solidFill>
                  <a:srgbClr val="1357AE"/>
                </a:solidFill>
                <a:latin typeface="华文中宋" panose="02010600040101010101" pitchFamily="2" charset="-122"/>
                <a:ea typeface="华文中宋" panose="02010600040101010101" pitchFamily="2" charset="-122"/>
              </a:rPr>
              <a:t>图表设计初衷</a:t>
            </a:r>
          </a:p>
        </p:txBody>
      </p:sp>
      <p:grpSp>
        <p:nvGrpSpPr>
          <p:cNvPr id="14" name="组 14">
            <a:extLst>
              <a:ext uri="{FF2B5EF4-FFF2-40B4-BE49-F238E27FC236}">
                <a16:creationId xmlns:a16="http://schemas.microsoft.com/office/drawing/2014/main" id="{4F4AB01A-B943-7AA1-97EB-C24D6BF5F21D}"/>
              </a:ext>
            </a:extLst>
          </p:cNvPr>
          <p:cNvGrpSpPr>
            <a:grpSpLocks/>
          </p:cNvGrpSpPr>
          <p:nvPr/>
        </p:nvGrpSpPr>
        <p:grpSpPr bwMode="auto">
          <a:xfrm>
            <a:off x="6305550" y="1997528"/>
            <a:ext cx="247650" cy="2633663"/>
            <a:chOff x="6023870" y="2335313"/>
            <a:chExt cx="0" cy="1941583"/>
          </a:xfrm>
        </p:grpSpPr>
        <p:cxnSp>
          <p:nvCxnSpPr>
            <p:cNvPr id="15" name="直接连接符 226">
              <a:extLst>
                <a:ext uri="{FF2B5EF4-FFF2-40B4-BE49-F238E27FC236}">
                  <a16:creationId xmlns:a16="http://schemas.microsoft.com/office/drawing/2014/main" id="{4B023D6E-29B1-BBD7-1105-21B39DE57BE6}"/>
                </a:ext>
              </a:extLst>
            </p:cNvPr>
            <p:cNvCxnSpPr/>
            <p:nvPr/>
          </p:nvCxnSpPr>
          <p:spPr>
            <a:xfrm>
              <a:off x="6023870" y="2335313"/>
              <a:ext cx="0" cy="225875"/>
            </a:xfrm>
            <a:prstGeom prst="line">
              <a:avLst/>
            </a:prstGeom>
            <a:ln>
              <a:solidFill>
                <a:srgbClr val="1357AE"/>
              </a:solidFill>
            </a:ln>
          </p:spPr>
          <p:style>
            <a:lnRef idx="1">
              <a:schemeClr val="accent1"/>
            </a:lnRef>
            <a:fillRef idx="0">
              <a:schemeClr val="accent1"/>
            </a:fillRef>
            <a:effectRef idx="0">
              <a:schemeClr val="accent1"/>
            </a:effectRef>
            <a:fontRef idx="minor">
              <a:schemeClr val="tx1"/>
            </a:fontRef>
          </p:style>
        </p:cxnSp>
        <p:cxnSp>
          <p:nvCxnSpPr>
            <p:cNvPr id="16" name="直接连接符 227">
              <a:extLst>
                <a:ext uri="{FF2B5EF4-FFF2-40B4-BE49-F238E27FC236}">
                  <a16:creationId xmlns:a16="http://schemas.microsoft.com/office/drawing/2014/main" id="{07DF66D2-031B-F965-2CED-9C05E3437C58}"/>
                </a:ext>
              </a:extLst>
            </p:cNvPr>
            <p:cNvCxnSpPr/>
            <p:nvPr/>
          </p:nvCxnSpPr>
          <p:spPr>
            <a:xfrm>
              <a:off x="6023870" y="4052192"/>
              <a:ext cx="0" cy="224704"/>
            </a:xfrm>
            <a:prstGeom prst="line">
              <a:avLst/>
            </a:prstGeom>
            <a:ln>
              <a:solidFill>
                <a:srgbClr val="1357AE"/>
              </a:solidFill>
            </a:ln>
          </p:spPr>
          <p:style>
            <a:lnRef idx="1">
              <a:schemeClr val="accent1"/>
            </a:lnRef>
            <a:fillRef idx="0">
              <a:schemeClr val="accent1"/>
            </a:fillRef>
            <a:effectRef idx="0">
              <a:schemeClr val="accent1"/>
            </a:effectRef>
            <a:fontRef idx="minor">
              <a:schemeClr val="tx1"/>
            </a:fontRef>
          </p:style>
        </p:cxnSp>
      </p:grpSp>
      <p:sp>
        <p:nvSpPr>
          <p:cNvPr id="17" name="文本框 17">
            <a:extLst>
              <a:ext uri="{FF2B5EF4-FFF2-40B4-BE49-F238E27FC236}">
                <a16:creationId xmlns:a16="http://schemas.microsoft.com/office/drawing/2014/main" id="{777B04E3-64D5-3962-F699-ED665209C74A}"/>
              </a:ext>
            </a:extLst>
          </p:cNvPr>
          <p:cNvSpPr txBox="1">
            <a:spLocks noChangeArrowheads="1"/>
          </p:cNvSpPr>
          <p:nvPr/>
        </p:nvSpPr>
        <p:spPr bwMode="auto">
          <a:xfrm>
            <a:off x="5143749" y="3098693"/>
            <a:ext cx="23023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dist" eaLnBrk="1" hangingPunct="1"/>
            <a:r>
              <a:rPr kumimoji="1" lang="zh-CN" altLang="en-US" sz="3200" dirty="0">
                <a:solidFill>
                  <a:srgbClr val="1357AE"/>
                </a:solidFill>
                <a:latin typeface="华文中宋" panose="02010600040101010101" pitchFamily="2" charset="-122"/>
                <a:ea typeface="华文中宋" panose="02010600040101010101" pitchFamily="2" charset="-122"/>
              </a:rPr>
              <a:t>以受众为主</a:t>
            </a:r>
          </a:p>
        </p:txBody>
      </p:sp>
    </p:spTree>
    <p:extLst>
      <p:ext uri="{BB962C8B-B14F-4D97-AF65-F5344CB8AC3E}">
        <p14:creationId xmlns:p14="http://schemas.microsoft.com/office/powerpoint/2010/main" val="1969569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图片 5">
            <a:extLst>
              <a:ext uri="{FF2B5EF4-FFF2-40B4-BE49-F238E27FC236}">
                <a16:creationId xmlns:a16="http://schemas.microsoft.com/office/drawing/2014/main" id="{FDF54EF9-42BF-9459-068D-EE792F6510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9163" y="508000"/>
            <a:ext cx="74803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772" name="组合 13">
            <a:extLst>
              <a:ext uri="{FF2B5EF4-FFF2-40B4-BE49-F238E27FC236}">
                <a16:creationId xmlns:a16="http://schemas.microsoft.com/office/drawing/2014/main" id="{AA5B98AB-7EBE-7BAD-0D02-698774299F22}"/>
              </a:ext>
            </a:extLst>
          </p:cNvPr>
          <p:cNvGrpSpPr>
            <a:grpSpLocks noChangeAspect="1"/>
          </p:cNvGrpSpPr>
          <p:nvPr/>
        </p:nvGrpSpPr>
        <p:grpSpPr bwMode="auto">
          <a:xfrm>
            <a:off x="5605463" y="2808288"/>
            <a:ext cx="6777037" cy="4229100"/>
            <a:chOff x="0" y="0"/>
            <a:chExt cx="5324473" cy="3322983"/>
          </a:xfrm>
        </p:grpSpPr>
        <p:pic>
          <p:nvPicPr>
            <p:cNvPr id="32783" name="图片 11">
              <a:extLst>
                <a:ext uri="{FF2B5EF4-FFF2-40B4-BE49-F238E27FC236}">
                  <a16:creationId xmlns:a16="http://schemas.microsoft.com/office/drawing/2014/main" id="{C0E71B12-8C9F-AA94-1A76-62010FB5E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040"/>
            <a:stretch>
              <a:fillRect/>
            </a:stretch>
          </p:blipFill>
          <p:spPr bwMode="auto">
            <a:xfrm>
              <a:off x="6344" y="0"/>
              <a:ext cx="5318129" cy="1642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4" name="图片 12">
              <a:extLst>
                <a:ext uri="{FF2B5EF4-FFF2-40B4-BE49-F238E27FC236}">
                  <a16:creationId xmlns:a16="http://schemas.microsoft.com/office/drawing/2014/main" id="{2CB029A4-0459-0CC5-B3E0-91C791A15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33" r="2628"/>
            <a:stretch>
              <a:fillRect/>
            </a:stretch>
          </p:blipFill>
          <p:spPr bwMode="auto">
            <a:xfrm>
              <a:off x="0" y="1632435"/>
              <a:ext cx="5178427" cy="169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文本框 1">
            <a:extLst>
              <a:ext uri="{FF2B5EF4-FFF2-40B4-BE49-F238E27FC236}">
                <a16:creationId xmlns:a16="http://schemas.microsoft.com/office/drawing/2014/main" id="{FF130CA9-E3AF-FD69-F78A-6174B7F702B5}"/>
              </a:ext>
            </a:extLst>
          </p:cNvPr>
          <p:cNvSpPr txBox="1"/>
          <p:nvPr/>
        </p:nvSpPr>
        <p:spPr>
          <a:xfrm>
            <a:off x="2097227" y="2228671"/>
            <a:ext cx="8236086" cy="1200329"/>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7200"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rPr>
              <a:t>感谢您的观看</a:t>
            </a:r>
          </a:p>
        </p:txBody>
      </p:sp>
    </p:spTree>
    <p:extLst>
      <p:ext uri="{BB962C8B-B14F-4D97-AF65-F5344CB8AC3E}">
        <p14:creationId xmlns:p14="http://schemas.microsoft.com/office/powerpoint/2010/main" val="615431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6960c08c-bf5f-437d-a6fb-51546288da22&quot;,&quot;Name&quot;:null,&quot;Kind&quot;:1,&quot;OldGuidesSetting&quot;:{&quot;HeaderHeight&quot;:0.0,&quot;FooterHeight&quot;:0.0,&quot;SideMargin&quot;:0.0,&quot;TopMargin&quot;:0.0,&quot;BottomMargin&quot;:0.0,&quot;IntervalMargin&quot;:0.0}}"/>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浅色通用模板">
      <a:dk1>
        <a:sysClr val="windowText" lastClr="000000"/>
      </a:dk1>
      <a:lt1>
        <a:sysClr val="window" lastClr="FFFFFF"/>
      </a:lt1>
      <a:dk2>
        <a:srgbClr val="44546A"/>
      </a:dk2>
      <a:lt2>
        <a:srgbClr val="E7E6E6"/>
      </a:lt2>
      <a:accent1>
        <a:srgbClr val="247ADE"/>
      </a:accent1>
      <a:accent2>
        <a:srgbClr val="69CB91"/>
      </a:accent2>
      <a:accent3>
        <a:srgbClr val="F6BD16"/>
      </a:accent3>
      <a:accent4>
        <a:srgbClr val="6DC8EC"/>
      </a:accent4>
      <a:accent5>
        <a:srgbClr val="A0BFF7"/>
      </a:accent5>
      <a:accent6>
        <a:srgbClr val="FF9845"/>
      </a:accent6>
      <a:hlink>
        <a:srgbClr val="1E9493"/>
      </a:hlink>
      <a:folHlink>
        <a:srgbClr val="5D7092"/>
      </a:folHlink>
    </a:clrScheme>
    <a:fontScheme name="o2tvs2b4">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6248</TotalTime>
  <Words>2329</Words>
  <Application>Microsoft Office PowerPoint</Application>
  <PresentationFormat>宽屏</PresentationFormat>
  <Paragraphs>239</Paragraphs>
  <Slides>27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-apple-system</vt:lpstr>
      <vt:lpstr>等线</vt:lpstr>
      <vt:lpstr>冬青黑体简体中文 W3</vt:lpstr>
      <vt:lpstr>方正兰亭准黑_GBK</vt:lpstr>
      <vt:lpstr>华文中宋</vt:lpstr>
      <vt:lpstr>微软雅黑</vt:lpstr>
      <vt:lpstr>Arial</vt:lpstr>
      <vt:lpstr>Calibri</vt:lpstr>
      <vt:lpstr>Impact</vt:lpstr>
      <vt:lpstr>Segoe UI</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a3833</dc:creator>
  <cp:lastModifiedBy>e41514</cp:lastModifiedBy>
  <cp:revision>217</cp:revision>
  <dcterms:created xsi:type="dcterms:W3CDTF">2023-10-06T12:19:16Z</dcterms:created>
  <dcterms:modified xsi:type="dcterms:W3CDTF">2024-04-25T05:21:14Z</dcterms:modified>
</cp:coreProperties>
</file>